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A_5E745715.xml" ContentType="application/vnd.ms-powerpoint.comments+xml"/>
  <Override PartName="/ppt/comments/modernComment_14B_7E28CA2F.xml" ContentType="application/vnd.ms-powerpoint.comments+xml"/>
  <Override PartName="/ppt/notesSlides/notesSlide6.xml" ContentType="application/vnd.openxmlformats-officedocument.presentationml.notesSlide+xml"/>
  <Override PartName="/ppt/comments/modernComment_133_3B5D0C2C.xml" ContentType="application/vnd.ms-powerpoint.comments+xml"/>
  <Override PartName="/ppt/comments/modernComment_14C_46312125.xml" ContentType="application/vnd.ms-powerpoint.comments+xml"/>
  <Override PartName="/ppt/comments/modernComment_150_9EB23F4D.xml" ContentType="application/vnd.ms-powerpoint.comments+xml"/>
  <Override PartName="/ppt/notesSlides/notesSlide7.xml" ContentType="application/vnd.openxmlformats-officedocument.presentationml.notesSlide+xml"/>
  <Override PartName="/ppt/comments/modernComment_143_1104FB3A.xml" ContentType="application/vnd.ms-powerpoint.comments+xml"/>
  <Override PartName="/ppt/comments/modernComment_151_6F0333B9.xml" ContentType="application/vnd.ms-powerpoint.comments+xml"/>
  <Override PartName="/ppt/comments/modernComment_14D_49486A9.xml" ContentType="application/vnd.ms-powerpoint.comments+xml"/>
  <Override PartName="/ppt/notesSlides/notesSlide8.xml" ContentType="application/vnd.openxmlformats-officedocument.presentationml.notesSlide+xml"/>
  <Override PartName="/ppt/comments/modernComment_147_93718A1F.xml" ContentType="application/vnd.ms-powerpoint.comments+xml"/>
  <Override PartName="/ppt/comments/modernComment_18B_93718A1F.xml" ContentType="application/vnd.ms-powerpoint.comments+xml"/>
  <Override PartName="/ppt/comments/modernComment_18E_93718A1F.xml" ContentType="application/vnd.ms-powerpoint.comments+xml"/>
  <Override PartName="/ppt/comments/modernComment_18C_41B8CEB.xml" ContentType="application/vnd.ms-powerpoint.comments+xml"/>
  <Override PartName="/ppt/comments/modernComment_18F_41B8CE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sldIdLst>
    <p:sldId id="256" r:id="rId114"/>
    <p:sldId id="264" r:id="rId115"/>
    <p:sldId id="296" r:id="rId116"/>
    <p:sldId id="263" r:id="rId117"/>
    <p:sldId id="305" r:id="rId118"/>
    <p:sldId id="266" r:id="rId119"/>
    <p:sldId id="331" r:id="rId120"/>
    <p:sldId id="306" r:id="rId121"/>
    <p:sldId id="307" r:id="rId122"/>
    <p:sldId id="332" r:id="rId123"/>
    <p:sldId id="308" r:id="rId124"/>
    <p:sldId id="309" r:id="rId125"/>
    <p:sldId id="336" r:id="rId126"/>
    <p:sldId id="394" r:id="rId127"/>
    <p:sldId id="322" r:id="rId128"/>
    <p:sldId id="323" r:id="rId129"/>
    <p:sldId id="397" r:id="rId130"/>
    <p:sldId id="337" r:id="rId131"/>
    <p:sldId id="330" r:id="rId132"/>
    <p:sldId id="333" r:id="rId133"/>
    <p:sldId id="334" r:id="rId134"/>
    <p:sldId id="335" r:id="rId135"/>
    <p:sldId id="324" r:id="rId136"/>
    <p:sldId id="327" r:id="rId137"/>
    <p:sldId id="395" r:id="rId138"/>
    <p:sldId id="398" r:id="rId139"/>
    <p:sldId id="325" r:id="rId140"/>
    <p:sldId id="396" r:id="rId141"/>
    <p:sldId id="399" r:id="rId142"/>
    <p:sldId id="328" r:id="rId143"/>
    <p:sldId id="391" r:id="rId144"/>
    <p:sldId id="392" r:id="rId145"/>
    <p:sldId id="393" r:id="rId146"/>
    <p:sldId id="259" r:id="rId14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FF4213-9354-C223-AD31-108C71890BE0}" name="Jhone H. R. Vieira" initials="JV" userId="S::jvieira@cvh.com.br::76c38b90-35e8-4f6d-b0e1-bf755eaa5a53" providerId="AD"/>
  <p188:author id="{470DF614-120A-1101-3698-D6C41DD083A3}" name="João Vitor Bruno" initials="JB" userId="S::joao.bruno@cvh.com.br::a38d286f-a272-4f67-ac9e-f5ed4687c5a0" providerId="AD"/>
  <p188:author id="{EF63D42D-F25A-9FC9-E782-B6EEC9F7775F}" name="Silvana C. Santos" initials="" userId="S::scsantos@cvh.com.br::2dfb9c5f-3eec-4243-a178-03f75661d6d2" providerId="AD"/>
  <p188:author id="{73AA45E3-6A29-6F03-E41E-8F7EA8CA2A54}" name="Alysson R. P. Silva" initials="AS" userId="S::arsilva@cvh.com.br::34d09182-5bf9-4b62-8d7e-fa6da7cd0113" providerId="AD"/>
  <p188:author id="{13C2DEF7-D78C-9A6A-6CFF-8E25DBDDC2E5}" name="William Domingues de Oliveira" initials="WO" userId="S::william.oliveira@cvh.com.br::87fd35f0-3882-4596-a2cc-0ee2ed9bbd20" providerId="AD"/>
  <p188:author id="{DA8C0EFE-06EA-5EDE-466D-0E73AD3642DC}" name="Maycon Da Silva Nogueira" initials="MN" userId="S::maycon.dasilva_insi.com#ext#@cvh365.onmicrosoft.com::90c8fc7e-ca0a-4d46-81ff-6c6903fa40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640A"/>
    <a:srgbClr val="D3D93F"/>
    <a:srgbClr val="D3DA3D"/>
    <a:srgbClr val="CDCA9D"/>
    <a:srgbClr val="304C10"/>
    <a:srgbClr val="F3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61A062-2C14-4827-3530-9CCE493CE54D}" v="3" dt="2026-10-21T20:10:34.58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Estilo Claro 2 - Ênfas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Estilo Claro 3 - Ênfas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Estilo Médio 1 - Ênfas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799B23B-EC83-4686-B30A-512413B5E67A}" styleName="Estilo Claro 3 - Ênfas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9" Type="http://schemas.openxmlformats.org/officeDocument/2006/relationships/notesMaster" Target="notesMasters/notesMaster1.xml"/><Relationship Id="rId4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40" Type="http://schemas.openxmlformats.org/officeDocument/2006/relationships/presProps" Target="presProps.xml"/><Relationship Id="rId45" Type="http://schemas.microsoft.com/office/2018/10/relationships/authors" Target="authors.xml"/><Relationship Id="rId44" Type="http://schemas.microsoft.com/office/2015/10/relationships/revisionInfo" Target="revisionInfo.xml"/><Relationship Id="rId4" Type="http://schemas.openxmlformats.org/officeDocument/2006/relationships/slideMaster" Target="slideMasters/slideMaster1.xml"/><Relationship Id="rId43" Type="http://schemas.openxmlformats.org/officeDocument/2006/relationships/tableStyles" Target="tableStyles.xml"/><Relationship Id="rId3" Type="http://schemas.openxmlformats.org/officeDocument/2006/relationships/customXml" Target="../customXml/item3.xml"/><Relationship Id="rId41" Type="http://schemas.openxmlformats.org/officeDocument/2006/relationships/viewProps" Target="viewProps.xml"/><Relationship Id="rId114" Type="http://schemas.openxmlformats.org/officeDocument/2006/relationships/slide" Target="slides/slide1.xml"/><Relationship Id="rId115" Type="http://schemas.openxmlformats.org/officeDocument/2006/relationships/slide" Target="slides/slide2.xml"/><Relationship Id="rId116" Type="http://schemas.openxmlformats.org/officeDocument/2006/relationships/slide" Target="slides/slide3.xml"/><Relationship Id="rId117" Type="http://schemas.openxmlformats.org/officeDocument/2006/relationships/slide" Target="slides/slide4.xml"/><Relationship Id="rId118" Type="http://schemas.openxmlformats.org/officeDocument/2006/relationships/slide" Target="slides/slide5.xml"/><Relationship Id="rId119" Type="http://schemas.openxmlformats.org/officeDocument/2006/relationships/slide" Target="slides/slide6.xml"/><Relationship Id="rId120" Type="http://schemas.openxmlformats.org/officeDocument/2006/relationships/slide" Target="slides/slide7.xml"/><Relationship Id="rId121" Type="http://schemas.openxmlformats.org/officeDocument/2006/relationships/slide" Target="slides/slide8.xml"/><Relationship Id="rId122" Type="http://schemas.openxmlformats.org/officeDocument/2006/relationships/slide" Target="slides/slide9.xml"/><Relationship Id="rId123" Type="http://schemas.openxmlformats.org/officeDocument/2006/relationships/slide" Target="slides/slide10.xml"/><Relationship Id="rId124" Type="http://schemas.openxmlformats.org/officeDocument/2006/relationships/slide" Target="slides/slide11.xml"/><Relationship Id="rId125" Type="http://schemas.openxmlformats.org/officeDocument/2006/relationships/slide" Target="slides/slide12.xml"/><Relationship Id="rId126" Type="http://schemas.openxmlformats.org/officeDocument/2006/relationships/slide" Target="slides/slide13.xml"/><Relationship Id="rId127" Type="http://schemas.openxmlformats.org/officeDocument/2006/relationships/slide" Target="slides/slide14.xml"/><Relationship Id="rId128" Type="http://schemas.openxmlformats.org/officeDocument/2006/relationships/slide" Target="slides/slide15.xml"/><Relationship Id="rId129" Type="http://schemas.openxmlformats.org/officeDocument/2006/relationships/slide" Target="slides/slide16.xml"/><Relationship Id="rId130" Type="http://schemas.openxmlformats.org/officeDocument/2006/relationships/slide" Target="slides/slide17.xml"/><Relationship Id="rId131" Type="http://schemas.openxmlformats.org/officeDocument/2006/relationships/slide" Target="slides/slide18.xml"/><Relationship Id="rId132" Type="http://schemas.openxmlformats.org/officeDocument/2006/relationships/slide" Target="slides/slide19.xml"/><Relationship Id="rId133" Type="http://schemas.openxmlformats.org/officeDocument/2006/relationships/slide" Target="slides/slide20.xml"/><Relationship Id="rId134" Type="http://schemas.openxmlformats.org/officeDocument/2006/relationships/slide" Target="slides/slide21.xml"/><Relationship Id="rId135" Type="http://schemas.openxmlformats.org/officeDocument/2006/relationships/slide" Target="slides/slide22.xml"/><Relationship Id="rId136" Type="http://schemas.openxmlformats.org/officeDocument/2006/relationships/slide" Target="slides/slide23.xml"/><Relationship Id="rId137" Type="http://schemas.openxmlformats.org/officeDocument/2006/relationships/slide" Target="slides/slide24.xml"/><Relationship Id="rId138" Type="http://schemas.openxmlformats.org/officeDocument/2006/relationships/slide" Target="slides/slide25.xml"/><Relationship Id="rId139" Type="http://schemas.openxmlformats.org/officeDocument/2006/relationships/slide" Target="slides/slide26.xml"/><Relationship Id="rId140" Type="http://schemas.openxmlformats.org/officeDocument/2006/relationships/slide" Target="slides/slide27.xml"/><Relationship Id="rId141" Type="http://schemas.openxmlformats.org/officeDocument/2006/relationships/slide" Target="slides/slide28.xml"/><Relationship Id="rId142" Type="http://schemas.openxmlformats.org/officeDocument/2006/relationships/slide" Target="slides/slide29.xml"/><Relationship Id="rId143" Type="http://schemas.openxmlformats.org/officeDocument/2006/relationships/slide" Target="slides/slide30.xml"/><Relationship Id="rId144" Type="http://schemas.openxmlformats.org/officeDocument/2006/relationships/slide" Target="slides/slide31.xml"/><Relationship Id="rId145" Type="http://schemas.openxmlformats.org/officeDocument/2006/relationships/slide" Target="slides/slide32.xml"/><Relationship Id="rId146" Type="http://schemas.openxmlformats.org/officeDocument/2006/relationships/slide" Target="slides/slide33.xml"/><Relationship Id="rId147" Type="http://schemas.openxmlformats.org/officeDocument/2006/relationships/slide" Target="slides/slide34.xml"/></Relationships>
</file>

<file path=ppt/comments/modernComment_10A_5E745715.xml><?xml version="1.0" encoding="utf-8"?>
<p188:cmLst xmlns:a="http://schemas.openxmlformats.org/drawingml/2006/main" xmlns:r="http://schemas.openxmlformats.org/officeDocument/2006/relationships" xmlns:p188="http://schemas.microsoft.com/office/powerpoint/2018/8/main">
  <p188:cm id="{AF17BD0F-EBB1-4E70-B941-5B55A48258B9}" authorId="{73AA45E3-6A29-6F03-E41E-8F7EA8CA2A54}" status="resolved" created="2026-10-07T12:56:12.211"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39" len="5">
        <ac:context len="1311" hash="1733994678"/>
      </ac:txMk>
    </ac:txMkLst>
    <p188:pos x="3122341" y="446048"/>
    <p188:replyLst>
      <p188:reply id="{3301BF34-17AF-40D6-99FD-C78E25114343}" authorId="{DA8C0EFE-06EA-5EDE-466D-0E73AD3642DC}" created="2026-10-08T13:14:15.014">
        <p188:txBody>
          <a:bodyPr/>
          <a:lstStyle/>
          <a:p>
            <a:r>
              <a:rPr lang="pt-BR"/>
              <a:t>Feito</a:t>
            </a:r>
          </a:p>
        </p188:txBody>
      </p188:reply>
    </p188:replyLst>
    <p188:txBody>
      <a:bodyPr/>
      <a:lstStyle/>
      <a:p>
        <a:r>
          <a:rPr lang="pt-BR"/>
          <a:t>Alterar: plataformas online</a:t>
        </a:r>
      </a:p>
    </p188:txBody>
  </p188:cm>
  <p188:cm id="{13A4764C-284F-49DD-9E1D-C25EA6D699CD}" authorId="{73AA45E3-6A29-6F03-E41E-8F7EA8CA2A54}" status="resolved" created="2026-10-07T12:56:48.634"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219">
        <ac:context len="1311" hash="1733994678"/>
      </ac:txMk>
    </ac:txMkLst>
    <p188:pos x="9209048" y="446048"/>
    <p188:replyLst>
      <p188:reply id="{DF927DA2-74E9-4A86-94FA-6C89B3BB53E3}" authorId="{DA8C0EFE-06EA-5EDE-466D-0E73AD3642DC}" created="2026-10-08T13:14:32.171">
        <p188:txBody>
          <a:bodyPr/>
          <a:lstStyle/>
          <a:p>
            <a:r>
              <a:rPr lang="pt-BR"/>
              <a:t>Alterado</a:t>
            </a:r>
          </a:p>
        </p188:txBody>
      </p188:reply>
    </p188:replyLst>
    <p188:txBody>
      <a:bodyPr/>
      <a:lstStyle/>
      <a:p>
        <a:r>
          <a:rPr lang="pt-BR"/>
          <a:t>Acessórios não são mediante aluguel.</a:t>
        </a:r>
      </a:p>
    </p188:txBody>
  </p188:cm>
  <p188:cm id="{57C2F715-0088-4C55-B1C0-2AC7C068BB5C}" authorId="{73AA45E3-6A29-6F03-E41E-8F7EA8CA2A54}" status="resolved" created="2026-10-07T13:00:11.736"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840" len="44">
        <ac:context len="1311" hash="1733994678"/>
      </ac:txMk>
    </ac:txMkLst>
    <p188:pos x="5547731" y="2378926"/>
    <p188:replyLst>
      <p188:reply id="{71D52164-AC5E-4509-83CB-346B3163B593}" authorId="{DA8C0EFE-06EA-5EDE-466D-0E73AD3642DC}" created="2026-10-08T13:17:51.788">
        <p188:txBody>
          <a:bodyPr/>
          <a:lstStyle/>
          <a:p>
            <a:r>
              <a:rPr lang="pt-BR"/>
              <a:t>Trecho retirado do próprio BPDD</a:t>
            </a:r>
          </a:p>
        </p188:txBody>
      </p188:reply>
    </p188:replyLst>
    <p188:txBody>
      <a:bodyPr/>
      <a:lstStyle/>
      <a:p>
        <a:r>
          <a:rPr lang="pt-BR"/>
          <a:t>O bloqueio ocorre por título vencido e saldo negativo por qualquer valor.</a:t>
        </a:r>
      </a:p>
    </p188:txBody>
  </p188:cm>
  <p188:cm id="{01AACC48-1A26-4CD3-BAF0-F301B7CFBC98}" authorId="{85FF4213-9354-C223-AD31-108C71890BE0}" status="resolved" created="2026-10-07T13:20:23.998"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978" len="81">
        <ac:context len="1311" hash="1733994678"/>
      </ac:txMk>
    </ac:txMkLst>
    <p188:pos x="4592320" y="3373120"/>
    <p188:replyLst>
      <p188:reply id="{E6516E85-78F5-4604-8104-DD8A54BAC683}" authorId="{DA8C0EFE-06EA-5EDE-466D-0E73AD3642DC}" created="2026-10-08T13:21:10.906">
        <p188:txBody>
          <a:bodyPr/>
          <a:lstStyle/>
          <a:p>
            <a:r>
              <a:rPr lang="pt-BR"/>
              <a:t>Nesse ponto do documento, apenas estou contextualizando, mas o ponto do "Autosserviço" foi alinhado com a Silvana que não bloquear os supermercados terá de ser uma tarefa garantida manualmente, e o aplicativo contará com um filtro para estes parceiros do segmento de Autosserviço não serem visualizados</a:t>
            </a:r>
          </a:p>
        </p188:txBody>
        <p188:extLst>
          <p:ext xmlns:p="http://schemas.openxmlformats.org/presentationml/2006/main" uri="{57CB4572-C831-44C2-8A1C-0ADB6CCDFE69}">
            <p223:reactions xmlns:p223="http://schemas.microsoft.com/office/powerpoint/2022/03/main">
              <p223:rxn type="👍">
                <p223:instance time="2026-10-08T13:50:28.755" authorId="{85FF4213-9354-C223-AD31-108C71890BE0}"/>
              </p223:rxn>
            </p223:reactions>
          </p:ext>
        </p188:extLst>
      </p188:reply>
    </p188:replyLst>
    <p188:txBody>
      <a:bodyPr/>
      <a:lstStyle/>
      <a:p>
        <a:r>
          <a:rPr lang="pt-BR"/>
          <a:t> Como a exceção dos supermercados será efetivamente garantida?
O DPS diz que supermercados não devem ser bloqueados, mas posteriormente a solução informa que isso será tratado através do segmento de atuação "Autosserviço".</a:t>
        </a:r>
      </a:p>
    </p188:txBody>
  </p188:cm>
  <p188:cm id="{59E2563C-8F79-49EF-9721-35CA74B6F431}" authorId="{EF63D42D-F25A-9FC9-E782-B6EEC9F7775F}" status="resolved" created="2026-10-07T19:21:37.453"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652" len="9">
        <ac:context len="1311" hash="1733994678"/>
      </ac:txMk>
    </ac:txMkLst>
    <p188:pos x="5928731" y="1589048"/>
    <p188:replyLst>
      <p188:reply id="{4EC1F07B-9295-4612-B8E0-1DF43D819DA1}" authorId="{DA8C0EFE-06EA-5EDE-466D-0E73AD3642DC}" created="2026-10-08T13:15:09.360">
        <p188:txBody>
          <a:bodyPr/>
          <a:lstStyle/>
          <a:p>
            <a:r>
              <a:rPr lang="pt-BR"/>
              <a:t>Alterado</a:t>
            </a:r>
          </a:p>
        </p188:txBody>
      </p188:reply>
    </p188:replyLst>
    <p188:txBody>
      <a:bodyPr/>
      <a:lstStyle/>
      <a:p>
        <a:r>
          <a:rPr lang="en-US"/>
          <a:t>reverter valores liberados provisoriamente.</a:t>
        </a:r>
      </a:p>
    </p188:txBody>
  </p188:cm>
  <p188:cm id="{11975CF4-E22C-440C-B7C0-2286FC62E227}" authorId="{EF63D42D-F25A-9FC9-E782-B6EEC9F7775F}" status="resolved" created="2026-10-07T19:27:58.620"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060" len="80">
        <ac:context len="1311" hash="1733994678"/>
      </ac:txMk>
    </ac:txMkLst>
    <p188:pos x="6328317" y="3521926"/>
    <p188:replyLst>
      <p188:reply id="{EC50489E-D6E5-4CA7-BDFD-04913AD4319C}" authorId="{DA8C0EFE-06EA-5EDE-466D-0E73AD3642DC}" created="2026-10-08T13:23:35.506">
        <p188:txBody>
          <a:bodyPr/>
          <a:lstStyle/>
          <a:p>
            <a:r>
              <a:rPr lang="pt-BR"/>
              <a:t>Alterado</a:t>
            </a:r>
          </a:p>
        </p188:txBody>
      </p188:reply>
    </p188:replyLst>
    <p188:txBody>
      <a:bodyPr/>
      <a:lstStyle/>
      <a:p>
        <a:r>
          <a:rPr lang="en-US"/>
          <a:t>Para execução do bloqueio e desbloqueio massivo é necessário efetuar uma análise. </a:t>
        </a:r>
      </a:p>
    </p188:txBody>
  </p188:cm>
  <p188:cm id="{A502F3EA-78C2-4074-8898-472173233D8E}" authorId="{EF63D42D-F25A-9FC9-E782-B6EEC9F7775F}" status="resolved" created="2026-10-07T19:30:26.944"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179" len="111">
        <ac:context len="1311" hash="1733994678"/>
      </ac:txMk>
    </ac:txMkLst>
    <p188:pos x="10417097" y="3735658"/>
    <p188:replyLst>
      <p188:reply id="{26BA58F5-A486-4FC6-98D2-0A258469286E}" authorId="{DA8C0EFE-06EA-5EDE-466D-0E73AD3642DC}" created="2026-10-08T13:25:59.403">
        <p188:txBody>
          <a:bodyPr/>
          <a:lstStyle/>
          <a:p>
            <a:r>
              <a:rPr lang="pt-BR"/>
              <a:t>Alterado</a:t>
            </a:r>
          </a:p>
        </p188:txBody>
      </p188:reply>
    </p188:replyLst>
    <p188:txBody>
      <a:bodyPr/>
      <a:lstStyle/>
      <a:p>
        <a:r>
          <a:rPr lang="en-US"/>
          <a:t>mesmo sem pendência financeira. *como nos casos de irregularidade fiscal.</a:t>
        </a:r>
      </a:p>
    </p188:txBody>
  </p188:cm>
</p188:cmLst>
</file>

<file path=ppt/comments/modernComment_14B_7E28CA2F.xml><?xml version="1.0" encoding="utf-8"?>
<p188:cmLst xmlns:a="http://schemas.openxmlformats.org/drawingml/2006/main" xmlns:r="http://schemas.openxmlformats.org/officeDocument/2006/relationships" xmlns:p188="http://schemas.microsoft.com/office/powerpoint/2018/8/main">
  <p188:cm id="{A86B1717-9053-4ED7-AEEA-2078E3045842}" authorId="{85FF4213-9354-C223-AD31-108C71890BE0}" status="resolved" created="2026-10-07T13:22:47.513" complete="100000">
    <ac:txMkLst xmlns:ac="http://schemas.microsoft.com/office/drawing/2013/main/command">
      <pc:docMk xmlns:pc="http://schemas.microsoft.com/office/powerpoint/2013/main/command"/>
      <pc:sldMk xmlns:pc="http://schemas.microsoft.com/office/powerpoint/2013/main/command" cId="2116602415" sldId="331"/>
      <ac:spMk id="3" creationId="{C8A1123C-D23B-5077-7A50-569B3413246D}"/>
      <ac:txMk cp="1487" len="153">
        <ac:context len="1641" hash="2155178577"/>
      </ac:txMk>
    </ac:txMkLst>
    <p188:pos x="3891642" y="4027714"/>
    <p188:replyLst>
      <p188:reply id="{D999C0C0-453A-45AC-AE94-77F931133812}" authorId="{DA8C0EFE-06EA-5EDE-466D-0E73AD3642DC}" created="2026-10-08T13:32:36.528">
        <p188:txBody>
          <a:bodyPr/>
          <a:lstStyle/>
          <a:p>
            <a:r>
              <a:rPr lang="pt-BR"/>
              <a:t>Somente o tempo de processamento do sistema, no 051 passo uma visão melhor do funcionamento do sistema</a:t>
            </a:r>
          </a:p>
        </p188:txBody>
      </p188:reply>
    </p188:replyLst>
    <p188:txBody>
      <a:bodyPr/>
      <a:lstStyle/>
      <a:p>
        <a:r>
          <a:rPr lang="pt-BR"/>
          <a:t>Depois que o cliente é bloqueado no SAP, em quanto tempo o bloqueio deve obrigatoriamente estar disponível nos sistemas de comercialização/KLOK/MC?</a:t>
        </a:r>
      </a:p>
    </p188:txBody>
  </p188:cm>
  <p188:cm id="{4CA98A52-E887-49A4-A347-D4E1CCA05A28}" authorId="{85FF4213-9354-C223-AD31-108C71890BE0}" status="resolved" created="2026-10-07T13:23:06.544" complete="100000">
    <ac:txMkLst xmlns:ac="http://schemas.microsoft.com/office/drawing/2013/main/command">
      <pc:docMk xmlns:pc="http://schemas.microsoft.com/office/powerpoint/2013/main/command"/>
      <pc:sldMk xmlns:pc="http://schemas.microsoft.com/office/powerpoint/2013/main/command" cId="2116602415" sldId="331"/>
      <ac:spMk id="3" creationId="{C8A1123C-D23B-5077-7A50-569B3413246D}"/>
      <ac:txMk cp="1487" len="153">
        <ac:context len="1641" hash="2155178577"/>
      </ac:txMk>
    </ac:txMkLst>
    <p188:pos x="3891642" y="4027714"/>
    <p188:replyLst>
      <p188:reply id="{9C8904B4-8BCC-469A-9BA8-96EC93DD95F6}" authorId="{DA8C0EFE-06EA-5EDE-466D-0E73AD3642DC}" created="2026-10-08T13:36:10.741">
        <p188:txBody>
          <a:bodyPr/>
          <a:lstStyle/>
          <a:p>
            <a:r>
              <a:rPr lang="pt-BR"/>
              <a:t>No 051 que está sendo liberado, acredito explicar sobre esse ponto, mas adiantando, do lado do SAP temos a visualização se o envio da informação foi concretizado, para a visão do legados, temos que olhar os deltas responsáveis por consumir a informação e distribuir entre os sistemas</a:t>
            </a:r>
          </a:p>
        </p188:txBody>
      </p188:reply>
    </p188:replyLst>
    <p188:txBody>
      <a:bodyPr/>
      <a:lstStyle/>
      <a:p>
        <a:r>
          <a:rPr lang="pt-BR"/>
          <a:t>O que acontece se o SAP estiver bloqueado, mas o legado ainda não tiver recebido/processado a mensagem?</a:t>
        </a:r>
      </a:p>
    </p188:txBody>
  </p188:cm>
</p188:cmLst>
</file>

<file path=ppt/comments/modernComment_14C_46312125.xml><?xml version="1.0" encoding="utf-8"?>
<p188:cmLst xmlns:a="http://schemas.openxmlformats.org/drawingml/2006/main" xmlns:r="http://schemas.openxmlformats.org/officeDocument/2006/relationships" xmlns:p188="http://schemas.microsoft.com/office/powerpoint/2018/8/main">
  <p188:cm id="{03A91FDB-D20C-44C7-B052-B0CA842B77EB}" authorId="{73AA45E3-6A29-6F03-E41E-8F7EA8CA2A54}" status="resolved" created="2026-10-07T13:03:39.836"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61" len="29">
        <ac:context len="2407" hash="652347223"/>
      </ac:txMk>
    </ac:txMkLst>
    <p188:pos x="5324707" y="418170"/>
    <p188:replyLst>
      <p188:reply id="{AFB300B4-021F-458B-A3C4-48B3DD6D3B7B}" authorId="{DA8C0EFE-06EA-5EDE-466D-0E73AD3642DC}" created="2026-10-08T14:23:51.230">
        <p188:txBody>
          <a:bodyPr/>
          <a:lstStyle/>
          <a:p>
            <a:r>
              <a:rPr lang="pt-BR"/>
              <a:t>Match code, caso queira sugerir mais motivos de bloqueio, pode sugerir que podemos incluir</a:t>
            </a:r>
          </a:p>
        </p188:txBody>
      </p188:reply>
      <p188:reply id="{E8DE14E2-DD11-4D03-8E75-BD7CA6E27D83}" authorId="{73AA45E3-6A29-6F03-E41E-8F7EA8CA2A54}" created="2026-10-08T14:30:47.231">
        <p188:txBody>
          <a:bodyPr/>
          <a:lstStyle/>
          <a:p>
            <a:r>
              <a:rPr lang="en-US"/>
              <a:t>Quais são as opções atuais ?</a:t>
            </a:r>
          </a:p>
        </p188:txBody>
      </p188:reply>
      <p188:reply id="{61B37A8D-7350-47CD-B7F9-894131B40FAA}" authorId="{DA8C0EFE-06EA-5EDE-466D-0E73AD3642DC}" created="2026-10-08T17:53:34.704">
        <p188:txBody>
          <a:bodyPr/>
          <a:lstStyle/>
          <a:p>
            <a:r>
              <a:rPr lang="pt-BR"/>
              <a:t>Acrescentado texto em reunião de validação</a:t>
            </a:r>
          </a:p>
        </p188:txBody>
      </p188:reply>
    </p188:replyLst>
    <p188:txBody>
      <a:bodyPr/>
      <a:lstStyle/>
      <a:p>
        <a:r>
          <a:rPr lang="pt-BR"/>
          <a:t>O usuario deverá inserir motivo para bloqueio de inadimplente por comentário ou match code padrão?</a:t>
        </a:r>
      </a:p>
    </p188:txBody>
  </p188:cm>
  <p188:cm id="{375DF7F0-31A1-4F38-837F-32F66CA32041}" authorId="{73AA45E3-6A29-6F03-E41E-8F7EA8CA2A54}" status="resolved" created="2026-10-07T13:05:13.027"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457" len="362">
        <ac:context len="2407" hash="652347223"/>
      </ac:txMk>
    </ac:txMkLst>
    <p188:pos x="10268414" y="3075878"/>
    <p188:replyLst>
      <p188:reply id="{5D2852CE-7A3F-4C13-95E2-96EB1144D7C4}" authorId="{DA8C0EFE-06EA-5EDE-466D-0E73AD3642DC}" created="2026-10-08T14:29:26.431">
        <p188:txBody>
          <a:bodyPr/>
          <a:lstStyle/>
          <a:p>
            <a:r>
              <a:rPr lang="pt-BR"/>
              <a:t>Me foi explicado pela Silvana que a inadimplência deve acarretar para todo o grupo, algo precisa ser alterado?</a:t>
            </a:r>
          </a:p>
        </p188:txBody>
      </p188:reply>
    </p188:replyLst>
    <p188:txBody>
      <a:bodyPr/>
      <a:lstStyle/>
      <a:p>
        <a:r>
          <a:rPr lang="pt-BR"/>
          <a:t>Neste caso, o bloqueio poderá ser individualizado por BP ou deverá necessariamente ser centralizado em todo o grupo (matriz+filiais)?</a:t>
        </a:r>
      </a:p>
    </p188:txBody>
  </p188:cm>
  <p188:cm id="{36880056-D39D-4A06-AD28-9A876BF31A42}" authorId="{85FF4213-9354-C223-AD31-108C71890BE0}" status="resolved" created="2026-10-07T13:33:39.335"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584" len="149">
        <ac:context len="2407" hash="652347223"/>
      </ac:txMk>
    </ac:txMkLst>
    <p188:pos x="3918857" y="3320142"/>
    <p188:replyLst>
      <p188:reply id="{1D4116CF-BA8E-4061-9526-8D4438123C39}" authorId="{DA8C0EFE-06EA-5EDE-466D-0E73AD3642DC}" created="2026-10-08T14:31:18.602">
        <p188:txBody>
          <a:bodyPr/>
          <a:lstStyle/>
          <a:p>
            <a:r>
              <a:rPr lang="pt-BR"/>
              <a:t>No caso o cliente fica bloqueado para todos cenários, em conversa com a Silvana, este foi o entendimento</a:t>
            </a:r>
          </a:p>
        </p188:txBody>
      </p188:reply>
    </p188:replyLst>
    <p188:txBody>
      <a:bodyPr/>
      <a:lstStyle/>
      <a:p>
        <a:r>
          <a:rPr lang="pt-BR"/>
          <a:t>Essa regra foi formalmente validada pelo negócio para todos os tipos de relação matriz/filial? Exemplo: Exemplo:
Matriz: regular
Filial A: inadimplente
Filial B: regular
Filial C: regular</a:t>
        </a:r>
      </a:p>
    </p188:txBody>
  </p188:cm>
  <p188:cm id="{EAE7B158-17E7-427B-8C4E-D7FB20B5057C}" authorId="{85FF4213-9354-C223-AD31-108C71890BE0}" status="resolved" created="2026-10-07T13:33:58.335"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584" len="149">
        <ac:context len="2407" hash="652347223"/>
      </ac:txMk>
    </ac:txMkLst>
    <p188:pos x="3918857" y="3320142"/>
    <p188:replyLst>
      <p188:reply id="{85FDFB8A-40D2-4731-BAAC-89769EDE4A09}" authorId="{DA8C0EFE-06EA-5EDE-466D-0E73AD3642DC}" created="2026-10-08T14:32:02.961">
        <p188:txBody>
          <a:bodyPr/>
          <a:lstStyle/>
          <a:p>
            <a:r>
              <a:rPr lang="pt-BR"/>
              <a:t>Ao meu ver, não. Podemos conferir com a área de Contas a Receber</a:t>
            </a:r>
          </a:p>
        </p188:txBody>
      </p188:reply>
    </p188:replyLst>
    <p188:txBody>
      <a:bodyPr/>
      <a:lstStyle/>
      <a:p>
        <a:r>
          <a:rPr lang="pt-BR"/>
          <a:t>Existem clientes em que a dívida de uma filial não deve impedir a compra das demais?</a:t>
        </a:r>
      </a:p>
    </p188:txBody>
  </p188:cm>
  <p188:cm id="{43094D2C-221C-434B-BE43-57938BB8E6F1}" authorId="{13C2DEF7-D78C-9A6A-6CFF-8E25DBDDC2E5}" status="resolved" created="2026-10-07T20:21:38.269"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052" len="364">
        <ac:context len="2407" hash="652347223"/>
      </ac:txMk>
    </ac:txMkLst>
    <p188:pos x="10020821" y="2766164"/>
    <p188:replyLst>
      <p188:reply id="{8EB3D97E-BC9E-4769-9898-2EA943301877}" authorId="{DA8C0EFE-06EA-5EDE-466D-0E73AD3642DC}" created="2026-10-08T14:27:06.682">
        <p188:txBody>
          <a:bodyPr/>
          <a:lstStyle/>
          <a:p>
            <a:r>
              <a:rPr lang="pt-BR"/>
              <a:t>Exatamente, a ideia principal deste app é que os clientes inadimplentes sejam tratados por ele, caso haja mudanças no APP Standard, não temos como prever o motivo que levou a essa alteração, podendo ser irregularidades fiscais, dessa forma, sendo tratado manualmente no standard</a:t>
            </a:r>
          </a:p>
        </p188:txBody>
      </p188:reply>
    </p188:replyLst>
    <p188:txBody>
      <a:bodyPr/>
      <a:lstStyle/>
      <a:p>
        <a:r>
          <a:rPr lang="pt-BR"/>
          <a:t>Insi - Esse ponto seria para caso seja executado novamente pelo aplicativo a solicitação de bloqueio?
Caso seja feito alteração via app standard  o app Desenvolvido, não reconhece mais o BP, para execução em massa, devendo ser feito individual standard?</a:t>
        </a:r>
      </a:p>
    </p188:txBody>
  </p188:cm>
</p188:cmLst>
</file>

<file path=ppt/comments/modernComment_14D_49486A9.xml><?xml version="1.0" encoding="utf-8"?>
<p188:cmLst xmlns:a="http://schemas.openxmlformats.org/drawingml/2006/main" xmlns:r="http://schemas.openxmlformats.org/officeDocument/2006/relationships" xmlns:p188="http://schemas.microsoft.com/office/powerpoint/2018/8/main">
  <p188:cm id="{A05DBC6D-1B1A-4A9D-B50D-7089A98FEC4E}" authorId="{73AA45E3-6A29-6F03-E41E-8F7EA8CA2A54}" status="resolved" created="2026-10-07T13:13:28.685" complete="100000">
    <ac:txMkLst xmlns:ac="http://schemas.microsoft.com/office/drawing/2013/main/command">
      <pc:docMk xmlns:pc="http://schemas.microsoft.com/office/powerpoint/2013/main/command"/>
      <pc:sldMk xmlns:pc="http://schemas.microsoft.com/office/powerpoint/2013/main/command" cId="76842665" sldId="333"/>
      <ac:spMk id="6" creationId="{9FBBF1FC-F2C9-9E46-F92E-AE01CD172B44}"/>
      <ac:txMk cp="0" len="73">
        <ac:context len="75" hash="1290924083"/>
      </ac:txMk>
    </ac:txMkLst>
    <p188:pos x="5733585" y="232317"/>
    <p188:replyLst>
      <p188:reply id="{2B23FD21-3564-4EC8-B409-2452AD909265}" authorId="{DA8C0EFE-06EA-5EDE-466D-0E73AD3642DC}" created="2026-10-08T15:23:55.716">
        <p188:txBody>
          <a:bodyPr/>
          <a:lstStyle/>
          <a:p>
            <a:r>
              <a:rPr lang="pt-BR"/>
              <a:t>Ok</a:t>
            </a:r>
          </a:p>
        </p188:txBody>
      </p188:reply>
      <p188:reply id="{52529DF5-85E3-4843-AB15-9ABA81B749DF}" authorId="{DA8C0EFE-06EA-5EDE-466D-0E73AD3642DC}" created="2026-10-08T18:37:06.804">
        <p188:txBody>
          <a:bodyPr/>
          <a:lstStyle/>
          <a:p>
            <a:r>
              <a:rPr lang="pt-BR"/>
              <a:t>Compreendido em reunião de validação</a:t>
            </a:r>
          </a:p>
        </p188:txBody>
      </p188:reply>
    </p188:replyLst>
    <p188:txBody>
      <a:bodyPr/>
      <a:lstStyle/>
      <a:p>
        <a:r>
          <a:rPr lang="pt-BR"/>
          <a:t>Descrições estão em analise conjunta com a SAP para possível redução dos perfis.</a:t>
        </a:r>
      </a:p>
    </p188:txBody>
  </p188:cm>
  <p188:cm id="{236BFA08-6E04-405D-91E2-DE7ECCF2ED74}" authorId="{EF63D42D-F25A-9FC9-E782-B6EEC9F7775F}" status="resolved" created="2026-10-07T20:13:47.503" complete="100000">
    <ac:txMkLst xmlns:ac="http://schemas.microsoft.com/office/drawing/2013/main/command">
      <pc:docMk xmlns:pc="http://schemas.microsoft.com/office/powerpoint/2013/main/command"/>
      <pc:sldMk xmlns:pc="http://schemas.microsoft.com/office/powerpoint/2013/main/command" cId="76842665" sldId="333"/>
      <ac:spMk id="6" creationId="{9FBBF1FC-F2C9-9E46-F92E-AE01CD172B44}"/>
      <ac:txMk cp="0" len="73">
        <ac:context len="75" hash="1290924083"/>
      </ac:txMk>
    </ac:txMkLst>
    <p188:pos x="5733585" y="232317"/>
    <p188:replyLst>
      <p188:reply id="{1AA83091-BA2D-4AC9-AC8C-A1BFF6A43364}" authorId="{DA8C0EFE-06EA-5EDE-466D-0E73AD3642DC}" created="2026-10-08T15:23:50.326">
        <p188:txBody>
          <a:bodyPr/>
          <a:lstStyle/>
          <a:p>
            <a:r>
              <a:rPr lang="pt-BR"/>
              <a:t>Sim para os casos de clientes de autosserviço que possam ser bloqueados em algum momento, estarem, possíveis de serem selecionados</a:t>
            </a:r>
          </a:p>
        </p188:txBody>
      </p188:reply>
      <p188:reply id="{18F1A614-95C0-4D13-8E5A-26B6128BE50D}" authorId="{DA8C0EFE-06EA-5EDE-466D-0E73AD3642DC}" created="2026-10-08T18:38:05.367">
        <p188:txBody>
          <a:bodyPr/>
          <a:lstStyle/>
          <a:p>
            <a:r>
              <a:rPr lang="pt-BR"/>
              <a:t>Compreendido em reunião de validação</a:t>
            </a:r>
          </a:p>
        </p188:txBody>
      </p188:reply>
    </p188:replyLst>
    <p188:txBody>
      <a:bodyPr/>
      <a:lstStyle/>
      <a:p>
        <a:r>
          <a:rPr lang="en-US"/>
          <a:t>deveria estar aqui os clientes que não vamos bloquear mesmo existindo pendência financeira? Ex: clientes autosserviços</a:t>
        </a:r>
      </a:p>
    </p188:txBody>
  </p188:cm>
</p188:cmLst>
</file>

<file path=ppt/comments/modernComment_18B_93718A1F.xml><?xml version="1.0" encoding="utf-8"?>
<p188:cmLst xmlns:a="http://schemas.openxmlformats.org/drawingml/2006/main" xmlns:r="http://schemas.openxmlformats.org/officeDocument/2006/relationships" xmlns:p188="http://schemas.microsoft.com/office/powerpoint/2018/8/main">
  <p188:cm id="{57FA96C2-E450-4D37-9D5B-2F9B3F95AD80}" authorId="{85FF4213-9354-C223-AD31-108C71890BE0}" status="resolved" created="2026-10-07T13:49:23.905" complete="100000">
    <ac:deMkLst xmlns:ac="http://schemas.microsoft.com/office/drawing/2013/main/command">
      <pc:docMk xmlns:pc="http://schemas.microsoft.com/office/powerpoint/2013/main/command"/>
      <pc:sldMk xmlns:pc="http://schemas.microsoft.com/office/powerpoint/2013/main/command" cId="2473691679" sldId="395"/>
      <ac:graphicFrameMk id="7" creationId="{3A5379CB-C617-8CC6-328E-2BDCE6CB09C2}"/>
    </ac:deMkLst>
    <p188:replyLst>
      <p188:reply id="{D7A5C9E7-3EF3-43CE-829C-F4C851A58C08}" authorId="{DA8C0EFE-06EA-5EDE-466D-0E73AD3642DC}" created="2026-10-08T18:48:57.845">
        <p188:txBody>
          <a:bodyPr/>
          <a:lstStyle/>
          <a:p>
            <a:r>
              <a:rPr lang="pt-BR"/>
              <a:t>Compreendido em reunião de validação</a:t>
            </a:r>
          </a:p>
        </p188:txBody>
      </p188:reply>
    </p188:replyLst>
    <p188:txBody>
      <a:bodyPr/>
      <a:lstStyle/>
      <a:p>
        <a:r>
          <a:rPr lang="pt-BR"/>
          <a:t>Isso deveria ser tratado como critério de entrada/go-live, e não somente como premissa.
Sugestão de criterio : Go-live não poderá ocorrer enquanto existirem clientes elegíveis sem segmento de atuação preenchido ou quantidade máxima aceitável de inconsistências = 0</a:t>
        </a:r>
      </a:p>
    </p188:txBody>
  </p188:cm>
  <p188:cm id="{8034B8BE-F2DD-4C0E-9C45-5308C0662A02}" authorId="{85FF4213-9354-C223-AD31-108C71890BE0}" status="resolved" created="2026-10-07T13:50:24.655" complete="100000">
    <ac:txMkLst xmlns:ac="http://schemas.microsoft.com/office/drawing/2013/main/command">
      <pc:docMk xmlns:pc="http://schemas.microsoft.com/office/powerpoint/2013/main/command"/>
      <pc:sldMk xmlns:pc="http://schemas.microsoft.com/office/powerpoint/2013/main/command" cId="2473691679" sldId="395"/>
      <ac:graphicFrameMk id="7" creationId="{3A5379CB-C617-8CC6-328E-2BDCE6CB09C2}"/>
      <ac:tblMk/>
      <ac:tcMk rowId="134208166" colId="3723865962"/>
      <ac:txMk cp="0" len="11">
        <ac:context len="12" hash="3976124409"/>
      </ac:txMk>
    </ac:txMkLst>
    <p188:pos x="9334500" y="1646464"/>
    <p188:replyLst>
      <p188:reply id="{FF72A175-B9D0-4782-BD3A-EA51AFD82856}" authorId="{DA8C0EFE-06EA-5EDE-466D-0E73AD3642DC}" created="2026-10-08T15:41:23.417">
        <p188:txBody>
          <a:bodyPr/>
          <a:lstStyle/>
          <a:p>
            <a:r>
              <a:rPr lang="pt-BR"/>
              <a:t>Está sendo considerado um tempo de intervalo para caso haja esse atraso</a:t>
            </a:r>
          </a:p>
        </p188:txBody>
      </p188:reply>
      <p188:reply id="{13DECAC8-7022-4BA9-A2E4-335856297CF0}" authorId="{DA8C0EFE-06EA-5EDE-466D-0E73AD3642DC}" created="2026-10-08T18:46:56.828">
        <p188:txBody>
          <a:bodyPr/>
          <a:lstStyle/>
          <a:p>
            <a:r>
              <a:rPr lang="pt-BR"/>
              <a:t>Removemos durante a reunião o vinculo entre os dois deltas</a:t>
            </a:r>
          </a:p>
        </p188:txBody>
      </p188:reply>
    </p188:replyLst>
    <p188:txBody>
      <a:bodyPr/>
      <a:lstStyle/>
      <a:p>
        <a:r>
          <a:rPr lang="pt-BR"/>
          <a:t>O que acontece se o DEL-COM-068 atrasar? </a:t>
        </a:r>
      </a:p>
    </p188:txBody>
  </p188:cm>
</p188:cmLst>
</file>

<file path=ppt/comments/modernComment_18C_41B8CEB.xml><?xml version="1.0" encoding="utf-8"?>
<p188:cmLst xmlns:a="http://schemas.openxmlformats.org/drawingml/2006/main" xmlns:r="http://schemas.openxmlformats.org/officeDocument/2006/relationships" xmlns:p188="http://schemas.microsoft.com/office/powerpoint/2018/8/main">
  <p188:cm id="{867B8ADC-69FC-4AA4-BD2C-1A06825330D2}" authorId="{EF63D42D-F25A-9FC9-E782-B6EEC9F7775F}" status="resolved" created="2026-10-07T20:41:55.060" complete="100000">
    <ac:txMkLst xmlns:ac="http://schemas.microsoft.com/office/drawing/2013/main/command">
      <pc:docMk xmlns:pc="http://schemas.microsoft.com/office/powerpoint/2013/main/command"/>
      <pc:sldMk xmlns:pc="http://schemas.microsoft.com/office/powerpoint/2013/main/command" cId="68914411" sldId="396"/>
      <ac:graphicFrameMk id="10" creationId="{E933BD7D-416B-F560-641D-181CCDFBF20D}"/>
      <ac:tblMk/>
      <ac:tcMk rowId="4233419459" colId="2861968143"/>
      <ac:txMk cp="0" len="96">
        <ac:context len="97" hash="1642451248"/>
      </ac:txMk>
    </ac:txMkLst>
    <p188:pos x="8605024" y="2351048"/>
    <p188:replyLst>
      <p188:reply id="{A617CD80-AFA1-4313-B0DF-69305E01DBB6}" authorId="{DA8C0EFE-06EA-5EDE-466D-0E73AD3642DC}" created="2026-10-08T15:46:29.558">
        <p188:txBody>
          <a:bodyPr/>
          <a:lstStyle/>
          <a:p>
            <a:r>
              <a:rPr lang="pt-BR"/>
              <a:t>Corrigido em reunião de validação</a:t>
            </a:r>
          </a:p>
        </p188:txBody>
      </p188:reply>
    </p188:replyLst>
    <p188:txBody>
      <a:bodyPr/>
      <a:lstStyle/>
      <a:p>
        <a:r>
          <a:rPr lang="en-US"/>
          <a:t>neste caso para este 3º cliente devemos rodar o job denovo ou seguimos com o bloqueio manual dentro do BP ? ou tem como rodar o job somente para este 3º cliente?</a:t>
        </a:r>
      </a:p>
    </p188:txBody>
  </p188:cm>
</p188:cmLst>
</file>

<file path=ppt/comments/modernComment_18E_93718A1F.xml><?xml version="1.0" encoding="utf-8"?>
<p188:cmLst xmlns:a="http://schemas.openxmlformats.org/drawingml/2006/main" xmlns:r="http://schemas.openxmlformats.org/officeDocument/2006/relationships" xmlns:p188="http://schemas.microsoft.com/office/powerpoint/2018/8/main">
  <p188:cm id="{5E752C59-7654-4DF1-A89E-687BC254875B}" authorId="{73AA45E3-6A29-6F03-E41E-8F7EA8CA2A54}" status="resolved" created="2026-10-07T13:14:59.297" startDate="2026-10-07T13:14:59.297" dueDate="2026-10-07T13:14:59.297" assignedTo="{EF63D42D-F25A-9FC9-E782-B6EEC9F7775F}" complete="100000" title="@Silvana C. Santos de acordo com essa descrição?">
    <ac:txMkLst xmlns:ac="http://schemas.microsoft.com/office/drawing/2013/main/command">
      <pc:docMk xmlns:pc="http://schemas.microsoft.com/office/powerpoint/2013/main/command"/>
      <pc:sldMk xmlns:pc="http://schemas.microsoft.com/office/powerpoint/2013/main/command" cId="2473691679" sldId="398"/>
      <ac:graphicFrameMk id="7" creationId="{3A5379CB-C617-8CC6-328E-2BDCE6CB09C2}"/>
      <ac:tblMk/>
      <ac:tcMk rowId="3508211751" colId="4066786244"/>
      <ac:txMk cp="0" len="226">
        <ac:context len="227" hash="3846189376"/>
      </ac:txMk>
    </ac:txMkLst>
    <p188:pos x="3382536" y="1077951"/>
    <p188:replyLst>
      <p188:reply id="{972F5453-1790-4AC8-9B9F-37CCEEA191F5}" authorId="{EF63D42D-F25A-9FC9-E782-B6EEC9F7775F}" created="2026-10-07T20:39:09.486">
        <p188:txBody>
          <a:bodyPr/>
          <a:lstStyle/>
          <a:p>
            <a:r>
              <a:rPr lang="en-US"/>
              <a:t>Sim. Neste ponto se enquadra aqueles clientes que sabemos que se um BP estiver bloqueado ele irá comprar no outro que está liberado. dessa forma vamos poder vincular os BP's mesmo que não sejam chaves mestre e filial.</a:t>
            </a:r>
          </a:p>
        </p188:txBody>
      </p188:reply>
    </p188:replyLst>
    <p188:txBody>
      <a:bodyPr/>
      <a:lstStyle/>
      <a:p>
        <a:r>
          <a:rPr lang="pt-BR"/>
          <a:t>[@Silvana C. Santos] de acordo com essa descrição?</a:t>
        </a:r>
      </a:p>
    </p188:txBody>
    <p188:extLst>
      <p:ext xmlns:p="http://schemas.openxmlformats.org/presentationml/2006/main" uri="{5BB2D875-25FF-4072-B9AC-8F64D62656EB}">
        <p228:taskDetails xmlns:p228="http://schemas.microsoft.com/office/powerpoint/2022/08/main">
          <p228:history>
            <p228:event time="2026-10-07T13:14:59.297" id="{CC79D481-5BD1-4D8E-B60B-E0D5612D0F5C}">
              <p228:atrbtn authorId="{73AA45E3-6A29-6F03-E41E-8F7EA8CA2A54}"/>
              <p228:anchr>
                <p228:comment id="{5E752C59-7654-4DF1-A89E-687BC254875B}"/>
              </p228:anchr>
              <p228:add/>
            </p228:event>
            <p228:event time="2026-10-07T13:14:59.297" id="{AAC6F7E4-EA2B-4C13-A0DD-38056BAEB8FA}">
              <p228:atrbtn authorId="{73AA45E3-6A29-6F03-E41E-8F7EA8CA2A54}"/>
              <p228:anchr>
                <p228:comment id="{5E752C59-7654-4DF1-A89E-687BC254875B}"/>
              </p228:anchr>
              <p228:asgn authorId="{EF63D42D-F25A-9FC9-E782-B6EEC9F7775F}"/>
            </p228:event>
            <p228:event time="2026-10-07T13:14:59.297" id="{F1E925F4-3973-4CA7-9180-8ABA72D885D3}">
              <p228:atrbtn authorId="{73AA45E3-6A29-6F03-E41E-8F7EA8CA2A54}"/>
              <p228:anchr>
                <p228:comment id="{5E752C59-7654-4DF1-A89E-687BC254875B}"/>
              </p228:anchr>
              <p228:title val="@Silvana C. Santos de acordo com essa descrição?"/>
            </p228:event>
            <p228:event time="2026-10-07T13:14:59.297" id="{36CC75DC-3072-4EBF-880F-787C69F98DF9}">
              <p228:atrbtn authorId="{73AA45E3-6A29-6F03-E41E-8F7EA8CA2A54}"/>
              <p228:anchr>
                <p228:comment id="{5E752C59-7654-4DF1-A89E-687BC254875B}"/>
              </p228:anchr>
              <p228:date stDt="2026-10-07T13:14:59.297" endDt="2026-10-07T13:14:59.297"/>
            </p228:event>
            <p228:event time="2026-10-08T18:49:40.455" id="{A7FAA0CB-6604-4B54-B582-0AF04D8EDA9E}">
              <p228:atrbtn authorId="{DA8C0EFE-06EA-5EDE-466D-0E73AD3642DC}"/>
              <p228:anchr>
                <p228:comment id="{00000000-0000-0000-0000-000000000000}"/>
              </p228:anchr>
              <p228:pcntCmplt val="100000"/>
            </p228:event>
          </p228:history>
        </p228:taskDetails>
      </p:ext>
    </p188:extLst>
  </p188:cm>
</p188:cmLst>
</file>

<file path=ppt/comments/modernComment_18F_41B8CEB.xml><?xml version="1.0" encoding="utf-8"?>
<p188:cmLst xmlns:a="http://schemas.openxmlformats.org/drawingml/2006/main" xmlns:r="http://schemas.openxmlformats.org/officeDocument/2006/relationships" xmlns:p188="http://schemas.microsoft.com/office/powerpoint/2018/8/main">
  <p188:cm id="{18CC8D27-ECFA-45B5-9273-34DE06C277CF}" authorId="{85FF4213-9354-C223-AD31-108C71890BE0}" created="2026-10-07T13:52:55.513">
    <ac:deMkLst xmlns:ac="http://schemas.microsoft.com/office/drawing/2013/main/command">
      <pc:docMk xmlns:pc="http://schemas.microsoft.com/office/powerpoint/2013/main/command"/>
      <pc:sldMk xmlns:pc="http://schemas.microsoft.com/office/powerpoint/2013/main/command" cId="68914411" sldId="399"/>
      <ac:spMk id="2" creationId="{CE4D2B6E-F81C-77FF-2DDC-7DB701C89422}"/>
    </ac:deMkLst>
    <p188:replyLst>
      <p188:reply id="{D27CB599-AB08-44B8-ADFF-C1377CD95641}" authorId="{DA8C0EFE-06EA-5EDE-466D-0E73AD3642DC}" created="2026-10-08T18:55:29.116">
        <p188:txBody>
          <a:bodyPr/>
          <a:lstStyle/>
          <a:p>
            <a:r>
              <a:rPr lang="pt-BR"/>
              <a:t>Vou analisar e incluir cenários para abordar estes testes</a:t>
            </a:r>
          </a:p>
        </p188:txBody>
      </p188:reply>
      <p188:reply id="{435794EB-724E-47FD-8F0B-5881F5E2AAEC}" authorId="{DA8C0EFE-06EA-5EDE-466D-0E73AD3642DC}" created="2026-10-08T19:43:29.912">
        <p188:txBody>
          <a:bodyPr/>
          <a:lstStyle/>
          <a:p>
            <a:r>
              <a:rPr lang="pt-BR"/>
              <a:t>Adicionei 2 cenários de testes, os demais acredito que já se enquadram em outros testes</a:t>
            </a:r>
          </a:p>
        </p188:txBody>
      </p188:reply>
    </p188:replyLst>
    <p188:txBody>
      <a:bodyPr/>
      <a:lstStyle/>
      <a:p>
        <a:r>
          <a:rPr lang="pt-BR"/>
          <a:t>Sugestões de novos cenários de testes complementando o 14 e 15 : 
T18 – Inclusão de nova filial após bloqueio
T19 – Exclusão de filial do grupo
T20 – Matriz regular + filial inadimplente
T21 – Matriz inadimplente + filiais regulares
T22 – Duas filiais inadimplentes e uma regular
T23 – Regularização parcial
T24 – Regularização simultânea de todo grupo</a:t>
        </a:r>
      </a:p>
    </p188:txBody>
  </p188:cm>
</p188:cmLst>
</file>

<file path=ppt/comments/modernComment_133_3B5D0C2C.xml><?xml version="1.0" encoding="utf-8"?>
<p188:cmLst xmlns:a="http://schemas.openxmlformats.org/drawingml/2006/main" xmlns:r="http://schemas.openxmlformats.org/officeDocument/2006/relationships" xmlns:p188="http://schemas.microsoft.com/office/powerpoint/2018/8/main">
  <p188:cm id="{9F14EC1C-77E5-4FDA-87B3-4CC87A0EC053}" authorId="{EF63D42D-F25A-9FC9-E782-B6EEC9F7775F}" status="resolved" created="2026-10-07T19:38:29.853" complete="100000">
    <ac:txMkLst xmlns:ac="http://schemas.microsoft.com/office/drawing/2013/main/command">
      <pc:docMk xmlns:pc="http://schemas.microsoft.com/office/powerpoint/2013/main/command"/>
      <pc:sldMk xmlns:pc="http://schemas.microsoft.com/office/powerpoint/2013/main/command" cId="995953708" sldId="307"/>
      <ac:spMk id="3" creationId="{0616C174-BCA5-EDD7-22FB-84D95CC4E1F1}"/>
      <ac:txMk cp="1848" len="228">
        <ac:context len="2077" hash="2485916427"/>
      </ac:txMk>
    </ac:txMkLst>
    <p188:pos x="4599878" y="4339682"/>
    <p188:replyLst>
      <p188:reply id="{48CF3693-F298-4B07-A76F-CC27ED090202}" authorId="{DA8C0EFE-06EA-5EDE-466D-0E73AD3642DC}" created="2026-10-08T13:38:12.855">
        <p188:txBody>
          <a:bodyPr/>
          <a:lstStyle/>
          <a:p>
            <a:r>
              <a:rPr lang="pt-BR"/>
              <a:t>Perfeito, isso mesmo</a:t>
            </a:r>
          </a:p>
        </p188:txBody>
      </p188:reply>
    </p188:replyLst>
    <p188:txBody>
      <a:bodyPr/>
      <a:lstStyle/>
      <a:p>
        <a:r>
          <a:rPr lang="en-US"/>
          <a:t>nestes casos o bloqueio será efetuado direto no BP do cliente, inserimos o motivo de bloqueio e somente será desbloqueado quando o cliente estiver com a situação regular, aí entramos novamente no BP do cliente e fazemos o desbloqueio, certo?</a:t>
        </a:r>
      </a:p>
    </p188:txBody>
  </p188:cm>
</p188:cmLst>
</file>

<file path=ppt/comments/modernComment_143_1104FB3A.xml><?xml version="1.0" encoding="utf-8"?>
<p188:cmLst xmlns:a="http://schemas.openxmlformats.org/drawingml/2006/main" xmlns:r="http://schemas.openxmlformats.org/officeDocument/2006/relationships" xmlns:p188="http://schemas.microsoft.com/office/powerpoint/2018/8/main">
  <p188:cm id="{459B6EFA-62B0-4CC0-8C64-77CBE21641DB}" authorId="{73AA45E3-6A29-6F03-E41E-8F7EA8CA2A54}" status="resolved" created="2026-10-07T13:10:05.006"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395" len="55">
        <ac:context len="1656" hash="2311983492"/>
      </ac:txMk>
    </ac:txMkLst>
    <p188:pos x="1616926" y="1626219"/>
    <p188:replyLst>
      <p188:reply id="{12C4F1C8-05A3-4606-B2C3-899DC1F74250}" authorId="{DA8C0EFE-06EA-5EDE-466D-0E73AD3642DC}" created="2026-10-08T14:34:03.366">
        <p188:txBody>
          <a:bodyPr/>
          <a:lstStyle/>
          <a:p>
            <a:r>
              <a:rPr lang="pt-BR"/>
              <a:t>Este documento foi feito após a finalização da CR que iria rever as classes, mas ficou definido para seguirmos como definido no BPDD</a:t>
            </a:r>
          </a:p>
        </p188:txBody>
      </p188:reply>
      <p188:reply id="{1AFD5232-092B-4BCE-BCF9-0ED5C28E9AC8}" authorId="{DA8C0EFE-06EA-5EDE-466D-0E73AD3642DC}" created="2026-10-08T18:11:42.032">
        <p188:txBody>
          <a:bodyPr/>
          <a:lstStyle/>
          <a:p>
            <a:r>
              <a:rPr lang="pt-BR"/>
              <a:t>Conforme conversado em reunião de validação, iremos alinhar a descrição final das classes de risco posteriormente</a:t>
            </a:r>
          </a:p>
        </p188:txBody>
      </p188:reply>
    </p188:replyLst>
    <p188:txBody>
      <a:bodyPr/>
      <a:lstStyle/>
      <a:p>
        <a:r>
          <a:rPr lang="pt-BR"/>
          <a:t>Aguardando devolutiva de como ficará as classes de risco em estudo para reduzir perfis.</a:t>
        </a:r>
      </a:p>
    </p188:txBody>
  </p188:cm>
  <p188:cm id="{B7AB8FF5-FF76-4E29-A094-21D14F5887AB}" authorId="{73AA45E3-6A29-6F03-E41E-8F7EA8CA2A54}" status="resolved" created="2026-10-07T13:10:37.428"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561">
        <ac:context len="1656" hash="2311983492"/>
      </ac:txMk>
    </ac:txMkLst>
    <p188:pos x="1719146" y="2035097"/>
    <p188:replyLst>
      <p188:reply id="{1D9CF3EB-8C87-48CE-B59B-669190D34110}" authorId="{DA8C0EFE-06EA-5EDE-466D-0E73AD3642DC}" created="2026-10-08T15:18:10.701">
        <p188:txBody>
          <a:bodyPr/>
          <a:lstStyle/>
          <a:p>
            <a:r>
              <a:rPr lang="pt-BR"/>
              <a:t>São as partidas de adiantamentos de clientes no razão especial, no contexto da frase, estou colocando quais os pontos o desenvolvimento deve levar em consideração para o calculo final</a:t>
            </a:r>
          </a:p>
        </p188:txBody>
      </p188:reply>
    </p188:replyLst>
    <p188:txBody>
      <a:bodyPr/>
      <a:lstStyle/>
      <a:p>
        <a:r>
          <a:rPr lang="pt-BR"/>
          <a:t>O que seria partidas de razão especial?</a:t>
        </a:r>
      </a:p>
    </p188:txBody>
  </p188:cm>
  <p188:cm id="{EB662AE9-9B14-4D56-91AB-E7BB5D0EB858}" authorId="{470DF614-120A-1101-3698-D6C41DD083A3}" status="resolved" created="2026-10-07T19:30:39.990"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561">
        <ac:context len="1656" hash="2311983492"/>
      </ac:txMk>
    </ac:txMkLst>
    <p188:pos x="1702129" y="2038597"/>
    <p188:replyLst>
      <p188:reply id="{84A694ED-87D4-4EE9-B805-2C5958E60781}" authorId="{DA8C0EFE-06EA-5EDE-466D-0E73AD3642DC}" created="2026-10-08T15:19:37.451">
        <p188:txBody>
          <a:bodyPr/>
          <a:lstStyle/>
          <a:p>
            <a:r>
              <a:rPr lang="pt-BR"/>
              <a:t>São as partidas de adiantamentos de clientes no razão especial, no contexto da frase, estou colocando quais os pontos o desenvolvimento deve levar em consideração para o calculo final.
Não está no BPDD mas foi definido sobre a criação do razão A de adiantamentos de clientes, que entra como um crédito na conta final</a:t>
            </a:r>
          </a:p>
        </p188:txBody>
      </p188:reply>
    </p188:replyLst>
    <p188:txBody>
      <a:bodyPr/>
      <a:lstStyle/>
      <a:p>
        <a:r>
          <a:rPr lang="en-US"/>
          <a:t>O que seria esses razões especiais para contas a receber ? Não temos isso no BPDD de contas a receber, favor verificar .</a:t>
        </a:r>
      </a:p>
    </p188:txBody>
  </p188:cm>
  <p188:cm id="{58925E5A-EC74-49F6-A2C6-8F4965A08354}" authorId="{EF63D42D-F25A-9FC9-E782-B6EEC9F7775F}" status="resolved" created="2026-10-07T19:54:27.796"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659" len="201">
        <ac:context len="1656" hash="2311983492"/>
      </ac:txMk>
    </ac:txMkLst>
    <p188:pos x="6170341" y="2657707"/>
    <p188:replyLst>
      <p188:reply id="{DB57905F-D44E-47EF-BBDA-826281F366A8}" authorId="{DA8C0EFE-06EA-5EDE-466D-0E73AD3642DC}" created="2026-10-08T15:20:57.139">
        <p188:txBody>
          <a:bodyPr/>
          <a:lstStyle/>
          <a:p>
            <a:r>
              <a:rPr lang="pt-BR"/>
              <a:t>à principio não temos esse campo</a:t>
            </a:r>
          </a:p>
        </p188:txBody>
      </p188:reply>
      <p188:reply id="{C8BF3C42-8187-4F7B-B18F-56727B043840}" authorId="{DA8C0EFE-06EA-5EDE-466D-0E73AD3642DC}" created="2026-10-08T18:34:51.583">
        <p188:txBody>
          <a:bodyPr/>
          <a:lstStyle/>
          <a:p>
            <a:r>
              <a:rPr lang="pt-BR"/>
              <a:t>Compreendido em reunião de validação</a:t>
            </a:r>
          </a:p>
        </p188:txBody>
      </p188:reply>
    </p188:replyLst>
    <p188:txBody>
      <a:bodyPr/>
      <a:lstStyle/>
      <a:p>
        <a:r>
          <a:rPr lang="en-US"/>
          <a:t>na situação onde o cliente vai ficar bloqueado pois está com pendência financeira. Ex: 2 horas após este bloqueio ele efetuou o pagamento, neste app haverá um campo onde eu possa identificar os clientes que vão regularizando as pendências no decorrer do dia e que necessitam de uma ação para liberação ?</a:t>
        </a:r>
      </a:p>
    </p188:txBody>
  </p188:cm>
</p188:cmLst>
</file>

<file path=ppt/comments/modernComment_147_93718A1F.xml><?xml version="1.0" encoding="utf-8"?>
<p188:cmLst xmlns:a="http://schemas.openxmlformats.org/drawingml/2006/main" xmlns:r="http://schemas.openxmlformats.org/officeDocument/2006/relationships" xmlns:p188="http://schemas.microsoft.com/office/powerpoint/2018/8/main">
  <p188:cm id="{2D280E21-128C-4F65-9679-1A8C70E36F2C}" authorId="{EF63D42D-F25A-9FC9-E782-B6EEC9F7775F}" status="resolved" created="2026-10-07T20:30:33.262" complete="100000">
    <ac:txMkLst xmlns:ac="http://schemas.microsoft.com/office/drawing/2013/main/command">
      <pc:docMk xmlns:pc="http://schemas.microsoft.com/office/powerpoint/2013/main/command"/>
      <pc:sldMk xmlns:pc="http://schemas.microsoft.com/office/powerpoint/2013/main/command" cId="2473691679" sldId="327"/>
      <ac:graphicFrameMk id="7" creationId="{3A5379CB-C617-8CC6-328E-2BDCE6CB09C2}"/>
      <ac:tblMk/>
      <ac:tcMk rowId="3733224820" colId="4066786244"/>
      <ac:txMk cp="0" len="143">
        <ac:context len="144" hash="3049485639"/>
      </ac:txMk>
    </ac:txMkLst>
    <p188:pos x="2258121" y="938560"/>
    <p188:replyLst>
      <p188:reply id="{26C507FC-6A34-4FF0-ADA3-09311FDAB239}" authorId="{DA8C0EFE-06EA-5EDE-466D-0E73AD3642DC}" created="2026-10-08T15:26:05.075">
        <p188:txBody>
          <a:bodyPr/>
          <a:lstStyle/>
          <a:p>
            <a:r>
              <a:rPr lang="pt-BR"/>
              <a:t>à principio apenas temos as informações da regra como definida no BPDD, se for passível de alteração, teria de ser solicitado esta alteração a consultoria</a:t>
            </a:r>
          </a:p>
        </p188:txBody>
      </p188:reply>
      <p188:reply id="{CAAC63D2-F203-4EBB-ABFA-B4D8EFAB580E}" authorId="{DA8C0EFE-06EA-5EDE-466D-0E73AD3642DC}" created="2026-10-08T18:39:54.978">
        <p188:txBody>
          <a:bodyPr/>
          <a:lstStyle/>
          <a:p>
            <a:r>
              <a:rPr lang="pt-BR"/>
              <a:t>Compreendido em reunião de validação, que as alterações das regras é sob demanda da consultoria</a:t>
            </a:r>
          </a:p>
        </p188:txBody>
      </p188:reply>
    </p188:replyLst>
    <p188:txBody>
      <a:bodyPr/>
      <a:lstStyle/>
      <a:p>
        <a:r>
          <a:rPr lang="en-US"/>
          <a:t>na hipótese de uma possível alteração na regra, não é possível o próprio usuário de contas a receber modificar essa regra? ou que seja a TI ?</a:t>
        </a:r>
      </a:p>
    </p188:txBody>
  </p188:cm>
  <p188:cm id="{07E7E38C-6E6B-4C88-9E1B-C7F679B1130B}" authorId="{EF63D42D-F25A-9FC9-E782-B6EEC9F7775F}" status="resolved" created="2026-10-07T20:33:57.480" complete="100000">
    <ac:txMkLst xmlns:ac="http://schemas.microsoft.com/office/drawing/2013/main/command">
      <pc:docMk xmlns:pc="http://schemas.microsoft.com/office/powerpoint/2013/main/command"/>
      <pc:sldMk xmlns:pc="http://schemas.microsoft.com/office/powerpoint/2013/main/command" cId="2473691679" sldId="327"/>
      <ac:graphicFrameMk id="7" creationId="{3A5379CB-C617-8CC6-328E-2BDCE6CB09C2}"/>
      <ac:tblMk/>
      <ac:tcMk rowId="2542408756" colId="4066786244"/>
      <ac:txMk cp="0" len="186">
        <ac:context len="187" hash="319690530"/>
      </ac:txMk>
    </ac:txMkLst>
    <p188:pos x="1700560" y="3196682"/>
    <p188:replyLst>
      <p188:reply id="{8C8335DC-B347-4660-AFE6-BCB044CBE7EB}" authorId="{DA8C0EFE-06EA-5EDE-466D-0E73AD3642DC}" created="2026-10-08T15:31:43.044">
        <p188:txBody>
          <a:bodyPr/>
          <a:lstStyle/>
          <a:p>
            <a:r>
              <a:rPr lang="pt-BR"/>
              <a:t>Como você havia me informado que a utilização deste app seria apenas uma vez ao dia, não desenhei desta forma</a:t>
            </a:r>
          </a:p>
        </p188:txBody>
      </p188:reply>
      <p188:reply id="{65035926-6D53-469E-874E-730A7CCFAA55}" authorId="{DA8C0EFE-06EA-5EDE-466D-0E73AD3642DC}" created="2026-10-08T18:40:47.338">
        <p188:txBody>
          <a:bodyPr/>
          <a:lstStyle/>
          <a:p>
            <a:r>
              <a:rPr lang="pt-BR"/>
              <a:t>Compreendido em reunião de validação</a:t>
            </a:r>
          </a:p>
        </p188:txBody>
      </p188:reply>
    </p188:replyLst>
    <p188:txBody>
      <a:bodyPr/>
      <a:lstStyle/>
      <a:p>
        <a:r>
          <a:rPr lang="en-US"/>
          <a:t>este job irá acontecer de tempo em tempo para que eu consiga ter a visibilidade dos clientes que regularizam suas pendências e que necessitam da liberação ?</a:t>
        </a:r>
      </a:p>
    </p188:txBody>
  </p188:cm>
</p188:cmLst>
</file>

<file path=ppt/comments/modernComment_150_9EB23F4D.xml><?xml version="1.0" encoding="utf-8"?>
<p188:cmLst xmlns:a="http://schemas.openxmlformats.org/drawingml/2006/main" xmlns:r="http://schemas.openxmlformats.org/officeDocument/2006/relationships" xmlns:p188="http://schemas.microsoft.com/office/powerpoint/2018/8/main">
  <p188:cm id="{6F2DEB0F-01E4-41B7-B86D-0DC597332355}" authorId="{73AA45E3-6A29-6F03-E41E-8F7EA8CA2A54}" status="resolved" created="2026-10-07T13:08:08.079" complete="100000">
    <ac:txMkLst xmlns:ac="http://schemas.microsoft.com/office/drawing/2013/main/command">
      <pc:docMk xmlns:pc="http://schemas.microsoft.com/office/powerpoint/2013/main/command"/>
      <pc:sldMk xmlns:pc="http://schemas.microsoft.com/office/powerpoint/2013/main/command" cId="2662481741" sldId="336"/>
      <ac:spMk id="5" creationId="{68B8CC3A-EEE3-AFFB-83E3-D0E6604D56EC}"/>
      <ac:txMk cp="0" len="90">
        <ac:context len="91" hash="80392930"/>
      </ac:txMk>
    </ac:txMkLst>
    <p188:pos x="9720146" y="223024"/>
    <p188:replyLst>
      <p188:reply id="{C46176A9-AD8C-40F8-BD9F-F15755424E7F}" authorId="{DA8C0EFE-06EA-5EDE-466D-0E73AD3642DC}" created="2026-10-08T14:33:28.929">
        <p188:txBody>
          <a:bodyPr/>
          <a:lstStyle/>
          <a:p>
            <a:r>
              <a:rPr lang="pt-BR"/>
              <a:t>Este documento foi feito após a finalização da CR que iria rever as classes, mas ficou definido para seguirmos como definido no BPDD, então acredito que não</a:t>
            </a:r>
          </a:p>
        </p188:txBody>
      </p188:reply>
      <p188:reply id="{F3E1D4B4-5518-4BBA-8C51-6DFA437824AF}" authorId="{DA8C0EFE-06EA-5EDE-466D-0E73AD3642DC}" created="2026-10-08T18:11:21.578">
        <p188:txBody>
          <a:bodyPr/>
          <a:lstStyle/>
          <a:p>
            <a:r>
              <a:rPr lang="pt-BR"/>
              <a:t>Conforme conversado em reunião de validação, iremos alinhar a descrição final das classes de risco posteriormente</a:t>
            </a:r>
          </a:p>
        </p188:txBody>
      </p188:reply>
    </p188:replyLst>
    <p188:txBody>
      <a:bodyPr/>
      <a:lstStyle/>
      <a:p>
        <a:r>
          <a:rPr lang="pt-BR"/>
          <a:t>Os perfis elencados na classe de risco do protótipo estão em avaliação pela consultora Karina e SAP, esse formato disponibilizado no documento poderá sofrer ajustes após validação?</a:t>
        </a:r>
      </a:p>
    </p188:txBody>
  </p188:cm>
</p188:cmLst>
</file>

<file path=ppt/comments/modernComment_151_6F0333B9.xml><?xml version="1.0" encoding="utf-8"?>
<p188:cmLst xmlns:a="http://schemas.openxmlformats.org/drawingml/2006/main" xmlns:r="http://schemas.openxmlformats.org/officeDocument/2006/relationships" xmlns:p188="http://schemas.microsoft.com/office/powerpoint/2018/8/main">
  <p188:cm id="{4635E8A4-1EF5-4AF7-ACBA-C112CD6CF0C7}" authorId="{73AA45E3-6A29-6F03-E41E-8F7EA8CA2A54}" status="resolved" created="2026-10-07T13:12:16.417"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553" len="69">
        <ac:context len="1424" hash="1306346785"/>
      </ac:txMk>
    </ac:txMkLst>
    <p188:pos x="8763000" y="1635512"/>
    <p188:replyLst>
      <p188:reply id="{5A045D6E-D534-4E8A-8107-5F8350B22F12}" authorId="{DA8C0EFE-06EA-5EDE-466D-0E73AD3642DC}" created="2026-10-08T15:21:31.592">
        <p188:txBody>
          <a:bodyPr/>
          <a:lstStyle/>
          <a:p>
            <a:r>
              <a:rPr lang="pt-BR"/>
              <a:t>Match code</a:t>
            </a:r>
          </a:p>
        </p188:txBody>
      </p188:reply>
    </p188:replyLst>
    <p188:txBody>
      <a:bodyPr/>
      <a:lstStyle/>
      <a:p>
        <a:r>
          <a:rPr lang="pt-BR"/>
          <a:t>Comentário ou match code padrão?</a:t>
        </a:r>
      </a:p>
    </p188:txBody>
  </p188:cm>
  <p188:cm id="{C065EAFB-09F3-40EF-8CBD-D585AED5A5A9}" authorId="{85FF4213-9354-C223-AD31-108C71890BE0}" status="resolved" created="2026-10-07T13:45:27.079"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40" len="44">
        <ac:context len="1424" hash="1306346785"/>
      </ac:txMk>
    </ac:txMkLst>
    <p188:pos x="4381500" y="666750"/>
    <p188:replyLst>
      <p188:reply id="{9F33C664-CC9D-471C-9C28-FD8E83A8C2C7}" authorId="{DA8C0EFE-06EA-5EDE-466D-0E73AD3642DC}" created="2026-10-08T15:21:20.373">
        <p188:txBody>
          <a:bodyPr/>
          <a:lstStyle/>
          <a:p>
            <a:r>
              <a:rPr lang="pt-BR"/>
              <a:t>Sim</a:t>
            </a:r>
          </a:p>
        </p188:txBody>
      </p188:reply>
    </p188:replyLst>
    <p188:txBody>
      <a:bodyPr/>
      <a:lstStyle/>
      <a:p>
        <a:r>
          <a:rPr lang="pt-BR"/>
          <a:t>Antes de efetivar o bloqueio, o sistema revalida a situação financeira atual do cliente?</a:t>
        </a:r>
      </a:p>
    </p188:txBody>
  </p188:cm>
  <p188:cm id="{37A5379B-C3B5-4842-A782-DEE50CC66454}" authorId="{13C2DEF7-D78C-9A6A-6CFF-8E25DBDDC2E5}" status="resolved" created="2026-10-07T21:04:08.367"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1210">
        <ac:context len="1424" hash="1306346785"/>
      </ac:txMk>
    </ac:txMkLst>
    <p188:pos x="10302657" y="4123150"/>
    <p188:replyLst>
      <p188:reply id="{60347E9F-613F-4F75-8469-C84E70F1C645}" authorId="{DA8C0EFE-06EA-5EDE-466D-0E73AD3642DC}" created="2026-10-08T15:22:15.482">
        <p188:txBody>
          <a:bodyPr/>
          <a:lstStyle/>
          <a:p>
            <a:r>
              <a:rPr lang="pt-BR"/>
              <a:t>O calculo de juros e multas também inflige nos débitos do cliente para com o Veiling</a:t>
            </a:r>
          </a:p>
        </p188:txBody>
      </p188:reply>
      <p188:reply id="{93F2AF8B-EE8C-4DB4-BC14-96F7FFBAFD37}" authorId="{DA8C0EFE-06EA-5EDE-466D-0E73AD3642DC}" created="2026-10-08T18:36:51.632">
        <p188:txBody>
          <a:bodyPr/>
          <a:lstStyle/>
          <a:p>
            <a:r>
              <a:rPr lang="pt-BR"/>
              <a:t>Compreendido em reunião de validação</a:t>
            </a:r>
          </a:p>
        </p188:txBody>
      </p188:reply>
    </p188:replyLst>
    <p188:txBody>
      <a:bodyPr/>
      <a:lstStyle/>
      <a:p>
        <a:r>
          <a:rPr lang="pt-BR"/>
          <a:t>Insi - Pelo nosso entendimento o DEL COM 068, seria responsável pelo provisionamento de crédito.
Qual a relação com calculo de juros e multas?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245059-48F2-4A0E-8196-F0EC340C1065}" type="datetimeFigureOut">
              <a:rPr lang="pt-BR" smtClean="0"/>
              <a:t>21/10/2026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35D1E8-4532-4AAA-A080-3021BFF55B2B}" type="slidenum">
              <a:rPr lang="pt-BR" smtClean="0"/>
              <a:t>‹#›</a:t>
            </a:fld>
            <a:endParaRPr lang="pt-BR"/>
          </a:p>
        </p:txBody>
      </p:sp>
    </p:spTree>
    <p:extLst>
      <p:ext uri="{BB962C8B-B14F-4D97-AF65-F5344CB8AC3E}">
        <p14:creationId xmlns:p14="http://schemas.microsoft.com/office/powerpoint/2010/main" val="21290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C35D1E8-4532-4AAA-A080-3021BFF55B2B}" type="slidenum">
              <a:rPr lang="pt-BR" smtClean="0"/>
              <a:t>1</a:t>
            </a:fld>
            <a:endParaRPr lang="pt-BR"/>
          </a:p>
        </p:txBody>
      </p:sp>
    </p:spTree>
    <p:extLst>
      <p:ext uri="{BB962C8B-B14F-4D97-AF65-F5344CB8AC3E}">
        <p14:creationId xmlns:p14="http://schemas.microsoft.com/office/powerpoint/2010/main" val="243723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306A-1E26-9629-EB85-46FF0E8C81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FF23556-E0E2-006E-C9E5-B4CC39A4DD66}"/>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F991107A-E383-C7BB-47E8-C07B1C802B3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BD47E966-DC4B-02E5-5686-C60D269C1865}"/>
              </a:ext>
            </a:extLst>
          </p:cNvPr>
          <p:cNvSpPr>
            <a:spLocks noGrp="1"/>
          </p:cNvSpPr>
          <p:nvPr>
            <p:ph type="sldNum" sz="quarter" idx="5"/>
          </p:nvPr>
        </p:nvSpPr>
        <p:spPr/>
        <p:txBody>
          <a:bodyPr/>
          <a:lstStyle/>
          <a:p>
            <a:fld id="{5C35D1E8-4532-4AAA-A080-3021BFF55B2B}" type="slidenum">
              <a:rPr lang="pt-BR" smtClean="0"/>
              <a:t>2</a:t>
            </a:fld>
            <a:endParaRPr lang="pt-BR"/>
          </a:p>
        </p:txBody>
      </p:sp>
    </p:spTree>
    <p:extLst>
      <p:ext uri="{BB962C8B-B14F-4D97-AF65-F5344CB8AC3E}">
        <p14:creationId xmlns:p14="http://schemas.microsoft.com/office/powerpoint/2010/main" val="2252472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EDE60-3E97-DF05-3656-4E2BEACE10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333683-3B06-F678-BDB5-A096F1A5D251}"/>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7F19B7DB-6E11-2DAA-8CCA-9B80B33B988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BDB20010-C978-ECE5-A9DC-B6BAD857E660}"/>
              </a:ext>
            </a:extLst>
          </p:cNvPr>
          <p:cNvSpPr>
            <a:spLocks noGrp="1"/>
          </p:cNvSpPr>
          <p:nvPr>
            <p:ph type="sldNum" sz="quarter" idx="5"/>
          </p:nvPr>
        </p:nvSpPr>
        <p:spPr/>
        <p:txBody>
          <a:bodyPr/>
          <a:lstStyle/>
          <a:p>
            <a:fld id="{5C35D1E8-4532-4AAA-A080-3021BFF55B2B}" type="slidenum">
              <a:rPr lang="pt-BR" smtClean="0"/>
              <a:t>3</a:t>
            </a:fld>
            <a:endParaRPr lang="pt-BR"/>
          </a:p>
        </p:txBody>
      </p:sp>
    </p:spTree>
    <p:extLst>
      <p:ext uri="{BB962C8B-B14F-4D97-AF65-F5344CB8AC3E}">
        <p14:creationId xmlns:p14="http://schemas.microsoft.com/office/powerpoint/2010/main" val="3205961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C35D1E8-4532-4AAA-A080-3021BFF55B2B}" type="slidenum">
              <a:rPr lang="pt-BR" smtClean="0"/>
              <a:t>4</a:t>
            </a:fld>
            <a:endParaRPr lang="pt-BR"/>
          </a:p>
        </p:txBody>
      </p:sp>
    </p:spTree>
    <p:extLst>
      <p:ext uri="{BB962C8B-B14F-4D97-AF65-F5344CB8AC3E}">
        <p14:creationId xmlns:p14="http://schemas.microsoft.com/office/powerpoint/2010/main" val="3866612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FD8E-53A5-48E6-C305-4AFEEC096C6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AA55B59-0C0B-28D9-A4A6-783CFC46C325}"/>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DE157940-22BF-69B4-C6A3-4F269759321E}"/>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2BC7A138-9371-7AF9-8944-CF6140C68FD9}"/>
              </a:ext>
            </a:extLst>
          </p:cNvPr>
          <p:cNvSpPr>
            <a:spLocks noGrp="1"/>
          </p:cNvSpPr>
          <p:nvPr>
            <p:ph type="sldNum" sz="quarter" idx="5"/>
          </p:nvPr>
        </p:nvSpPr>
        <p:spPr/>
        <p:txBody>
          <a:bodyPr/>
          <a:lstStyle/>
          <a:p>
            <a:fld id="{5C35D1E8-4532-4AAA-A080-3021BFF55B2B}" type="slidenum">
              <a:rPr lang="pt-BR" smtClean="0"/>
              <a:t>5</a:t>
            </a:fld>
            <a:endParaRPr lang="pt-BR"/>
          </a:p>
        </p:txBody>
      </p:sp>
    </p:spTree>
    <p:extLst>
      <p:ext uri="{BB962C8B-B14F-4D97-AF65-F5344CB8AC3E}">
        <p14:creationId xmlns:p14="http://schemas.microsoft.com/office/powerpoint/2010/main" val="480432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890E2-2BAF-509A-1CF7-76CDCBB49F9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A5EE7A4-0105-C1F3-D432-E2A347E62883}"/>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BD3807F0-98D4-4AD0-04D1-6187666065BA}"/>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C8CF963-92F1-191C-D4B5-E46BCE0B8A65}"/>
              </a:ext>
            </a:extLst>
          </p:cNvPr>
          <p:cNvSpPr>
            <a:spLocks noGrp="1"/>
          </p:cNvSpPr>
          <p:nvPr>
            <p:ph type="sldNum" sz="quarter" idx="5"/>
          </p:nvPr>
        </p:nvSpPr>
        <p:spPr/>
        <p:txBody>
          <a:bodyPr/>
          <a:lstStyle/>
          <a:p>
            <a:fld id="{5C35D1E8-4532-4AAA-A080-3021BFF55B2B}" type="slidenum">
              <a:rPr lang="pt-BR" smtClean="0"/>
              <a:t>8</a:t>
            </a:fld>
            <a:endParaRPr lang="pt-BR"/>
          </a:p>
        </p:txBody>
      </p:sp>
    </p:spTree>
    <p:extLst>
      <p:ext uri="{BB962C8B-B14F-4D97-AF65-F5344CB8AC3E}">
        <p14:creationId xmlns:p14="http://schemas.microsoft.com/office/powerpoint/2010/main" val="675089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39CC-F37C-1E52-AA5C-9AA4EB157C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5E7ACCA-7712-6A61-CD7B-EAC66C069AFD}"/>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824E0C55-FC68-5358-B6F8-549757506B0D}"/>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C2297436-4415-AED3-7B45-F3661707B838}"/>
              </a:ext>
            </a:extLst>
          </p:cNvPr>
          <p:cNvSpPr>
            <a:spLocks noGrp="1"/>
          </p:cNvSpPr>
          <p:nvPr>
            <p:ph type="sldNum" sz="quarter" idx="5"/>
          </p:nvPr>
        </p:nvSpPr>
        <p:spPr/>
        <p:txBody>
          <a:bodyPr/>
          <a:lstStyle/>
          <a:p>
            <a:fld id="{5C35D1E8-4532-4AAA-A080-3021BFF55B2B}" type="slidenum">
              <a:rPr lang="pt-BR" smtClean="0"/>
              <a:t>15</a:t>
            </a:fld>
            <a:endParaRPr lang="pt-BR"/>
          </a:p>
        </p:txBody>
      </p:sp>
    </p:spTree>
    <p:extLst>
      <p:ext uri="{BB962C8B-B14F-4D97-AF65-F5344CB8AC3E}">
        <p14:creationId xmlns:p14="http://schemas.microsoft.com/office/powerpoint/2010/main" val="3215324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7BB48-69C8-5773-5F5D-366FC65815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479FFB0-B1CD-142D-ED68-456E8CF795FE}"/>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B2AECEAF-BB34-91F8-FB1F-5DFB3CB9426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BED191F-A19C-9A46-B272-557E2A169A34}"/>
              </a:ext>
            </a:extLst>
          </p:cNvPr>
          <p:cNvSpPr>
            <a:spLocks noGrp="1"/>
          </p:cNvSpPr>
          <p:nvPr>
            <p:ph type="sldNum" sz="quarter" idx="5"/>
          </p:nvPr>
        </p:nvSpPr>
        <p:spPr/>
        <p:txBody>
          <a:bodyPr/>
          <a:lstStyle/>
          <a:p>
            <a:fld id="{5C35D1E8-4532-4AAA-A080-3021BFF55B2B}" type="slidenum">
              <a:rPr lang="pt-BR" smtClean="0"/>
              <a:t>23</a:t>
            </a:fld>
            <a:endParaRPr lang="pt-BR"/>
          </a:p>
        </p:txBody>
      </p:sp>
    </p:spTree>
    <p:extLst>
      <p:ext uri="{BB962C8B-B14F-4D97-AF65-F5344CB8AC3E}">
        <p14:creationId xmlns:p14="http://schemas.microsoft.com/office/powerpoint/2010/main" val="3815321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FC5A0-DC60-967F-719D-A09F48196F3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5CBDEC5-8A17-797D-6E4C-A30C1EAC17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4B00E59-AA23-B1B2-3B2C-CF3E48165AFC}"/>
              </a:ext>
            </a:extLst>
          </p:cNvPr>
          <p:cNvSpPr>
            <a:spLocks noGrp="1"/>
          </p:cNvSpPr>
          <p:nvPr>
            <p:ph type="dt" sz="half" idx="10"/>
          </p:nvPr>
        </p:nvSpPr>
        <p:spPr/>
        <p:txBody>
          <a:body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0EA2705E-C2DC-DADD-459A-71F0CE72A70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B494AB6-A25F-DEAF-EC2D-C6884F4AFD83}"/>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A2AF85BE-89FD-9BB5-60E4-3AA4C08F0AD8}"/>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35892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EC0E0C-843C-FF69-4F58-3E68E6F17F0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747EE27-77A5-1DB3-9E85-8F1A51DA487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820351B-E03E-D00C-2DEF-9A44A2DC831B}"/>
              </a:ext>
            </a:extLst>
          </p:cNvPr>
          <p:cNvSpPr>
            <a:spLocks noGrp="1"/>
          </p:cNvSpPr>
          <p:nvPr>
            <p:ph type="dt" sz="half" idx="10"/>
          </p:nvPr>
        </p:nvSpPr>
        <p:spPr/>
        <p:txBody>
          <a:body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8B72F9E3-6CCA-B95F-C054-53943AECC64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78B0AF2-FCFB-94FF-AE8E-0BB50CB4C74F}"/>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2578FB0B-9F84-2558-328E-3BE4E22C4685}"/>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3422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A53BE9-CEFB-AC42-2C80-102E5179E629}"/>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BE3B2DB-F70B-08BA-1EB0-EF8C6F8BB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84E694A3-0412-E55C-1282-D6FA17BB963F}"/>
              </a:ext>
            </a:extLst>
          </p:cNvPr>
          <p:cNvSpPr>
            <a:spLocks noGrp="1"/>
          </p:cNvSpPr>
          <p:nvPr>
            <p:ph type="dt" sz="half" idx="10"/>
          </p:nvPr>
        </p:nvSpPr>
        <p:spPr/>
        <p:txBody>
          <a:body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2FCDDBC2-CF13-1474-BC6C-17C7092C11E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EF8E074-7298-9560-486C-32CB8F4DAAD3}"/>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5AD60D00-CEBB-0D69-1AB2-16F34BD0350B}"/>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8822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FE6BB-12E0-520C-EF89-345172C0128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01298B9-F9A0-EF51-D347-81676CC3E540}"/>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3FF93C7-B8A4-8FFA-6BD3-00BA537B650D}"/>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9122813-2182-2813-A009-5FF695A637E5}"/>
              </a:ext>
            </a:extLst>
          </p:cNvPr>
          <p:cNvSpPr>
            <a:spLocks noGrp="1"/>
          </p:cNvSpPr>
          <p:nvPr>
            <p:ph type="dt" sz="half" idx="10"/>
          </p:nvPr>
        </p:nvSpPr>
        <p:spPr/>
        <p:txBody>
          <a:bodyPr/>
          <a:lstStyle/>
          <a:p>
            <a:fld id="{0F68E64F-4D67-6E4F-BE27-C0639DFBA66A}" type="datetimeFigureOut">
              <a:t>10/21/2026</a:t>
            </a:fld>
            <a:endParaRPr lang="pt-BR"/>
          </a:p>
        </p:txBody>
      </p:sp>
      <p:sp>
        <p:nvSpPr>
          <p:cNvPr id="6" name="Espaço Reservado para Rodapé 5">
            <a:extLst>
              <a:ext uri="{FF2B5EF4-FFF2-40B4-BE49-F238E27FC236}">
                <a16:creationId xmlns:a16="http://schemas.microsoft.com/office/drawing/2014/main" id="{7C1FF7CF-E013-4ED5-DBF3-FEFEE6A20BC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697D206-1E06-3BE4-BC80-2E7D388A5669}"/>
              </a:ext>
            </a:extLst>
          </p:cNvPr>
          <p:cNvSpPr>
            <a:spLocks noGrp="1"/>
          </p:cNvSpPr>
          <p:nvPr>
            <p:ph type="sldNum" sz="quarter" idx="12"/>
          </p:nvPr>
        </p:nvSpPr>
        <p:spPr/>
        <p:txBody>
          <a:bodyPr/>
          <a:lstStyle/>
          <a:p>
            <a:fld id="{14F5CD57-C5F7-FB45-93D6-E12EBA7D3410}" type="slidenum">
              <a:t>‹#›</a:t>
            </a:fld>
            <a:endParaRPr lang="pt-BR"/>
          </a:p>
        </p:txBody>
      </p:sp>
      <p:cxnSp>
        <p:nvCxnSpPr>
          <p:cNvPr id="8" name="Conector reto 7">
            <a:extLst>
              <a:ext uri="{FF2B5EF4-FFF2-40B4-BE49-F238E27FC236}">
                <a16:creationId xmlns:a16="http://schemas.microsoft.com/office/drawing/2014/main" id="{F37A940F-BD7F-0AD8-E74C-CD3CF42EF582}"/>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3966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8142C-91C1-38A4-0EEF-60FA7220A91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3179374-8E81-0C12-CD4C-FBA5194F8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B6567CC-DF38-FAAF-D0FD-815A56B1B67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E32A8FF-A698-088C-1AB8-D726F365BC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A5BDAFD-17AD-ED2F-0386-B4962ECB478A}"/>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EAFFF1F-F0C6-FEC8-F1C9-975430368C14}"/>
              </a:ext>
            </a:extLst>
          </p:cNvPr>
          <p:cNvSpPr>
            <a:spLocks noGrp="1"/>
          </p:cNvSpPr>
          <p:nvPr>
            <p:ph type="dt" sz="half" idx="10"/>
          </p:nvPr>
        </p:nvSpPr>
        <p:spPr/>
        <p:txBody>
          <a:bodyPr/>
          <a:lstStyle/>
          <a:p>
            <a:fld id="{0F68E64F-4D67-6E4F-BE27-C0639DFBA66A}" type="datetimeFigureOut">
              <a:t>10/21/2026</a:t>
            </a:fld>
            <a:endParaRPr lang="pt-BR"/>
          </a:p>
        </p:txBody>
      </p:sp>
      <p:sp>
        <p:nvSpPr>
          <p:cNvPr id="8" name="Espaço Reservado para Rodapé 7">
            <a:extLst>
              <a:ext uri="{FF2B5EF4-FFF2-40B4-BE49-F238E27FC236}">
                <a16:creationId xmlns:a16="http://schemas.microsoft.com/office/drawing/2014/main" id="{AAE5F988-A516-EC43-182D-9FDFAB2AFE1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4C7341D-07C0-42B6-BF87-97804C9D0A94}"/>
              </a:ext>
            </a:extLst>
          </p:cNvPr>
          <p:cNvSpPr>
            <a:spLocks noGrp="1"/>
          </p:cNvSpPr>
          <p:nvPr>
            <p:ph type="sldNum" sz="quarter" idx="12"/>
          </p:nvPr>
        </p:nvSpPr>
        <p:spPr/>
        <p:txBody>
          <a:bodyPr/>
          <a:lstStyle/>
          <a:p>
            <a:fld id="{14F5CD57-C5F7-FB45-93D6-E12EBA7D3410}" type="slidenum">
              <a:t>‹#›</a:t>
            </a:fld>
            <a:endParaRPr lang="pt-BR"/>
          </a:p>
        </p:txBody>
      </p:sp>
      <p:cxnSp>
        <p:nvCxnSpPr>
          <p:cNvPr id="10" name="Conector reto 9">
            <a:extLst>
              <a:ext uri="{FF2B5EF4-FFF2-40B4-BE49-F238E27FC236}">
                <a16:creationId xmlns:a16="http://schemas.microsoft.com/office/drawing/2014/main" id="{125E6ABB-7407-967A-9D43-6428993E349E}"/>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9279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70E5FD-2180-04ED-8058-BC395DDF701A}"/>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22DE0AE-6FF4-93C7-40F9-F9E46A591BE7}"/>
              </a:ext>
            </a:extLst>
          </p:cNvPr>
          <p:cNvSpPr>
            <a:spLocks noGrp="1"/>
          </p:cNvSpPr>
          <p:nvPr>
            <p:ph type="dt" sz="half" idx="10"/>
          </p:nvPr>
        </p:nvSpPr>
        <p:spPr/>
        <p:txBody>
          <a:bodyPr/>
          <a:lstStyle/>
          <a:p>
            <a:fld id="{0F68E64F-4D67-6E4F-BE27-C0639DFBA66A}" type="datetimeFigureOut">
              <a:t>10/21/2026</a:t>
            </a:fld>
            <a:endParaRPr lang="pt-BR"/>
          </a:p>
        </p:txBody>
      </p:sp>
      <p:sp>
        <p:nvSpPr>
          <p:cNvPr id="4" name="Espaço Reservado para Rodapé 3">
            <a:extLst>
              <a:ext uri="{FF2B5EF4-FFF2-40B4-BE49-F238E27FC236}">
                <a16:creationId xmlns:a16="http://schemas.microsoft.com/office/drawing/2014/main" id="{7DEAA1B4-85E9-5C01-0B87-6176C794528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D5F3B43-80B3-A37D-7791-FB98190FB286}"/>
              </a:ext>
            </a:extLst>
          </p:cNvPr>
          <p:cNvSpPr>
            <a:spLocks noGrp="1"/>
          </p:cNvSpPr>
          <p:nvPr>
            <p:ph type="sldNum" sz="quarter" idx="12"/>
          </p:nvPr>
        </p:nvSpPr>
        <p:spPr/>
        <p:txBody>
          <a:bodyPr/>
          <a:lstStyle/>
          <a:p>
            <a:fld id="{14F5CD57-C5F7-FB45-93D6-E12EBA7D3410}" type="slidenum">
              <a:t>‹#›</a:t>
            </a:fld>
            <a:endParaRPr lang="pt-BR"/>
          </a:p>
        </p:txBody>
      </p:sp>
      <p:cxnSp>
        <p:nvCxnSpPr>
          <p:cNvPr id="6" name="Conector reto 5">
            <a:extLst>
              <a:ext uri="{FF2B5EF4-FFF2-40B4-BE49-F238E27FC236}">
                <a16:creationId xmlns:a16="http://schemas.microsoft.com/office/drawing/2014/main" id="{85F9784A-FF93-AA23-474C-509C8B18893D}"/>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9876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02995E3-7304-8E2A-4578-F51EEE2BB735}"/>
              </a:ext>
            </a:extLst>
          </p:cNvPr>
          <p:cNvSpPr>
            <a:spLocks noGrp="1"/>
          </p:cNvSpPr>
          <p:nvPr>
            <p:ph type="dt" sz="half" idx="10"/>
          </p:nvPr>
        </p:nvSpPr>
        <p:spPr/>
        <p:txBody>
          <a:bodyPr/>
          <a:lstStyle/>
          <a:p>
            <a:fld id="{0F68E64F-4D67-6E4F-BE27-C0639DFBA66A}" type="datetimeFigureOut">
              <a:t>10/21/2026</a:t>
            </a:fld>
            <a:endParaRPr lang="pt-BR"/>
          </a:p>
        </p:txBody>
      </p:sp>
      <p:sp>
        <p:nvSpPr>
          <p:cNvPr id="3" name="Espaço Reservado para Rodapé 2">
            <a:extLst>
              <a:ext uri="{FF2B5EF4-FFF2-40B4-BE49-F238E27FC236}">
                <a16:creationId xmlns:a16="http://schemas.microsoft.com/office/drawing/2014/main" id="{9BC96C20-8214-FBA0-10FB-724D3A49A65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876C1DFC-686A-D72D-FBA3-D69B3BFF23A1}"/>
              </a:ext>
            </a:extLst>
          </p:cNvPr>
          <p:cNvSpPr>
            <a:spLocks noGrp="1"/>
          </p:cNvSpPr>
          <p:nvPr>
            <p:ph type="sldNum" sz="quarter" idx="12"/>
          </p:nvPr>
        </p:nvSpPr>
        <p:spPr/>
        <p:txBody>
          <a:bodyPr/>
          <a:lstStyle/>
          <a:p>
            <a:fld id="{14F5CD57-C5F7-FB45-93D6-E12EBA7D3410}" type="slidenum">
              <a:t>‹#›</a:t>
            </a:fld>
            <a:endParaRPr lang="pt-BR"/>
          </a:p>
        </p:txBody>
      </p:sp>
    </p:spTree>
    <p:extLst>
      <p:ext uri="{BB962C8B-B14F-4D97-AF65-F5344CB8AC3E}">
        <p14:creationId xmlns:p14="http://schemas.microsoft.com/office/powerpoint/2010/main" val="4125718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B2CCB-C43B-062E-8055-14BE72AD5B0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ED56B98-39B3-C5F6-9E14-884930667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20BD9F0-7104-3515-995D-A826F0BA3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607C724-2C9D-F738-B199-EC31B6A204AF}"/>
              </a:ext>
            </a:extLst>
          </p:cNvPr>
          <p:cNvSpPr>
            <a:spLocks noGrp="1"/>
          </p:cNvSpPr>
          <p:nvPr>
            <p:ph type="dt" sz="half" idx="10"/>
          </p:nvPr>
        </p:nvSpPr>
        <p:spPr/>
        <p:txBody>
          <a:bodyPr/>
          <a:lstStyle/>
          <a:p>
            <a:fld id="{0F68E64F-4D67-6E4F-BE27-C0639DFBA66A}" type="datetimeFigureOut">
              <a:t>10/21/2026</a:t>
            </a:fld>
            <a:endParaRPr lang="pt-BR"/>
          </a:p>
        </p:txBody>
      </p:sp>
      <p:sp>
        <p:nvSpPr>
          <p:cNvPr id="6" name="Espaço Reservado para Rodapé 5">
            <a:extLst>
              <a:ext uri="{FF2B5EF4-FFF2-40B4-BE49-F238E27FC236}">
                <a16:creationId xmlns:a16="http://schemas.microsoft.com/office/drawing/2014/main" id="{58069BEB-14D7-AA46-2DFF-78C01D55D70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4DE27E8-C8D4-0EAD-E01C-896CC5FC4645}"/>
              </a:ext>
            </a:extLst>
          </p:cNvPr>
          <p:cNvSpPr>
            <a:spLocks noGrp="1"/>
          </p:cNvSpPr>
          <p:nvPr>
            <p:ph type="sldNum" sz="quarter" idx="12"/>
          </p:nvPr>
        </p:nvSpPr>
        <p:spPr/>
        <p:txBody>
          <a:bodyPr/>
          <a:lstStyle/>
          <a:p>
            <a:fld id="{14F5CD57-C5F7-FB45-93D6-E12EBA7D3410}" type="slidenum">
              <a:t>‹#›</a:t>
            </a:fld>
            <a:endParaRPr lang="pt-BR"/>
          </a:p>
        </p:txBody>
      </p:sp>
    </p:spTree>
    <p:extLst>
      <p:ext uri="{BB962C8B-B14F-4D97-AF65-F5344CB8AC3E}">
        <p14:creationId xmlns:p14="http://schemas.microsoft.com/office/powerpoint/2010/main" val="4179312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91C15D-6BC1-75A2-D814-B4705F7FC9C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8A41FE3-E7B8-BC0F-AC82-CEDB10AE6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7BD65FC3-C774-8CF0-7980-4BC27D8FD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D4DF973-FD4B-2AE7-B5F5-3A11F2AB847B}"/>
              </a:ext>
            </a:extLst>
          </p:cNvPr>
          <p:cNvSpPr>
            <a:spLocks noGrp="1"/>
          </p:cNvSpPr>
          <p:nvPr>
            <p:ph type="dt" sz="half" idx="10"/>
          </p:nvPr>
        </p:nvSpPr>
        <p:spPr/>
        <p:txBody>
          <a:bodyPr/>
          <a:lstStyle/>
          <a:p>
            <a:fld id="{0F68E64F-4D67-6E4F-BE27-C0639DFBA66A}" type="datetimeFigureOut">
              <a:t>10/21/2026</a:t>
            </a:fld>
            <a:endParaRPr lang="pt-BR"/>
          </a:p>
        </p:txBody>
      </p:sp>
      <p:sp>
        <p:nvSpPr>
          <p:cNvPr id="6" name="Espaço Reservado para Rodapé 5">
            <a:extLst>
              <a:ext uri="{FF2B5EF4-FFF2-40B4-BE49-F238E27FC236}">
                <a16:creationId xmlns:a16="http://schemas.microsoft.com/office/drawing/2014/main" id="{1D2B3AA9-941A-6DA7-6E0F-A29C187C7B8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2A4087-2D74-64F7-FB51-68C1F39F24AA}"/>
              </a:ext>
            </a:extLst>
          </p:cNvPr>
          <p:cNvSpPr>
            <a:spLocks noGrp="1"/>
          </p:cNvSpPr>
          <p:nvPr>
            <p:ph type="sldNum" sz="quarter" idx="12"/>
          </p:nvPr>
        </p:nvSpPr>
        <p:spPr/>
        <p:txBody>
          <a:bodyPr/>
          <a:lstStyle/>
          <a:p>
            <a:fld id="{14F5CD57-C5F7-FB45-93D6-E12EBA7D3410}" type="slidenum">
              <a:t>‹#›</a:t>
            </a:fld>
            <a:endParaRPr lang="pt-BR"/>
          </a:p>
        </p:txBody>
      </p:sp>
      <p:cxnSp>
        <p:nvCxnSpPr>
          <p:cNvPr id="8" name="Conector reto 7">
            <a:extLst>
              <a:ext uri="{FF2B5EF4-FFF2-40B4-BE49-F238E27FC236}">
                <a16:creationId xmlns:a16="http://schemas.microsoft.com/office/drawing/2014/main" id="{8B169CBC-BDE2-9132-9E72-E334D3232DF5}"/>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715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9D282-CF43-DD2E-CA7C-E0BB6B78AD7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FF57E8F-22E8-DE9F-2D5B-4842E57834F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8BEF1A2-ABDB-A704-5C0F-62ACC23A314C}"/>
              </a:ext>
            </a:extLst>
          </p:cNvPr>
          <p:cNvSpPr>
            <a:spLocks noGrp="1"/>
          </p:cNvSpPr>
          <p:nvPr>
            <p:ph type="dt" sz="half" idx="10"/>
          </p:nvPr>
        </p:nvSpPr>
        <p:spPr/>
        <p:txBody>
          <a:body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ACE47CA5-C08F-BB2D-57D4-F5F643BE032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9970639-83AA-04AD-7F7A-DF768A777680}"/>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7A171181-A4FE-1E2B-5233-8591C31EC2D4}"/>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79504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EA807D3-B716-6658-F6EB-EDA6D3C5C773}"/>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53A41D7E-0C41-B048-C825-F9791FD3B77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97625AD-0897-FB6A-AF6A-CA3ED5698996}"/>
              </a:ext>
            </a:extLst>
          </p:cNvPr>
          <p:cNvSpPr>
            <a:spLocks noGrp="1"/>
          </p:cNvSpPr>
          <p:nvPr>
            <p:ph type="dt" sz="half" idx="10"/>
          </p:nvPr>
        </p:nvSpPr>
        <p:spPr/>
        <p:txBody>
          <a:body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4517C2D4-9067-E49F-9B49-A063065251B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5E1AE50-4627-C00F-0FD9-5C4F33A86D3C}"/>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F742B013-A5B7-31B4-7F21-6C67379D82E3}"/>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8374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E49EA81-B53F-F642-9EEF-D2301EC1A3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516373EE-7F66-F2AB-0997-670DE572F8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2137776-3A7C-0153-B037-66FB9580C4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68E64F-4D67-6E4F-BE27-C0639DFBA66A}" type="datetimeFigureOut">
              <a:t>10/21/2026</a:t>
            </a:fld>
            <a:endParaRPr lang="pt-BR"/>
          </a:p>
        </p:txBody>
      </p:sp>
      <p:sp>
        <p:nvSpPr>
          <p:cNvPr id="5" name="Espaço Reservado para Rodapé 4">
            <a:extLst>
              <a:ext uri="{FF2B5EF4-FFF2-40B4-BE49-F238E27FC236}">
                <a16:creationId xmlns:a16="http://schemas.microsoft.com/office/drawing/2014/main" id="{E0A58AE6-3E03-5ABA-F098-D7C4DD465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FEDE330-D54C-85E5-EF37-1E62079BA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F5CD57-C5F7-FB45-93D6-E12EBA7D3410}" type="slidenum">
              <a:t>‹#›</a:t>
            </a:fld>
            <a:endParaRPr lang="pt-BR"/>
          </a:p>
        </p:txBody>
      </p:sp>
      <p:sp>
        <p:nvSpPr>
          <p:cNvPr id="8" name="CaixaDeTexto 7">
            <a:extLst>
              <a:ext uri="{FF2B5EF4-FFF2-40B4-BE49-F238E27FC236}">
                <a16:creationId xmlns:a16="http://schemas.microsoft.com/office/drawing/2014/main" id="{9CF0A8F4-172D-AE78-A0CC-66E9E48315DD}"/>
              </a:ext>
            </a:extLst>
          </p:cNvPr>
          <p:cNvSpPr txBox="1"/>
          <p:nvPr>
            <p:extLst>
              <p:ext uri="{1162E1C5-73C7-4A58-AE30-91384D911F3F}">
                <p184:classification xmlns:p184="http://schemas.microsoft.com/office/powerpoint/2018/4/main" val="hdr"/>
              </p:ext>
            </p:extLst>
          </p:nvPr>
        </p:nvSpPr>
        <p:spPr>
          <a:xfrm>
            <a:off x="63500" y="63500"/>
            <a:ext cx="1268413" cy="152400"/>
          </a:xfrm>
          <a:prstGeom prst="rect">
            <a:avLst/>
          </a:prstGeom>
        </p:spPr>
        <p:txBody>
          <a:bodyPr horzOverflow="overflow" lIns="0" tIns="0" rIns="0" bIns="0">
            <a:spAutoFit/>
          </a:bodyPr>
          <a:lstStyle/>
          <a:p>
            <a:pPr algn="l"/>
            <a:r>
              <a:rPr lang="pt-BR" sz="1000">
                <a:solidFill>
                  <a:srgbClr val="FF0000">
                    <a:alpha val="50000"/>
                  </a:srgbClr>
                </a:solidFill>
                <a:latin typeface="Aptos" panose="020B0004020202020204" pitchFamily="34" charset="0"/>
              </a:rPr>
              <a:t>Classificação: Restrito</a:t>
            </a:r>
          </a:p>
        </p:txBody>
      </p:sp>
    </p:spTree>
    <p:extLst>
      <p:ext uri="{BB962C8B-B14F-4D97-AF65-F5344CB8AC3E}">
        <p14:creationId xmlns:p14="http://schemas.microsoft.com/office/powerpoint/2010/main" val="647685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A_5E74571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33_3B5D0C2C.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4C_4631212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4B_7E28CA2F.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50_9EB23F4D.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43_1104FB3A.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51_6F0333B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4D_49486A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47_93718A1F.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8B_93718A1F.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8E_93718A1F.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18C_41B8CEB.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18F_41B8CEB.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FC9CC96-B8C1-DCFD-9141-6EEACA857CBF}"/>
              </a:ext>
            </a:extLst>
          </p:cNvPr>
          <p:cNvSpPr txBox="1"/>
          <p:nvPr/>
        </p:nvSpPr>
        <p:spPr>
          <a:xfrm>
            <a:off x="664956" y="1007432"/>
            <a:ext cx="6767878" cy="1569660"/>
          </a:xfrm>
          <a:prstGeom prst="rect">
            <a:avLst/>
          </a:prstGeom>
          <a:noFill/>
        </p:spPr>
        <p:txBody>
          <a:bodyPr wrap="square" rtlCol="0">
            <a:spAutoFit/>
          </a:bodyPr>
          <a:lstStyle/>
          <a:p>
            <a:r>
              <a:rPr lang="pt-BR" sz="4800">
                <a:solidFill>
                  <a:srgbClr val="C2DF3B"/>
                </a:solidFill>
                <a:latin typeface="Noto Sans Bold" panose="020B0802040504020204" pitchFamily="34"/>
                <a:sym typeface="Noto Sans Thai Light"/>
              </a:rPr>
              <a:t>Desenho de Proposta de Solução</a:t>
            </a:r>
          </a:p>
        </p:txBody>
      </p:sp>
      <p:sp>
        <p:nvSpPr>
          <p:cNvPr id="6" name="CaixaDeTexto 5">
            <a:extLst>
              <a:ext uri="{FF2B5EF4-FFF2-40B4-BE49-F238E27FC236}">
                <a16:creationId xmlns:a16="http://schemas.microsoft.com/office/drawing/2014/main" id="{718518DC-1835-9DFA-24D8-33AAD0EAC98F}"/>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5" name="Imagem 4" descr="Logotipo&#10;&#10;Descrição gerada automaticamente">
            <a:extLst>
              <a:ext uri="{FF2B5EF4-FFF2-40B4-BE49-F238E27FC236}">
                <a16:creationId xmlns:a16="http://schemas.microsoft.com/office/drawing/2014/main" id="{A70FBF15-1F73-4877-AC5B-CE0E77FB1835}"/>
              </a:ext>
            </a:extLst>
          </p:cNvPr>
          <p:cNvPicPr>
            <a:picLocks noChangeAspect="1"/>
          </p:cNvPicPr>
          <p:nvPr/>
        </p:nvPicPr>
        <p:blipFill>
          <a:blip r:embed="rId4"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
        <p:nvSpPr>
          <p:cNvPr id="3" name="Google Shape;185;p13">
            <a:extLst>
              <a:ext uri="{FF2B5EF4-FFF2-40B4-BE49-F238E27FC236}">
                <a16:creationId xmlns:a16="http://schemas.microsoft.com/office/drawing/2014/main" id="{300A385A-79EE-5568-FE0F-6169298C677B}"/>
              </a:ext>
            </a:extLst>
          </p:cNvPr>
          <p:cNvSpPr txBox="1"/>
          <p:nvPr/>
        </p:nvSpPr>
        <p:spPr>
          <a:xfrm>
            <a:off x="664956" y="2892830"/>
            <a:ext cx="6949440" cy="868680"/>
          </a:xfrm>
          <a:prstGeom prst="rect">
            <a:avLst/>
          </a:prstGeom>
          <a:noFill/>
          <a:ln>
            <a:noFill/>
          </a:ln>
        </p:spPr>
        <p:txBody>
          <a:bodyPr spcFirstLastPara="1" wrap="square" lIns="91425" tIns="45700" rIns="91425" bIns="45700" anchor="t" anchorCtr="0">
            <a:spAutoFit/>
          </a:bodyPr>
          <a:lstStyle/>
          <a:p>
            <a:pPr>
              <a:buSzPts val="4400"/>
            </a:pPr>
            <a:r>
              <a:rPr lang="pt-BR" b="1">
                <a:solidFill>
                  <a:schemeClr val="bg1"/>
                </a:solidFill>
                <a:latin typeface="Noto Sans"/>
                <a:ea typeface="Noto Sans"/>
                <a:cs typeface="Noto Sans"/>
              </a:rPr>
              <a:t>Bloqueio/Desbloqueio massivo de clientes inadimplentes</a:t>
            </a:r>
            <a:br>
              <a:rPr lang="pt-BR" b="1">
                <a:solidFill>
                  <a:schemeClr val="bg1"/>
                </a:solidFill>
                <a:latin typeface="Noto Sans"/>
                <a:ea typeface="Noto Sans"/>
                <a:cs typeface="Noto Sans"/>
              </a:rPr>
            </a:br>
            <a:r>
              <a:rPr lang="pt-BR" b="1">
                <a:solidFill>
                  <a:schemeClr val="bg1"/>
                </a:solidFill>
                <a:latin typeface="Noto Sans"/>
                <a:ea typeface="Noto Sans"/>
                <a:cs typeface="Noto Sans"/>
              </a:rPr>
              <a:t>FI-AR</a:t>
            </a:r>
            <a:endParaRPr lang="pt-BR" b="1">
              <a:solidFill>
                <a:schemeClr val="bg1"/>
              </a:solidFill>
              <a:latin typeface="Noto Sans"/>
              <a:ea typeface="Noto Sans"/>
              <a:cs typeface="Noto Sans"/>
              <a:sym typeface="Noto Sans Thai Light"/>
            </a:endParaRPr>
          </a:p>
        </p:txBody>
      </p:sp>
      <p:sp>
        <p:nvSpPr>
          <p:cNvPr id="7" name="Google Shape;185;p13">
            <a:extLst>
              <a:ext uri="{FF2B5EF4-FFF2-40B4-BE49-F238E27FC236}">
                <a16:creationId xmlns:a16="http://schemas.microsoft.com/office/drawing/2014/main" id="{18ED373B-7C8F-FEC8-1699-62A54761276E}"/>
              </a:ext>
            </a:extLst>
          </p:cNvPr>
          <p:cNvSpPr txBox="1"/>
          <p:nvPr/>
        </p:nvSpPr>
        <p:spPr>
          <a:xfrm>
            <a:off x="664956" y="3794760"/>
            <a:ext cx="3015081" cy="369291"/>
          </a:xfrm>
          <a:prstGeom prst="rect">
            <a:avLst/>
          </a:prstGeom>
          <a:noFill/>
          <a:ln>
            <a:noFill/>
          </a:ln>
        </p:spPr>
        <p:txBody>
          <a:bodyPr spcFirstLastPara="1" wrap="square" lIns="91425" tIns="45700" rIns="91425" bIns="45700" anchor="t" anchorCtr="0">
            <a:spAutoFit/>
          </a:bodyPr>
          <a:lstStyle/>
          <a:p>
            <a:pPr>
              <a:buSzPts val="4400"/>
            </a:pPr>
            <a:r>
              <a:rPr lang="pt-BR">
                <a:solidFill>
                  <a:schemeClr val="bg1"/>
                </a:solidFill>
                <a:latin typeface="Noto Sans" panose="020B0502040504020204" pitchFamily="34" charset="0"/>
                <a:ea typeface="Noto Sans" panose="020B0502040504020204" pitchFamily="34" charset="0"/>
                <a:cs typeface="Noto Sans" panose="020B0502040504020204" pitchFamily="34" charset="0"/>
              </a:rPr>
              <a:t>03/10/2026</a:t>
            </a:r>
            <a:endParaRPr lang="pt-BR" b="1">
              <a:solidFill>
                <a:schemeClr val="bg1"/>
              </a:solidFill>
              <a:latin typeface="Noto Sans" panose="020B0502040504020204" pitchFamily="34" charset="0"/>
              <a:ea typeface="Noto Sans" panose="020B0502040504020204" pitchFamily="34" charset="0"/>
              <a:cs typeface="Noto Sans" panose="020B0502040504020204" pitchFamily="34" charset="0"/>
              <a:sym typeface="Noto Sans Thai Light"/>
            </a:endParaRPr>
          </a:p>
        </p:txBody>
      </p:sp>
    </p:spTree>
    <p:extLst>
      <p:ext uri="{BB962C8B-B14F-4D97-AF65-F5344CB8AC3E}">
        <p14:creationId xmlns:p14="http://schemas.microsoft.com/office/powerpoint/2010/main" val="3994290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2CC7-2850-7B05-F936-D1A0058F26DD}"/>
            </a:ext>
          </a:extLst>
        </p:cNvPr>
        <p:cNvGrpSpPr/>
        <p:nvPr/>
      </p:nvGrpSpPr>
      <p:grpSpPr>
        <a:xfrm>
          <a:off x="0" y="0"/>
          <a:ext cx="0" cy="0"/>
          <a:chOff x="0" y="0"/>
          <a:chExt cx="0" cy="0"/>
        </a:xfrm>
      </p:grpSpPr>
      <p:sp>
        <p:nvSpPr>
          <p:cNvPr id="33" name="Rectangle: Rounded Corners 12">
            <a:extLst>
              <a:ext uri="{FF2B5EF4-FFF2-40B4-BE49-F238E27FC236}">
                <a16:creationId xmlns:a16="http://schemas.microsoft.com/office/drawing/2014/main" id="{794B20D6-8D60-4D3D-D04F-F327BD0A9E55}"/>
              </a:ext>
            </a:extLst>
          </p:cNvPr>
          <p:cNvSpPr/>
          <p:nvPr/>
        </p:nvSpPr>
        <p:spPr bwMode="gray">
          <a:xfrm>
            <a:off x="880700" y="627982"/>
            <a:ext cx="6301112" cy="295587"/>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defPPr>
              <a:defRPr lang="pt-B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fontAlgn="base">
              <a:spcBef>
                <a:spcPct val="50000"/>
              </a:spcBef>
              <a:spcAft>
                <a:spcPct val="0"/>
              </a:spcAft>
              <a:buClr>
                <a:srgbClr val="F0AB00"/>
              </a:buClr>
              <a:buSzPct val="80000"/>
            </a:pPr>
            <a:r>
              <a:rPr lang="pt-BR" sz="3600" b="1">
                <a:solidFill>
                  <a:srgbClr val="E7640A"/>
                </a:solidFill>
                <a:latin typeface="Noto Sans Black"/>
                <a:ea typeface="Noto Sans Black" panose="020B0A02040504020204" pitchFamily="34"/>
                <a:cs typeface="Noto Sans Black" panose="020B0A02040504020204" pitchFamily="34"/>
              </a:rPr>
              <a:t>Identificação da Solicitação</a:t>
            </a:r>
          </a:p>
        </p:txBody>
      </p:sp>
      <p:sp>
        <p:nvSpPr>
          <p:cNvPr id="4" name="CaixaDeTexto 3">
            <a:extLst>
              <a:ext uri="{FF2B5EF4-FFF2-40B4-BE49-F238E27FC236}">
                <a16:creationId xmlns:a16="http://schemas.microsoft.com/office/drawing/2014/main" id="{4766679E-A2B0-5213-982B-F1C5C5F3E95D}"/>
              </a:ext>
            </a:extLst>
          </p:cNvPr>
          <p:cNvSpPr txBox="1"/>
          <p:nvPr/>
        </p:nvSpPr>
        <p:spPr>
          <a:xfrm>
            <a:off x="882287" y="1190512"/>
            <a:ext cx="6391275" cy="307777"/>
          </a:xfrm>
          <a:prstGeom prst="rect">
            <a:avLst/>
          </a:prstGeom>
          <a:noFill/>
        </p:spPr>
        <p:txBody>
          <a:bodyPr wrap="square">
            <a:spAutoFit/>
          </a:bodyPr>
          <a:lstStyle/>
          <a:p>
            <a:pPr marL="269875" indent="-269875">
              <a:spcBef>
                <a:spcPts val="600"/>
              </a:spcBef>
              <a:spcAft>
                <a:spcPts val="600"/>
              </a:spcAft>
            </a:pPr>
            <a:r>
              <a:rPr lang="pt-BR" sz="1400" b="1" cap="all">
                <a:effectLst/>
                <a:latin typeface="Noto Sans" panose="020B0502040504020204" pitchFamily="34" charset="0"/>
                <a:ea typeface="Times New Roman" panose="02020603050405020304" pitchFamily="18" charset="0"/>
                <a:cs typeface="Times New Roman" panose="02020603050405020304" pitchFamily="18" charset="0"/>
              </a:rPr>
              <a:t>Dados da solicitação</a:t>
            </a:r>
          </a:p>
        </p:txBody>
      </p:sp>
      <p:graphicFrame>
        <p:nvGraphicFramePr>
          <p:cNvPr id="5" name="Tabela 4">
            <a:extLst>
              <a:ext uri="{FF2B5EF4-FFF2-40B4-BE49-F238E27FC236}">
                <a16:creationId xmlns:a16="http://schemas.microsoft.com/office/drawing/2014/main" id="{1FD73B9E-6B32-DCE5-1EE7-FBF081EAA9CA}"/>
              </a:ext>
            </a:extLst>
          </p:cNvPr>
          <p:cNvGraphicFramePr>
            <a:graphicFrameLocks noGrp="1"/>
          </p:cNvGraphicFramePr>
          <p:nvPr>
            <p:extLst>
              <p:ext uri="{D42A27DB-BD31-4B8C-83A1-F6EECF244321}">
                <p14:modId xmlns:p14="http://schemas.microsoft.com/office/powerpoint/2010/main" val="549984646"/>
              </p:ext>
            </p:extLst>
          </p:nvPr>
        </p:nvGraphicFramePr>
        <p:xfrm>
          <a:off x="961724" y="1540008"/>
          <a:ext cx="10464928" cy="2311400"/>
        </p:xfrm>
        <a:graphic>
          <a:graphicData uri="http://schemas.openxmlformats.org/drawingml/2006/table">
            <a:tbl>
              <a:tblPr firstRow="1" bandRow="1"/>
              <a:tblGrid>
                <a:gridCol w="5232464">
                  <a:extLst>
                    <a:ext uri="{9D8B030D-6E8A-4147-A177-3AD203B41FA5}">
                      <a16:colId xmlns:a16="http://schemas.microsoft.com/office/drawing/2014/main" val="2291437601"/>
                    </a:ext>
                  </a:extLst>
                </a:gridCol>
                <a:gridCol w="5232464">
                  <a:extLst>
                    <a:ext uri="{9D8B030D-6E8A-4147-A177-3AD203B41FA5}">
                      <a16:colId xmlns:a16="http://schemas.microsoft.com/office/drawing/2014/main" val="254612692"/>
                    </a:ext>
                  </a:extLst>
                </a:gridCol>
              </a:tblGrid>
              <a:tr h="370840">
                <a:tc>
                  <a:txBody>
                    <a:bodyPr/>
                    <a:lstStyle/>
                    <a:p>
                      <a:pPr algn="ctr"/>
                      <a:r>
                        <a:rPr lang="pt-BR" sz="1200" b="1">
                          <a:solidFill>
                            <a:schemeClr val="bg1"/>
                          </a:solidFill>
                          <a:latin typeface="Noto Sans" panose="020B0502040504020204" pitchFamily="34" charset="0"/>
                          <a:ea typeface="Noto Sans" panose="020B0502040504020204" pitchFamily="34" charset="0"/>
                          <a:cs typeface="Noto Sans" panose="020B0502040504020204" pitchFamily="34" charset="0"/>
                        </a:rPr>
                        <a:t>Nome do Delta</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ID Solicitação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1890264140"/>
                  </a:ext>
                </a:extLst>
              </a:tr>
              <a:tr h="370840">
                <a:tc>
                  <a:txBody>
                    <a:bodyPr/>
                    <a:lstStyle/>
                    <a:p>
                      <a:pPr algn="ctr"/>
                      <a:r>
                        <a:rPr lang="pt-BR" sz="1200" b="0">
                          <a:latin typeface="Noto Sans" panose="020B0502040504020204" pitchFamily="34" charset="0"/>
                          <a:ea typeface="Noto Sans" panose="020B0502040504020204" pitchFamily="34" charset="0"/>
                          <a:cs typeface="Noto Sans" panose="020B0502040504020204" pitchFamily="34" charset="0"/>
                        </a:rPr>
                        <a:t>Bloqueio/Desbloqueio massivo de clientes inadimplentes para Comercialização e Material Circulante</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200" b="0">
                          <a:latin typeface="Noto Sans" panose="020B0502040504020204" pitchFamily="34" charset="0"/>
                          <a:ea typeface="Noto Sans" panose="020B0502040504020204" pitchFamily="34" charset="0"/>
                          <a:cs typeface="Noto Sans" panose="020B0502040504020204" pitchFamily="34" charset="0"/>
                        </a:rPr>
                        <a:t>DEL-R2R-009</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108097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Solicitante</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Área de Negócio </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3497759649"/>
                  </a:ext>
                </a:extLst>
              </a:tr>
              <a:tr h="370840">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Josemar Carrano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0"/>
                      </a:schemeClr>
                    </a:solidFill>
                  </a:tcPr>
                </a:tc>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FI-AR – Contas a Receber / Crédito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0"/>
                      </a:schemeClr>
                    </a:solidFill>
                  </a:tcPr>
                </a:tc>
                <a:extLst>
                  <a:ext uri="{0D108BD9-81ED-4DB2-BD59-A6C34878D82A}">
                    <a16:rowId xmlns:a16="http://schemas.microsoft.com/office/drawing/2014/main" val="2580486268"/>
                  </a:ext>
                </a:extLst>
              </a:tr>
              <a:tr h="370840">
                <a:tc>
                  <a:txBody>
                    <a:bodyPr/>
                    <a:lstStyle/>
                    <a:p>
                      <a:pPr algn="ctr"/>
                      <a:r>
                        <a:rPr lang="pt-BR" sz="1200" b="1">
                          <a:solidFill>
                            <a:schemeClr val="bg1"/>
                          </a:solidFill>
                          <a:latin typeface="Noto Sans" panose="020B0502040504020204" pitchFamily="34" charset="0"/>
                          <a:ea typeface="Noto Sans" panose="020B0502040504020204" pitchFamily="34" charset="0"/>
                          <a:cs typeface="Noto Sans" panose="020B0502040504020204" pitchFamily="34" charset="0"/>
                        </a:rPr>
                        <a:t>Gerente de Projeto Insi</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do consultor</a:t>
                      </a:r>
                    </a:p>
                  </a:txBody>
                  <a:tcPr marL="89535" marR="89535" marT="0" marB="0"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4251557700"/>
                  </a:ext>
                </a:extLst>
              </a:tr>
              <a:tr h="370840">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Glaucia Nogueira Tomé</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Maycon Nogueira</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9783130"/>
                  </a:ext>
                </a:extLst>
              </a:tr>
            </a:tbl>
          </a:graphicData>
        </a:graphic>
      </p:graphicFrame>
      <p:graphicFrame>
        <p:nvGraphicFramePr>
          <p:cNvPr id="7" name="Tabela 6">
            <a:extLst>
              <a:ext uri="{FF2B5EF4-FFF2-40B4-BE49-F238E27FC236}">
                <a16:creationId xmlns:a16="http://schemas.microsoft.com/office/drawing/2014/main" id="{DFA94F95-8ED9-48F7-8E64-E11DBE790D76}"/>
              </a:ext>
            </a:extLst>
          </p:cNvPr>
          <p:cNvGraphicFramePr>
            <a:graphicFrameLocks noGrp="1"/>
          </p:cNvGraphicFramePr>
          <p:nvPr>
            <p:extLst>
              <p:ext uri="{D42A27DB-BD31-4B8C-83A1-F6EECF244321}">
                <p14:modId xmlns:p14="http://schemas.microsoft.com/office/powerpoint/2010/main" val="1195717172"/>
              </p:ext>
            </p:extLst>
          </p:nvPr>
        </p:nvGraphicFramePr>
        <p:xfrm>
          <a:off x="961724" y="4492168"/>
          <a:ext cx="10464927" cy="926673"/>
        </p:xfrm>
        <a:graphic>
          <a:graphicData uri="http://schemas.openxmlformats.org/drawingml/2006/table">
            <a:tbl>
              <a:tblPr firstRow="1" firstCol="1" bandRow="1"/>
              <a:tblGrid>
                <a:gridCol w="1409406">
                  <a:extLst>
                    <a:ext uri="{9D8B030D-6E8A-4147-A177-3AD203B41FA5}">
                      <a16:colId xmlns:a16="http://schemas.microsoft.com/office/drawing/2014/main" val="3912243572"/>
                    </a:ext>
                  </a:extLst>
                </a:gridCol>
                <a:gridCol w="1991841">
                  <a:extLst>
                    <a:ext uri="{9D8B030D-6E8A-4147-A177-3AD203B41FA5}">
                      <a16:colId xmlns:a16="http://schemas.microsoft.com/office/drawing/2014/main" val="3391267008"/>
                    </a:ext>
                  </a:extLst>
                </a:gridCol>
                <a:gridCol w="3771718">
                  <a:extLst>
                    <a:ext uri="{9D8B030D-6E8A-4147-A177-3AD203B41FA5}">
                      <a16:colId xmlns:a16="http://schemas.microsoft.com/office/drawing/2014/main" val="2322277033"/>
                    </a:ext>
                  </a:extLst>
                </a:gridCol>
                <a:gridCol w="3291962">
                  <a:extLst>
                    <a:ext uri="{9D8B030D-6E8A-4147-A177-3AD203B41FA5}">
                      <a16:colId xmlns:a16="http://schemas.microsoft.com/office/drawing/2014/main" val="2773209473"/>
                    </a:ext>
                  </a:extLst>
                </a:gridCol>
              </a:tblGrid>
              <a:tr h="306801">
                <a:tc>
                  <a:txBody>
                    <a:bodyPr/>
                    <a:lstStyle/>
                    <a:p>
                      <a:pPr marL="0" indent="0" algn="ctr" defTabSz="914400" rtl="0" eaLnBrk="1" latinLnBrk="0" hangingPunct="1"/>
                      <a:r>
                        <a:rPr lang="pt-BR" sz="1100" b="1" i="0" kern="1200">
                          <a:solidFill>
                            <a:schemeClr val="bg1"/>
                          </a:solidFill>
                          <a:effectLst/>
                          <a:latin typeface="Calibri"/>
                          <a:cs typeface="Calibri"/>
                        </a:rPr>
                        <a:t>VERSÃO</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0" indent="0" algn="ctr" defTabSz="914400" rtl="0" eaLnBrk="1" latinLnBrk="0" hangingPunct="1"/>
                      <a:r>
                        <a:rPr lang="pt-BR" sz="1100" b="1" i="0" kern="1200">
                          <a:solidFill>
                            <a:schemeClr val="bg1"/>
                          </a:solidFill>
                          <a:effectLst/>
                          <a:latin typeface="Calibri"/>
                          <a:cs typeface="Calibri"/>
                        </a:rPr>
                        <a:t>DATA</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180975" indent="0" algn="ctr" defTabSz="914400" rtl="0" eaLnBrk="1" latinLnBrk="0" hangingPunct="1"/>
                      <a:r>
                        <a:rPr lang="pt-BR" sz="1100" b="1" i="0" kern="1200">
                          <a:solidFill>
                            <a:schemeClr val="bg1"/>
                          </a:solidFill>
                          <a:effectLst/>
                          <a:latin typeface="Calibri"/>
                          <a:cs typeface="Calibri"/>
                        </a:rPr>
                        <a:t>DESCRIÇÃO</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180975" indent="0" algn="ctr" defTabSz="914400" rtl="0" eaLnBrk="1" latinLnBrk="0" hangingPunct="1"/>
                      <a:r>
                        <a:rPr lang="pt-BR" sz="1100" b="1" i="0" kern="1200">
                          <a:solidFill>
                            <a:schemeClr val="bg1"/>
                          </a:solidFill>
                          <a:effectLst/>
                          <a:latin typeface="Calibri"/>
                          <a:cs typeface="Calibri"/>
                        </a:rPr>
                        <a:t>MODIFICADO POR</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extLst>
                  <a:ext uri="{0D108BD9-81ED-4DB2-BD59-A6C34878D82A}">
                    <a16:rowId xmlns:a16="http://schemas.microsoft.com/office/drawing/2014/main" val="2169851527"/>
                  </a:ext>
                </a:extLst>
              </a:tr>
              <a:tr h="308722">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1.0</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05/10/2026</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Criação do documento</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err="1">
                          <a:latin typeface="Noto Sans" panose="020B0502040504020204" pitchFamily="34" charset="0"/>
                          <a:ea typeface="Noto Sans" panose="020B0502040504020204" pitchFamily="34" charset="0"/>
                          <a:cs typeface="Noto Sans" panose="020B0502040504020204" pitchFamily="34" charset="0"/>
                        </a:rPr>
                        <a:t>Maycon</a:t>
                      </a:r>
                      <a:r>
                        <a:rPr lang="pt-BR" sz="900">
                          <a:latin typeface="Noto Sans" panose="020B0502040504020204" pitchFamily="34" charset="0"/>
                          <a:ea typeface="Noto Sans" panose="020B0502040504020204" pitchFamily="34" charset="0"/>
                          <a:cs typeface="Noto Sans" panose="020B0502040504020204" pitchFamily="34" charset="0"/>
                        </a:rPr>
                        <a:t> Nogueira</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extLst>
                  <a:ext uri="{0D108BD9-81ED-4DB2-BD59-A6C34878D82A}">
                    <a16:rowId xmlns:a16="http://schemas.microsoft.com/office/drawing/2014/main" val="2140469759"/>
                  </a:ext>
                </a:extLst>
              </a:tr>
              <a:tr h="306801">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1.0</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05/10/2026</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Criação do documento</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Lívia Barcelos</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extLst>
                  <a:ext uri="{0D108BD9-81ED-4DB2-BD59-A6C34878D82A}">
                    <a16:rowId xmlns:a16="http://schemas.microsoft.com/office/drawing/2014/main" val="1817754275"/>
                  </a:ext>
                </a:extLst>
              </a:tr>
            </a:tbl>
          </a:graphicData>
        </a:graphic>
      </p:graphicFrame>
      <p:sp>
        <p:nvSpPr>
          <p:cNvPr id="8" name="Rectangle 1">
            <a:extLst>
              <a:ext uri="{FF2B5EF4-FFF2-40B4-BE49-F238E27FC236}">
                <a16:creationId xmlns:a16="http://schemas.microsoft.com/office/drawing/2014/main" id="{97F5DF93-B944-40EF-93BF-94BD44A1615B}"/>
              </a:ext>
            </a:extLst>
          </p:cNvPr>
          <p:cNvSpPr>
            <a:spLocks noChangeArrowheads="1"/>
          </p:cNvSpPr>
          <p:nvPr/>
        </p:nvSpPr>
        <p:spPr bwMode="auto">
          <a:xfrm>
            <a:off x="880700" y="4038729"/>
            <a:ext cx="28905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400" b="1" i="0" u="none" strike="noStrike" cap="none" normalizeH="0" baseline="0">
                <a:ln>
                  <a:noFill/>
                </a:ln>
                <a:effectLst/>
                <a:latin typeface="Noto Sans" panose="020B0502040504020204" pitchFamily="34" charset="0"/>
                <a:ea typeface="Times New Roman" panose="02020603050405020304" pitchFamily="18" charset="0"/>
                <a:cs typeface="Noto Sans" panose="020B0502040504020204" pitchFamily="34" charset="0"/>
              </a:rPr>
              <a:t>HISTÓRICO DE MODIFICAÇÕES</a:t>
            </a:r>
            <a:endParaRPr kumimoji="0" lang="pt-BR" altLang="pt-BR" sz="1200" b="0" i="0" u="none" strike="noStrike" cap="none" normalizeH="0" baseline="0">
              <a:ln>
                <a:noFill/>
              </a:ln>
              <a:effectLst/>
            </a:endParaRPr>
          </a:p>
        </p:txBody>
      </p:sp>
    </p:spTree>
    <p:extLst>
      <p:ext uri="{BB962C8B-B14F-4D97-AF65-F5344CB8AC3E}">
        <p14:creationId xmlns:p14="http://schemas.microsoft.com/office/powerpoint/2010/main" val="200450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F4E2-2721-67C9-71CD-A3081F148833}"/>
            </a:ext>
          </a:extLst>
        </p:cNvPr>
        <p:cNvGrpSpPr/>
        <p:nvPr/>
      </p:nvGrpSpPr>
      <p:grpSpPr>
        <a:xfrm>
          <a:off x="0" y="0"/>
          <a:ext cx="0" cy="0"/>
          <a:chOff x="0" y="0"/>
          <a:chExt cx="0" cy="0"/>
        </a:xfrm>
      </p:grpSpPr>
      <p:sp>
        <p:nvSpPr>
          <p:cNvPr id="33" name="Rectangle: Rounded Corners 12">
            <a:extLst>
              <a:ext uri="{FF2B5EF4-FFF2-40B4-BE49-F238E27FC236}">
                <a16:creationId xmlns:a16="http://schemas.microsoft.com/office/drawing/2014/main" id="{4019A008-AB0D-BA58-4F91-A668EC02F311}"/>
              </a:ext>
            </a:extLst>
          </p:cNvPr>
          <p:cNvSpPr/>
          <p:nvPr/>
        </p:nvSpPr>
        <p:spPr bwMode="gray">
          <a:xfrm>
            <a:off x="880700" y="627982"/>
            <a:ext cx="6301112" cy="295587"/>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defPPr>
              <a:defRPr lang="pt-B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fontAlgn="base">
              <a:spcBef>
                <a:spcPct val="50000"/>
              </a:spcBef>
              <a:spcAft>
                <a:spcPct val="0"/>
              </a:spcAft>
              <a:buClr>
                <a:srgbClr val="F0AB00"/>
              </a:buClr>
              <a:buSzPct val="80000"/>
            </a:pPr>
            <a:r>
              <a:rPr lang="pt-BR" sz="3600" b="1">
                <a:solidFill>
                  <a:srgbClr val="E7640A"/>
                </a:solidFill>
                <a:latin typeface="Noto Sans Black"/>
                <a:ea typeface="Noto Sans Black" panose="020B0A02040504020204" pitchFamily="34"/>
                <a:cs typeface="Noto Sans Black" panose="020B0A02040504020204" pitchFamily="34"/>
              </a:rPr>
              <a:t>Identificação da Solicitação</a:t>
            </a:r>
          </a:p>
        </p:txBody>
      </p:sp>
      <p:sp>
        <p:nvSpPr>
          <p:cNvPr id="10" name="Retângulo 9">
            <a:extLst>
              <a:ext uri="{FF2B5EF4-FFF2-40B4-BE49-F238E27FC236}">
                <a16:creationId xmlns:a16="http://schemas.microsoft.com/office/drawing/2014/main" id="{B3CAA34C-6F34-DE55-BCB6-F550699F9833}"/>
              </a:ext>
            </a:extLst>
          </p:cNvPr>
          <p:cNvSpPr/>
          <p:nvPr/>
        </p:nvSpPr>
        <p:spPr>
          <a:xfrm>
            <a:off x="530435" y="1447603"/>
            <a:ext cx="11133741" cy="4484846"/>
          </a:xfrm>
          <a:prstGeom prst="rect">
            <a:avLst/>
          </a:prstGeom>
          <a:solidFill>
            <a:schemeClr val="bg1">
              <a:lumMod val="9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i="0" u="none" strike="noStrike">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Requerimentos dependentes</a:t>
            </a:r>
            <a:endParaRPr lang="pt-BR" sz="160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1" name="Tabela 10">
            <a:extLst>
              <a:ext uri="{FF2B5EF4-FFF2-40B4-BE49-F238E27FC236}">
                <a16:creationId xmlns:a16="http://schemas.microsoft.com/office/drawing/2014/main" id="{75B5C90D-3BE9-8184-767E-59A0C1A97035}"/>
              </a:ext>
            </a:extLst>
          </p:cNvPr>
          <p:cNvGraphicFramePr>
            <a:graphicFrameLocks noGrp="1"/>
          </p:cNvGraphicFramePr>
          <p:nvPr>
            <p:extLst>
              <p:ext uri="{D42A27DB-BD31-4B8C-83A1-F6EECF244321}">
                <p14:modId xmlns:p14="http://schemas.microsoft.com/office/powerpoint/2010/main" val="1136327993"/>
              </p:ext>
            </p:extLst>
          </p:nvPr>
        </p:nvGraphicFramePr>
        <p:xfrm>
          <a:off x="695027" y="1866878"/>
          <a:ext cx="10717231" cy="3479762"/>
        </p:xfrm>
        <a:graphic>
          <a:graphicData uri="http://schemas.openxmlformats.org/drawingml/2006/table">
            <a:tbl>
              <a:tblPr/>
              <a:tblGrid>
                <a:gridCol w="4523744">
                  <a:extLst>
                    <a:ext uri="{9D8B030D-6E8A-4147-A177-3AD203B41FA5}">
                      <a16:colId xmlns:a16="http://schemas.microsoft.com/office/drawing/2014/main" val="567821334"/>
                    </a:ext>
                  </a:extLst>
                </a:gridCol>
                <a:gridCol w="6193487">
                  <a:extLst>
                    <a:ext uri="{9D8B030D-6E8A-4147-A177-3AD203B41FA5}">
                      <a16:colId xmlns:a16="http://schemas.microsoft.com/office/drawing/2014/main" val="2206586196"/>
                    </a:ext>
                  </a:extLst>
                </a:gridCol>
              </a:tblGrid>
              <a:tr h="462242">
                <a:tc>
                  <a:txBody>
                    <a:bodyPr/>
                    <a:lstStyle/>
                    <a:p>
                      <a:pPr marL="457200" lvl="1" indent="-365125" algn="l" fontAlgn="ctr"/>
                      <a:r>
                        <a:rPr lang="pt-BR" sz="1600" b="1" i="0" u="none" strike="noStrike">
                          <a:solidFill>
                            <a:schemeClr val="bg1"/>
                          </a:solidFill>
                          <a:effectLst/>
                          <a:latin typeface="Noto Sans" panose="020B0502040504020204" pitchFamily="34" charset="0"/>
                          <a:ea typeface="Noto Sans" panose="020B0502040504020204" pitchFamily="34" charset="0"/>
                          <a:cs typeface="Noto Sans" panose="020B0502040504020204" pitchFamily="34" charset="0"/>
                        </a:rPr>
                        <a:t>ID Delta</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7640A"/>
                    </a:solidFill>
                  </a:tcPr>
                </a:tc>
                <a:tc>
                  <a:txBody>
                    <a:bodyPr/>
                    <a:lstStyle/>
                    <a:p>
                      <a:pPr marL="457200" lvl="1" indent="-365125" algn="l" fontAlgn="ctr"/>
                      <a:r>
                        <a:rPr lang="pt-BR" sz="1600" b="1" i="0" u="none" strike="noStrike">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do requerimento e/ou Relacionados</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7640A"/>
                    </a:solidFill>
                  </a:tcPr>
                </a:tc>
                <a:extLst>
                  <a:ext uri="{0D108BD9-81ED-4DB2-BD59-A6C34878D82A}">
                    <a16:rowId xmlns:a16="http://schemas.microsoft.com/office/drawing/2014/main" val="3421210243"/>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baseline="0">
                          <a:solidFill>
                            <a:srgbClr val="000000"/>
                          </a:solidFill>
                          <a:effectLst/>
                          <a:latin typeface="+mn-lt"/>
                        </a:rPr>
                        <a:t>DEL-COM-051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baseline="0">
                          <a:solidFill>
                            <a:srgbClr val="000000"/>
                          </a:solidFill>
                          <a:effectLst/>
                          <a:latin typeface="+mn-lt"/>
                        </a:rPr>
                        <a:t>Bloqueio Financeiro de Cliente – MC e Comercialização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36842437"/>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DEL-R2R-011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Compensação Automática a cada 30 min gerando ou não residual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0178384"/>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a:solidFill>
                            <a:srgbClr val="000000"/>
                          </a:solidFill>
                          <a:effectLst/>
                          <a:latin typeface="+mn-lt"/>
                        </a:rPr>
                        <a:t>DEL-COM-064</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a:solidFill>
                            <a:srgbClr val="000000"/>
                          </a:solidFill>
                          <a:effectLst/>
                          <a:latin typeface="+mn-lt"/>
                        </a:rPr>
                        <a:t>APP para upload e atualização massiva de crédito Sazonal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51456258"/>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DEL-COM-059</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Carga massiva de dados de crédito ao KLOK</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31091405"/>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DEL-COM-059A</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Atualização de saldo de cliente por evento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39043191"/>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DEL-COM-168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Consulta Itens de Crédito Geral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59711537"/>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DEL-R2R-038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Carga visão de crédito BP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38776530"/>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DEL-COM-021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de Contas a Receber – MCAPP &gt; SAP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77611475"/>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DEL-COM-018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de Contas a Receber – CVD(</a:t>
                      </a:r>
                      <a:r>
                        <a:rPr lang="pt-BR" sz="1000" b="0" i="0" u="none" strike="noStrike" kern="1200" baseline="0" err="1">
                          <a:solidFill>
                            <a:srgbClr val="000000"/>
                          </a:solidFill>
                          <a:effectLst/>
                          <a:latin typeface="+mn-lt"/>
                          <a:ea typeface="+mn-ea"/>
                          <a:cs typeface="+mn-cs"/>
                        </a:rPr>
                        <a:t>Property</a:t>
                      </a:r>
                      <a:r>
                        <a:rPr lang="pt-BR" sz="1000" b="0" i="0" u="none" strike="noStrike" kern="1200" baseline="0">
                          <a:solidFill>
                            <a:srgbClr val="000000"/>
                          </a:solidFill>
                          <a:effectLst/>
                          <a:latin typeface="+mn-lt"/>
                          <a:ea typeface="+mn-ea"/>
                          <a:cs typeface="+mn-cs"/>
                        </a:rPr>
                        <a:t>) &gt; SAP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03035569"/>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DEL-COM-068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consulta de crédito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46152364"/>
                  </a:ext>
                </a:extLst>
              </a:tr>
            </a:tbl>
          </a:graphicData>
        </a:graphic>
      </p:graphicFrame>
    </p:spTree>
    <p:extLst>
      <p:ext uri="{BB962C8B-B14F-4D97-AF65-F5344CB8AC3E}">
        <p14:creationId xmlns:p14="http://schemas.microsoft.com/office/powerpoint/2010/main" val="2412831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2;p3">
            <a:extLst>
              <a:ext uri="{FF2B5EF4-FFF2-40B4-BE49-F238E27FC236}">
                <a16:creationId xmlns:a16="http://schemas.microsoft.com/office/drawing/2014/main" id="{829C0972-DFE6-94F6-7B17-347474868E58}"/>
              </a:ext>
            </a:extLst>
          </p:cNvPr>
          <p:cNvSpPr txBox="1"/>
          <p:nvPr/>
        </p:nvSpPr>
        <p:spPr>
          <a:xfrm>
            <a:off x="1475789" y="2739822"/>
            <a:ext cx="3240212"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Sumário</a:t>
            </a:r>
            <a:endParaRPr lang="pt-BR" sz="6000" b="1" u="none" strike="noStrike" cap="none">
              <a:solidFill>
                <a:srgbClr val="E7640A"/>
              </a:solidFill>
              <a:latin typeface="Noto Sans Black" panose="020B0A02040504020204" pitchFamily="34"/>
              <a:ea typeface="Noto Sans Black" panose="020B0A02040504020204" pitchFamily="34"/>
              <a:cs typeface="Noto Sans Black" panose="020B0A02040504020204" pitchFamily="34"/>
            </a:endParaRPr>
          </a:p>
        </p:txBody>
      </p:sp>
      <p:sp>
        <p:nvSpPr>
          <p:cNvPr id="3" name="Google Shape;102;p3">
            <a:extLst>
              <a:ext uri="{FF2B5EF4-FFF2-40B4-BE49-F238E27FC236}">
                <a16:creationId xmlns:a16="http://schemas.microsoft.com/office/drawing/2014/main" id="{55663B6B-31FD-A5C0-90DB-4DA60B43EB13}"/>
              </a:ext>
            </a:extLst>
          </p:cNvPr>
          <p:cNvSpPr txBox="1"/>
          <p:nvPr/>
        </p:nvSpPr>
        <p:spPr>
          <a:xfrm>
            <a:off x="5247534" y="212720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02</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4" name="Google Shape;102;p3">
            <a:extLst>
              <a:ext uri="{FF2B5EF4-FFF2-40B4-BE49-F238E27FC236}">
                <a16:creationId xmlns:a16="http://schemas.microsoft.com/office/drawing/2014/main" id="{B64C1D08-DC93-542F-5CD9-E4ADF2D3318E}"/>
              </a:ext>
            </a:extLst>
          </p:cNvPr>
          <p:cNvSpPr txBox="1"/>
          <p:nvPr/>
        </p:nvSpPr>
        <p:spPr>
          <a:xfrm>
            <a:off x="5812733" y="2192613"/>
            <a:ext cx="3520649" cy="507791"/>
          </a:xfrm>
          <a:prstGeom prst="rect">
            <a:avLst/>
          </a:prstGeom>
          <a:noFill/>
          <a:ln>
            <a:noFill/>
          </a:ln>
        </p:spPr>
        <p:txBody>
          <a:bodyPr spcFirstLastPara="1" wrap="square" lIns="91425" tIns="45700" rIns="91425" bIns="45700" anchor="ctr" anchorCtr="0">
            <a:spAutoFit/>
          </a:bodyPr>
          <a:lstStyle/>
          <a:p>
            <a:pPr>
              <a:lnSpc>
                <a:spcPct val="150000"/>
              </a:lnSpc>
              <a:buSzPts val="2200"/>
            </a:pPr>
            <a:r>
              <a:rPr lang="pt-BR">
                <a:solidFill>
                  <a:srgbClr val="E7640A"/>
                </a:solidFill>
                <a:latin typeface="Noto Sans"/>
                <a:ea typeface="Noto Sans"/>
                <a:cs typeface="Noto Sans"/>
                <a:sym typeface="Noto Sans Thai"/>
              </a:rPr>
              <a:t>Estratégia da Solução</a:t>
            </a:r>
          </a:p>
        </p:txBody>
      </p:sp>
      <p:sp>
        <p:nvSpPr>
          <p:cNvPr id="5" name="Google Shape;102;p3">
            <a:extLst>
              <a:ext uri="{FF2B5EF4-FFF2-40B4-BE49-F238E27FC236}">
                <a16:creationId xmlns:a16="http://schemas.microsoft.com/office/drawing/2014/main" id="{CA2CE74A-71DC-E095-2BE4-ECC617AF684A}"/>
              </a:ext>
            </a:extLst>
          </p:cNvPr>
          <p:cNvSpPr txBox="1"/>
          <p:nvPr/>
        </p:nvSpPr>
        <p:spPr>
          <a:xfrm>
            <a:off x="5247534" y="262628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03</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6" name="Google Shape;102;p3">
            <a:extLst>
              <a:ext uri="{FF2B5EF4-FFF2-40B4-BE49-F238E27FC236}">
                <a16:creationId xmlns:a16="http://schemas.microsoft.com/office/drawing/2014/main" id="{04E94071-AF99-FEA9-494A-B61E361C0010}"/>
              </a:ext>
            </a:extLst>
          </p:cNvPr>
          <p:cNvSpPr txBox="1"/>
          <p:nvPr/>
        </p:nvSpPr>
        <p:spPr>
          <a:xfrm>
            <a:off x="5247534" y="312536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04</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8" name="Google Shape;102;p3">
            <a:extLst>
              <a:ext uri="{FF2B5EF4-FFF2-40B4-BE49-F238E27FC236}">
                <a16:creationId xmlns:a16="http://schemas.microsoft.com/office/drawing/2014/main" id="{2941772D-EFE6-E313-3906-75C1FAB0D7B7}"/>
              </a:ext>
            </a:extLst>
          </p:cNvPr>
          <p:cNvSpPr txBox="1"/>
          <p:nvPr/>
        </p:nvSpPr>
        <p:spPr>
          <a:xfrm>
            <a:off x="5247534" y="362444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05</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9" name="Google Shape;102;p3">
            <a:extLst>
              <a:ext uri="{FF2B5EF4-FFF2-40B4-BE49-F238E27FC236}">
                <a16:creationId xmlns:a16="http://schemas.microsoft.com/office/drawing/2014/main" id="{2E353176-B968-43C7-20BD-E17B52A8052C}"/>
              </a:ext>
            </a:extLst>
          </p:cNvPr>
          <p:cNvSpPr txBox="1"/>
          <p:nvPr/>
        </p:nvSpPr>
        <p:spPr>
          <a:xfrm>
            <a:off x="5812730" y="2699379"/>
            <a:ext cx="5010907" cy="507791"/>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a:solidFill>
                  <a:srgbClr val="E7640A"/>
                </a:solidFill>
                <a:latin typeface="Noto Sans"/>
                <a:ea typeface="Noto Sans"/>
                <a:cs typeface="Noto Sans"/>
                <a:sym typeface="Noto Sans Thai"/>
              </a:rPr>
              <a:t>Detalhamento para Desenvolvimento</a:t>
            </a:r>
          </a:p>
        </p:txBody>
      </p:sp>
      <p:sp>
        <p:nvSpPr>
          <p:cNvPr id="10" name="Google Shape;102;p3">
            <a:extLst>
              <a:ext uri="{FF2B5EF4-FFF2-40B4-BE49-F238E27FC236}">
                <a16:creationId xmlns:a16="http://schemas.microsoft.com/office/drawing/2014/main" id="{7B129CDA-766E-AA87-D5B2-C73063F7435B}"/>
              </a:ext>
            </a:extLst>
          </p:cNvPr>
          <p:cNvSpPr txBox="1"/>
          <p:nvPr/>
        </p:nvSpPr>
        <p:spPr>
          <a:xfrm>
            <a:off x="5812732" y="3194616"/>
            <a:ext cx="3731520" cy="507791"/>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a:solidFill>
                  <a:srgbClr val="E7640A"/>
                </a:solidFill>
                <a:latin typeface="Noto Sans"/>
                <a:ea typeface="Noto Sans"/>
                <a:cs typeface="Noto Sans"/>
                <a:sym typeface="Noto Sans Thai"/>
              </a:rPr>
              <a:t>Governança Técnica da Solução</a:t>
            </a:r>
          </a:p>
        </p:txBody>
      </p:sp>
      <p:sp>
        <p:nvSpPr>
          <p:cNvPr id="12" name="Google Shape;102;p3">
            <a:extLst>
              <a:ext uri="{FF2B5EF4-FFF2-40B4-BE49-F238E27FC236}">
                <a16:creationId xmlns:a16="http://schemas.microsoft.com/office/drawing/2014/main" id="{C7B0DE95-AC24-289B-3020-1AD12A6323DF}"/>
              </a:ext>
            </a:extLst>
          </p:cNvPr>
          <p:cNvSpPr txBox="1"/>
          <p:nvPr/>
        </p:nvSpPr>
        <p:spPr>
          <a:xfrm>
            <a:off x="5812733" y="3689853"/>
            <a:ext cx="5443982" cy="507791"/>
          </a:xfrm>
          <a:prstGeom prst="rect">
            <a:avLst/>
          </a:prstGeom>
          <a:noFill/>
          <a:ln>
            <a:noFill/>
          </a:ln>
        </p:spPr>
        <p:txBody>
          <a:bodyPr spcFirstLastPara="1" wrap="square" lIns="91425" tIns="45700" rIns="91425" bIns="45700" anchor="ctr" anchorCtr="0">
            <a:spAutoFit/>
          </a:bodyPr>
          <a:lstStyle/>
          <a:p>
            <a:pPr>
              <a:lnSpc>
                <a:spcPct val="150000"/>
              </a:lnSpc>
              <a:buSzPts val="2200"/>
            </a:pPr>
            <a:r>
              <a:rPr lang="pt-BR">
                <a:solidFill>
                  <a:srgbClr val="E7640A"/>
                </a:solidFill>
                <a:latin typeface="Noto Sans"/>
                <a:ea typeface="Noto Sans"/>
                <a:cs typeface="Noto Sans"/>
                <a:sym typeface="Noto Sans Thai"/>
              </a:rPr>
              <a:t>Termo de Aceite</a:t>
            </a:r>
          </a:p>
        </p:txBody>
      </p:sp>
      <p:sp>
        <p:nvSpPr>
          <p:cNvPr id="13" name="Google Shape;102;p3">
            <a:extLst>
              <a:ext uri="{FF2B5EF4-FFF2-40B4-BE49-F238E27FC236}">
                <a16:creationId xmlns:a16="http://schemas.microsoft.com/office/drawing/2014/main" id="{8B62EFC1-078E-13C0-25A4-0023A799AFD3}"/>
              </a:ext>
            </a:extLst>
          </p:cNvPr>
          <p:cNvSpPr txBox="1"/>
          <p:nvPr/>
        </p:nvSpPr>
        <p:spPr>
          <a:xfrm>
            <a:off x="5247534" y="162812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01</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14" name="Google Shape;102;p3">
            <a:extLst>
              <a:ext uri="{FF2B5EF4-FFF2-40B4-BE49-F238E27FC236}">
                <a16:creationId xmlns:a16="http://schemas.microsoft.com/office/drawing/2014/main" id="{B3E57F28-7445-D859-20AC-19988CBB52A8}"/>
              </a:ext>
            </a:extLst>
          </p:cNvPr>
          <p:cNvSpPr txBox="1"/>
          <p:nvPr/>
        </p:nvSpPr>
        <p:spPr>
          <a:xfrm>
            <a:off x="5812730" y="1808937"/>
            <a:ext cx="4903481" cy="369291"/>
          </a:xfrm>
          <a:prstGeom prst="rect">
            <a:avLst/>
          </a:prstGeom>
          <a:noFill/>
          <a:ln>
            <a:noFill/>
          </a:ln>
        </p:spPr>
        <p:txBody>
          <a:bodyPr spcFirstLastPara="1" wrap="square" lIns="91425" tIns="45700" rIns="91425" bIns="45700" anchor="ctr" anchorCtr="0">
            <a:spAutoFit/>
          </a:bodyPr>
          <a:lstStyle/>
          <a:p>
            <a:r>
              <a:rPr lang="pt-BR">
                <a:solidFill>
                  <a:srgbClr val="E7640A"/>
                </a:solidFill>
                <a:latin typeface="Noto Sans"/>
                <a:ea typeface="Noto Sans"/>
                <a:cs typeface="Noto Sans"/>
              </a:rPr>
              <a:t>Contexto Atual e Cenário Organizacional</a:t>
            </a:r>
          </a:p>
        </p:txBody>
      </p:sp>
    </p:spTree>
    <p:extLst>
      <p:ext uri="{BB962C8B-B14F-4D97-AF65-F5344CB8AC3E}">
        <p14:creationId xmlns:p14="http://schemas.microsoft.com/office/powerpoint/2010/main" val="60788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23D3-4917-01B4-F83B-3703A1421CD3}"/>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37BCAFB8-5A3C-0BED-2B67-4B0750E749DA}"/>
              </a:ext>
            </a:extLst>
          </p:cNvPr>
          <p:cNvSpPr txBox="1"/>
          <p:nvPr/>
        </p:nvSpPr>
        <p:spPr>
          <a:xfrm>
            <a:off x="1540534" y="2459524"/>
            <a:ext cx="9110931"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Contexto Atual e </a:t>
            </a:r>
          </a:p>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Cenário Organizacional</a:t>
            </a:r>
          </a:p>
        </p:txBody>
      </p:sp>
    </p:spTree>
    <p:extLst>
      <p:ext uri="{BB962C8B-B14F-4D97-AF65-F5344CB8AC3E}">
        <p14:creationId xmlns:p14="http://schemas.microsoft.com/office/powerpoint/2010/main" val="65155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876B313E-5B4E-6EEC-85BA-CF608676668D}"/>
              </a:ext>
            </a:extLst>
          </p:cNvPr>
          <p:cNvSpPr txBox="1">
            <a:spLocks/>
          </p:cNvSpPr>
          <p:nvPr/>
        </p:nvSpPr>
        <p:spPr>
          <a:xfrm>
            <a:off x="869151" y="579020"/>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Visão Geral do Negócio</a:t>
            </a:r>
            <a:br>
              <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rPr>
            </a:b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Contexto Atual e Cenário Organizacional</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C8A1123C-D23B-5077-7A50-569B3413246D}"/>
              </a:ext>
            </a:extLst>
          </p:cNvPr>
          <p:cNvSpPr txBox="1"/>
          <p:nvPr/>
        </p:nvSpPr>
        <p:spPr>
          <a:xfrm>
            <a:off x="455131" y="1627632"/>
            <a:ext cx="10453698" cy="370866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600"/>
              </a:spcAft>
            </a:pPr>
            <a:r>
              <a:rPr lang="pt-BR" sz="1400">
                <a:solidFill>
                  <a:schemeClr val="tx1"/>
                </a:solidFill>
                <a:effectLst/>
                <a:latin typeface="Noto Sans"/>
                <a:cs typeface="Noto Sans"/>
              </a:rPr>
              <a:t>O </a:t>
            </a:r>
            <a:r>
              <a:rPr lang="pt-BR" sz="1400" err="1">
                <a:solidFill>
                  <a:schemeClr val="tx1"/>
                </a:solidFill>
                <a:effectLst/>
                <a:latin typeface="Noto Sans"/>
                <a:cs typeface="Noto Sans"/>
              </a:rPr>
              <a:t>Veiling</a:t>
            </a:r>
            <a:r>
              <a:rPr lang="pt-BR" sz="1400">
                <a:solidFill>
                  <a:schemeClr val="tx1"/>
                </a:solidFill>
                <a:effectLst/>
                <a:latin typeface="Noto Sans"/>
                <a:cs typeface="Noto Sans"/>
              </a:rPr>
              <a:t> comercializa flores e plantas para uma ampla carteira de clientes, que compram pelo leilão KLOK, pelos canais de intermediação e </a:t>
            </a:r>
            <a:r>
              <a:rPr lang="pt-BR" sz="1400">
                <a:solidFill>
                  <a:schemeClr val="tx1"/>
                </a:solidFill>
                <a:latin typeface="Noto Sans"/>
                <a:cs typeface="Noto Sans"/>
              </a:rPr>
              <a:t>plataformas online</a:t>
            </a:r>
            <a:r>
              <a:rPr lang="pt-BR" sz="1400">
                <a:solidFill>
                  <a:schemeClr val="tx1"/>
                </a:solidFill>
                <a:effectLst/>
                <a:latin typeface="Noto Sans"/>
                <a:cs typeface="Noto Sans"/>
              </a:rPr>
              <a:t>, além de alugarem Material Circulante (carrinhos</a:t>
            </a:r>
            <a:r>
              <a:rPr lang="pt-BR" sz="1400">
                <a:solidFill>
                  <a:schemeClr val="tx1"/>
                </a:solidFill>
                <a:latin typeface="Noto Sans"/>
                <a:cs typeface="Noto Sans"/>
              </a:rPr>
              <a:t> e</a:t>
            </a:r>
            <a:r>
              <a:rPr lang="pt-BR" sz="1400">
                <a:solidFill>
                  <a:schemeClr val="tx1"/>
                </a:solidFill>
                <a:effectLst/>
                <a:latin typeface="Noto Sans"/>
                <a:cs typeface="Noto Sans"/>
              </a:rPr>
              <a:t> divisórias). Parte desses clientes compra à vista, mediante antecipação financeira, e parte compra a prazo, dentro de um limite de crédito concedido pela cooperativa.</a:t>
            </a:r>
          </a:p>
          <a:p>
            <a:pPr algn="just">
              <a:spcAft>
                <a:spcPts val="600"/>
              </a:spcAft>
            </a:pPr>
            <a:r>
              <a:rPr lang="pt-BR" sz="1400">
                <a:solidFill>
                  <a:schemeClr val="tx1"/>
                </a:solidFill>
                <a:effectLst/>
                <a:latin typeface="Noto Sans"/>
                <a:cs typeface="Noto Sans"/>
              </a:rPr>
              <a:t>Para evitar novas vendas a clientes com pendências financeiras, o </a:t>
            </a:r>
            <a:r>
              <a:rPr lang="pt-BR" sz="1400" err="1">
                <a:solidFill>
                  <a:schemeClr val="tx1"/>
                </a:solidFill>
                <a:effectLst/>
                <a:latin typeface="Noto Sans"/>
                <a:cs typeface="Noto Sans"/>
              </a:rPr>
              <a:t>Veiling</a:t>
            </a:r>
            <a:r>
              <a:rPr lang="pt-BR" sz="1400">
                <a:solidFill>
                  <a:schemeClr val="tx1"/>
                </a:solidFill>
                <a:effectLst/>
                <a:latin typeface="Noto Sans"/>
                <a:cs typeface="Noto Sans"/>
              </a:rPr>
              <a:t> mantém hoje, no sistema legado CVD, uma tela customizada que identifica os clientes inadimplentes, permite o bloqueio e o desbloqueio em massa e oferece a opção “Desbloquear Clientes Regularizados e/ou Reverter </a:t>
            </a:r>
            <a:r>
              <a:rPr lang="pt-BR" sz="1400">
                <a:solidFill>
                  <a:schemeClr val="tx1"/>
                </a:solidFill>
                <a:latin typeface="Noto Sans"/>
                <a:cs typeface="Noto Sans"/>
              </a:rPr>
              <a:t>valores liberados provisoriamente</a:t>
            </a:r>
            <a:r>
              <a:rPr lang="pt-BR" sz="1400">
                <a:solidFill>
                  <a:schemeClr val="tx1"/>
                </a:solidFill>
                <a:effectLst/>
                <a:latin typeface="Noto Sans"/>
                <a:cs typeface="Noto Sans"/>
              </a:rPr>
              <a:t>”.</a:t>
            </a:r>
          </a:p>
          <a:p>
            <a:pPr algn="just">
              <a:spcAft>
                <a:spcPts val="6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Conforme o BPDD de Contas a Receber (capítulo 3.8.11 – Bloqueio e Desbloqueio de inadimplentes), as regras de bloqueio são:</a:t>
            </a: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a:cs typeface="Noto Sans"/>
              </a:rPr>
              <a:t>Clientes à vista</a:t>
            </a:r>
            <a:r>
              <a:rPr lang="pt-BR" sz="1400">
                <a:solidFill>
                  <a:schemeClr val="tx1"/>
                </a:solidFill>
                <a:effectLst/>
                <a:latin typeface="Noto Sans"/>
                <a:cs typeface="Noto Sans"/>
              </a:rPr>
              <a:t> – bloqueio a partir de 1 dia de título vencido, qualquer valor</a:t>
            </a:r>
            <a:r>
              <a:rPr lang="pt-BR" sz="1400">
                <a:solidFill>
                  <a:schemeClr val="tx1"/>
                </a:solidFill>
                <a:latin typeface="Noto Sans"/>
                <a:cs typeface="Noto Sans"/>
              </a:rPr>
              <a:t>.</a:t>
            </a:r>
            <a:endParaRPr lang="pt-BR" sz="1400">
              <a:solidFill>
                <a:schemeClr val="tx1"/>
              </a:solidFill>
              <a:effectLst/>
              <a:latin typeface="Noto Sans"/>
              <a:cs typeface="Noto Sans"/>
            </a:endParaRP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a:cs typeface="Noto Sans"/>
              </a:rPr>
              <a:t>Clientes a prazo</a:t>
            </a:r>
            <a:r>
              <a:rPr lang="pt-BR" sz="1400">
                <a:solidFill>
                  <a:schemeClr val="tx1"/>
                </a:solidFill>
                <a:effectLst/>
                <a:latin typeface="Noto Sans"/>
                <a:cs typeface="Noto Sans"/>
              </a:rPr>
              <a:t> – bloqueio a partir de R$ 500,01 e 1 dia de título vencido (existem clientes que não devem ser bloqueados, como por exemplo, supermercados).</a:t>
            </a:r>
          </a:p>
          <a:p>
            <a:pPr algn="just">
              <a:spcAft>
                <a:spcPts val="600"/>
              </a:spcAft>
            </a:pPr>
            <a:r>
              <a:rPr lang="pt-BR" sz="1400">
                <a:solidFill>
                  <a:srgbClr val="000000"/>
                </a:solidFill>
                <a:latin typeface="Noto Sans"/>
                <a:cs typeface="Noto Sans"/>
              </a:rPr>
              <a:t>Para execução do </a:t>
            </a:r>
            <a:r>
              <a:rPr lang="pt-BR" sz="1400">
                <a:solidFill>
                  <a:srgbClr val="000000"/>
                </a:solidFill>
                <a:effectLst/>
                <a:latin typeface="Noto Sans"/>
                <a:cs typeface="Noto Sans"/>
              </a:rPr>
              <a:t>bloqueio e desbloqueio </a:t>
            </a:r>
            <a:r>
              <a:rPr lang="pt-BR" sz="1400">
                <a:solidFill>
                  <a:srgbClr val="000000"/>
                </a:solidFill>
                <a:latin typeface="Noto Sans"/>
                <a:cs typeface="Noto Sans"/>
              </a:rPr>
              <a:t>massivo é necessário efetuar uma análise</a:t>
            </a:r>
            <a:r>
              <a:rPr lang="pt-BR" sz="1400">
                <a:solidFill>
                  <a:schemeClr val="tx1"/>
                </a:solidFill>
                <a:effectLst/>
                <a:latin typeface="Noto Sans"/>
                <a:cs typeface="Noto Sans"/>
              </a:rPr>
              <a:t>, </a:t>
            </a:r>
            <a:r>
              <a:rPr lang="pt-BR" sz="1400">
                <a:solidFill>
                  <a:schemeClr val="tx1"/>
                </a:solidFill>
                <a:latin typeface="Noto Sans"/>
                <a:cs typeface="Noto Sans"/>
              </a:rPr>
              <a:t>feita</a:t>
            </a:r>
            <a:r>
              <a:rPr lang="pt-BR" sz="1400">
                <a:solidFill>
                  <a:schemeClr val="tx1"/>
                </a:solidFill>
                <a:effectLst/>
                <a:latin typeface="Noto Sans"/>
                <a:cs typeface="Noto Sans"/>
              </a:rPr>
              <a:t> </a:t>
            </a:r>
            <a:r>
              <a:rPr lang="pt-BR" sz="1400">
                <a:solidFill>
                  <a:schemeClr val="tx1"/>
                </a:solidFill>
                <a:latin typeface="Noto Sans"/>
                <a:cs typeface="Noto Sans"/>
              </a:rPr>
              <a:t>através da </a:t>
            </a:r>
            <a:r>
              <a:rPr lang="pt-BR" sz="1400">
                <a:solidFill>
                  <a:schemeClr val="tx1"/>
                </a:solidFill>
                <a:effectLst/>
                <a:latin typeface="Noto Sans"/>
                <a:cs typeface="Noto Sans"/>
              </a:rPr>
              <a:t>seleção individual, pois existem clientes que, mesmo sem dívida, não podem ser liberados para novas compras, como nos casos de </a:t>
            </a:r>
            <a:r>
              <a:rPr lang="pt-BR" sz="1400">
                <a:solidFill>
                  <a:schemeClr val="tx1"/>
                </a:solidFill>
                <a:latin typeface="Noto Sans"/>
                <a:cs typeface="Noto Sans"/>
              </a:rPr>
              <a:t>irregularidades</a:t>
            </a:r>
            <a:r>
              <a:rPr lang="pt-BR" sz="1400">
                <a:solidFill>
                  <a:schemeClr val="tx1"/>
                </a:solidFill>
                <a:effectLst/>
                <a:latin typeface="Noto Sans"/>
                <a:cs typeface="Noto Sans"/>
              </a:rPr>
              <a:t> fiscais.</a:t>
            </a:r>
            <a:endParaRPr lang="pt-BR">
              <a:solidFill>
                <a:schemeClr val="tx1"/>
              </a:solidFill>
            </a:endParaRPr>
          </a:p>
        </p:txBody>
      </p:sp>
      <p:cxnSp>
        <p:nvCxnSpPr>
          <p:cNvPr id="6" name="Conector reto 5">
            <a:extLst>
              <a:ext uri="{FF2B5EF4-FFF2-40B4-BE49-F238E27FC236}">
                <a16:creationId xmlns:a16="http://schemas.microsoft.com/office/drawing/2014/main" id="{2C2BCB75-5283-794E-A934-B0F59017E22F}"/>
              </a:ext>
            </a:extLst>
          </p:cNvPr>
          <p:cNvCxnSpPr/>
          <p:nvPr/>
        </p:nvCxnSpPr>
        <p:spPr>
          <a:xfrm>
            <a:off x="200696" y="1508453"/>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468277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xmlns:mc="http://schemas.openxmlformats.org/markup-compatibility/2006" xmlns:m="http://schemas.openxmlformats.org/officeDocument/2006/math">
  <p:cSld>
    <p:bg>
      <p:bgPr>
        <a:blipFill>
          <a:blip r:embed="rId13"/>
          <a:stretch>
            <a:fillRect/>
          </a:stretch>
        </a:blipFill>
        <a:effectLst/>
      </p:bgPr>
    </p:bg>
    <p:spTree>
      <p:nvGrpSpPr>
        <p:cNvPr id="1" name="">
          <a:extLst>
            <a:ext uri="{FF2B5EF4-FFF2-40B4-BE49-F238E27FC236}">
              <a16:creationId xmlns:a16="http://schemas.microsoft.com/office/drawing/2014/main" id="{858CBB18-0F30-73DE-C19C-8695B944F2E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FAB2490-E40B-7315-3DAC-1454B51CEE92}"/>
              </a:ext>
            </a:extLst>
          </p:cNvPr>
          <p:cNvSpPr/>
          <p:nvPr/>
        </p:nvSpPr>
        <p:spPr>
          <a:xfrm>
            <a:off x="869151" y="534901"/>
            <a:ext cx="9958683" cy="4937520"/>
          </a:xfrm>
          <a:prstGeom prst="rect">
            <a:avLst/>
          </a:prstGeom>
          <a:noFill/>
          <a:ln w="12700">
            <a:noFill/>
          </a:ln>
        </p:spPr>
        <p:txBody>
          <a:bodyPr anchor="t" lIns="91425" tIns="45700" rIns="91425" bIns="45700">
            <a:spAutoFit/>
          </a:bodyPr>
          <a:lstStyle/>
          <a:p>
            <a:pPr marL="0">
              <a:buNone/>
            </a:pPr>
            <a:r>
              <a:rPr lang="en-US" dirty="0" sz="1600">
                <a:solidFill>
                  <a:srgbClr val="E7640A"/>
                </a:solidFill>
                <a:latin typeface="Noto Sans"/>
                <a:ea typeface="Noto Sans"/>
                <a:cs typeface="Noto Sans"/>
              </a:rPr>
              <a:t>Estratégia da Solução</a:t>
            </a:r>
          </a:p>
          <a:p>
            <a:pPr marL="0">
              <a:buNone/>
            </a:pPr>
            <a:r>
              <a:rPr lang="en-US" dirty="0" b="1" sz="3200">
                <a:solidFill>
                  <a:srgbClr val="E7640A"/>
                </a:solidFill>
                <a:latin typeface="Noto Sans"/>
                <a:ea typeface="Noto Sans"/>
                <a:cs typeface="Noto Sans"/>
              </a:rPr>
              <a:t>Proposta da Solução</a:t>
            </a:r>
          </a:p>
        </p:txBody>
      </p:sp>
      <p:sp>
        <p:nvSpPr>
          <p:cNvPr id="3" name="CaixaDeTexto 2">
            <a:extLst>
              <a:ext uri="{FF2B5EF4-FFF2-40B4-BE49-F238E27FC236}">
                <a16:creationId xmlns:a16="http://schemas.microsoft.com/office/drawing/2014/main" id="{0616C174-BCA5-EDD7-22FB-84D95CC4E1F1}"/>
              </a:ext>
            </a:extLst>
          </p:cNvPr>
          <p:cNvSpPr/>
          <p:nvPr/>
        </p:nvSpPr>
        <p:spPr>
          <a:xfrm>
            <a:off x="869151" y="1604847"/>
            <a:ext cx="10453698" cy="4493497"/>
          </a:xfrm>
          <a:prstGeom prst="rect">
            <a:avLst/>
          </a:prstGeom>
          <a:noFill/>
          <a:ln w="12700">
            <a:noFill/>
          </a:ln>
        </p:spPr>
        <p:txBody>
          <a:bodyPr anchor="t" lIns="91425" tIns="45700" rIns="91425" bIns="45700">
            <a:spAutoFit/>
          </a:bodyPr>
          <a:lstStyle/>
          <a:p>
            <a:pPr algn="just" marL="0">
              <a:spcAft>
                <a:spcPts val="600"/>
              </a:spcAft>
              <a:buNone/>
            </a:pPr>
            <a:r>
              <a:rPr lang="en-US" dirty="0" sz="1400">
                <a:solidFill>
                  <a:srgbClr val="000000"/>
                </a:solidFill>
                <a:effectLst/>
                <a:latin typeface="Noto Sans"/>
                <a:ea typeface="Noto Sans"/>
                <a:cs typeface="Noto Sans"/>
              </a:rPr>
              <a:t>A proposta de solução consiste em duas etapas: um </a:t>
            </a:r>
            <a:r>
              <a:rPr lang="en-US" dirty="0" sz="1400" err="1">
                <a:solidFill>
                  <a:srgbClr val="000000"/>
                </a:solidFill>
                <a:effectLst/>
                <a:latin typeface="Noto Sans"/>
                <a:ea typeface="Noto Sans"/>
                <a:cs typeface="Noto Sans"/>
              </a:rPr>
              <a:t>job</a:t>
            </a:r>
            <a:r>
              <a:rPr lang="en-US" dirty="0" sz="1400">
                <a:solidFill>
                  <a:srgbClr val="000000"/>
                </a:solidFill>
                <a:effectLst/>
                <a:latin typeface="Noto Sans"/>
                <a:ea typeface="Noto Sans"/>
                <a:cs typeface="Noto Sans"/>
              </a:rPr>
              <a:t> de identificação, que apura quais clientes inadimplentes devem ser bloqueados ou desbloqueados, e um aplicativo Fiori de gestão em massa, no qual o usuário seleciona vários clientes de uma só vez e efetiva o bloqueio ou o desbloqueio.</a:t>
            </a:r>
          </a:p>
          <a:p>
            <a:pPr marL="342900" indent="-342900">
              <a:spcAft>
                <a:spcPts val="300"/>
              </a:spcAft>
              <a:buFont typeface="Arial"/>
              <a:buSzPct val="100000"/>
              <a:buChar char="●"/>
            </a:pPr>
            <a:r>
              <a:rPr lang="en-US" dirty="0" b="1" sz="1400">
                <a:solidFill>
                  <a:srgbClr val="000000"/>
                </a:solidFill>
                <a:highlight>
                  <a:srgbClr val="FF0000"/>
                </a:highlight>
                <a:latin typeface="Noto Sans"/>
                <a:ea typeface="Noto Sans"/>
                <a:cs typeface="Noto Sans"/>
              </a:rPr>
              <a:t>Job de identificação:</a:t>
            </a:r>
            <a:r>
              <a:rPr lang="en-US" dirty="0" sz="1400">
                <a:solidFill>
                  <a:srgbClr val="000000"/>
                </a:solidFill>
                <a:highlight>
                  <a:srgbClr val="FF0000"/>
                </a:highlight>
                <a:latin typeface="Noto Sans"/>
                <a:ea typeface="Noto Sans"/>
                <a:cs typeface="Noto Sans"/>
              </a:rPr>
              <a:t> executado diariamente às 02:00, em background, após o cálculo de juros e multas (executado pelo delta DEL-COM-068), avalia os Parceiros de Negócio com função de crédito UKM000 na empresa CVH1, exceto os da classe de risco “</a:t>
            </a:r>
            <a:r>
              <a:rPr lang="en-US" dirty="0" i="1" sz="1400">
                <a:solidFill>
                  <a:srgbClr val="000000"/>
                </a:solidFill>
                <a:highlight>
                  <a:srgbClr val="FF0000"/>
                </a:highlight>
                <a:latin typeface="Noto Sans"/>
                <a:ea typeface="Noto Sans"/>
                <a:cs typeface="Noto Sans"/>
              </a:rPr>
              <a:t>5 – CVH Interna”</a:t>
            </a:r>
            <a:r>
              <a:rPr lang="en-US" dirty="0" sz="1400">
                <a:solidFill>
                  <a:srgbClr val="000000"/>
                </a:solidFill>
                <a:highlight>
                  <a:srgbClr val="FF0000"/>
                </a:highlight>
                <a:latin typeface="Noto Sans"/>
                <a:ea typeface="Noto Sans"/>
                <a:cs typeface="Noto Sans"/>
              </a:rPr>
              <a:t>. Para cada cliente, identifica pela classe de risco se o cliente é à vista ou a prazo, apura os títulos vencidos em Contas a Receber e compara o resultado com as regras estabelecidas no BPDD:</a:t>
            </a:r>
          </a:p>
          <a:p>
            <a:pPr algn="just" marL="0">
              <a:spcAft>
                <a:spcPts val="300"/>
              </a:spcAft>
              <a:buSzPct val="100000"/>
              <a:buNone/>
            </a:pPr>
            <a:r>
              <a:rPr lang="en-US" dirty="0" i="1" sz="1050" b="0">
                <a:solidFill>
                  <a:srgbClr val="000000"/>
                </a:solidFill>
                <a:highlight>
                  <a:srgbClr val="FF0000"/>
                </a:highlight>
                <a:latin typeface="Noto Sans"/>
                <a:ea typeface="Noto Sans"/>
                <a:cs typeface="Noto Sans"/>
              </a:rPr>
              <a:t>	</a:t>
            </a:r>
            <a:r>
              <a:rPr lang="en-US" dirty="0" i="1" sz="1050" u="sng" b="0">
                <a:solidFill>
                  <a:srgbClr val="000000"/>
                </a:solidFill>
                <a:highlight>
                  <a:srgbClr val="FF0000"/>
                </a:highlight>
                <a:latin typeface="Noto Sans"/>
                <a:ea typeface="Noto Sans"/>
                <a:cs typeface="Noto Sans"/>
              </a:rPr>
              <a:t>“Clientes a vista</a:t>
            </a:r>
            <a:r>
              <a:rPr lang="en-US" dirty="0" i="1" sz="1050" b="0">
                <a:solidFill>
                  <a:srgbClr val="000000"/>
                </a:solidFill>
                <a:highlight>
                  <a:srgbClr val="FF0000"/>
                </a:highlight>
                <a:latin typeface="Noto Sans"/>
                <a:ea typeface="Noto Sans"/>
                <a:cs typeface="Noto Sans"/>
              </a:rPr>
              <a:t> – bloqueio a partir de 1 dia de título vencido, qualquer valor (seja por aluguel de material circulante, qualquer outra cobrança avulsa ou compras 	realizadas no KLOK durante as janelas de atualização de crédito que podem liberar vendas, mesmo com saldo já consumido) </a:t>
            </a:r>
          </a:p>
          <a:p>
            <a:pPr algn="just" marL="0">
              <a:spcAft>
                <a:spcPts val="300"/>
              </a:spcAft>
              <a:buSzPct val="100000"/>
              <a:buNone/>
            </a:pPr>
            <a:r>
              <a:rPr lang="en-US" dirty="0" i="1" sz="1050" b="0">
                <a:solidFill>
                  <a:srgbClr val="000000"/>
                </a:solidFill>
                <a:highlight>
                  <a:srgbClr val="FF0000"/>
                </a:highlight>
                <a:latin typeface="Noto Sans"/>
                <a:ea typeface="Noto Sans"/>
                <a:cs typeface="Noto Sans"/>
              </a:rPr>
              <a:t>	</a:t>
            </a:r>
            <a:r>
              <a:rPr lang="en-US" dirty="0" i="1" sz="1050" u="sng" b="0">
                <a:solidFill>
                  <a:srgbClr val="000000"/>
                </a:solidFill>
                <a:highlight>
                  <a:srgbClr val="FF0000"/>
                </a:highlight>
                <a:latin typeface="Noto Sans"/>
                <a:ea typeface="Noto Sans"/>
                <a:cs typeface="Noto Sans"/>
              </a:rPr>
              <a:t>Clientes a prazo</a:t>
            </a:r>
            <a:r>
              <a:rPr lang="en-US" dirty="0" i="1" sz="1050" b="0">
                <a:solidFill>
                  <a:srgbClr val="000000"/>
                </a:solidFill>
                <a:highlight>
                  <a:srgbClr val="FF0000"/>
                </a:highlight>
                <a:latin typeface="Noto Sans"/>
                <a:ea typeface="Noto Sans"/>
                <a:cs typeface="Noto Sans"/>
              </a:rPr>
              <a:t> – bloqueio a partir de R$ 500,01 e 1 dia de título vencido (existem clientes que não devem ser bloqueados, como por exemplo, supermercados)”</a:t>
            </a:r>
          </a:p>
          <a:p>
            <a:pPr marL="342900" indent="-342900">
              <a:spcAft>
                <a:spcPts val="300"/>
              </a:spcAft>
              <a:buFont typeface="Arial"/>
              <a:buSzPct val="100000"/>
              <a:buChar char="●"/>
            </a:pPr>
            <a:r>
              <a:rPr lang="en-US" dirty="0" b="1" sz="1400">
                <a:solidFill>
                  <a:srgbClr val="000000"/>
                </a:solidFill>
                <a:effectLst/>
                <a:highlight>
                  <a:srgbClr val="FF0000"/>
                </a:highlight>
                <a:latin typeface="Noto Sans"/>
                <a:ea typeface="Noto Sans"/>
                <a:cs typeface="Noto Sans"/>
              </a:rPr>
              <a:t>Lista de clientes:</a:t>
            </a:r>
            <a:r>
              <a:rPr lang="en-US" dirty="0" sz="1400">
                <a:solidFill>
                  <a:srgbClr val="000000"/>
                </a:solidFill>
                <a:highlight>
                  <a:srgbClr val="FF0000"/>
                </a:highlight>
                <a:latin typeface="Noto Sans"/>
                <a:ea typeface="Noto Sans"/>
                <a:cs typeface="Noto Sans"/>
              </a:rPr>
              <a:t xml:space="preserve"> o resultado do job é gravado com a ação proposta para cada cliente: bloquear (inadimplente que ainda está desbloqueado) ou desbloquear clientes regularizados.</a:t>
            </a:r>
          </a:p>
          <a:p>
            <a:pPr marL="342900" indent="-342900">
              <a:spcAft>
                <a:spcPts val="300"/>
              </a:spcAft>
              <a:buFont typeface="Arial"/>
              <a:buSzPct val="100000"/>
              <a:buChar char="●"/>
            </a:pPr>
            <a:r>
              <a:rPr lang="en-US" dirty="0" b="1" sz="1400">
                <a:solidFill>
                  <a:srgbClr val="000000"/>
                </a:solidFill>
                <a:effectLst/>
                <a:latin typeface="Noto Sans"/>
                <a:ea typeface="Noto Sans"/>
                <a:cs typeface="Noto Sans"/>
              </a:rPr>
              <a:t>Aplicativo de gestão em massa:</a:t>
            </a:r>
            <a:r>
              <a:rPr lang="en-US" dirty="0" sz="1400">
                <a:solidFill>
                  <a:srgbClr val="000000"/>
                </a:solidFill>
                <a:effectLst/>
                <a:latin typeface="Noto Sans"/>
                <a:ea typeface="Noto Sans"/>
                <a:cs typeface="Noto Sans"/>
              </a:rPr>
              <a:t> hoje o app standard Administrar contas de crédito já permite bloquear e desbloquear, porém um cliente por vez. O novo app apresenta a lista gerada pelo </a:t>
            </a:r>
            <a:r>
              <a:rPr lang="en-US" dirty="0" sz="1400" err="1">
                <a:solidFill>
                  <a:srgbClr val="000000"/>
                </a:solidFill>
                <a:effectLst/>
                <a:latin typeface="Noto Sans"/>
                <a:ea typeface="Noto Sans"/>
                <a:cs typeface="Noto Sans"/>
              </a:rPr>
              <a:t>job</a:t>
            </a:r>
            <a:r>
              <a:rPr lang="en-US" dirty="0" sz="1400">
                <a:solidFill>
                  <a:srgbClr val="000000"/>
                </a:solidFill>
                <a:effectLst/>
                <a:latin typeface="Noto Sans"/>
                <a:ea typeface="Noto Sans"/>
                <a:cs typeface="Noto Sans"/>
              </a:rPr>
              <a:t> no padrão Fiori: o usuário filtra (inclusive pelo segmento de atuação, que identifica supermercados e similares como Autosserviço), seleciona vários clientes, aciona Bloquear ou Desbloquear e informa o motivo. Nenhum bloqueio é efetivado sem essa confirmação.</a:t>
            </a:r>
          </a:p>
          <a:p>
            <a:pPr marL="342900" indent="-342900">
              <a:spcAft>
                <a:spcPts val="300"/>
              </a:spcAft>
              <a:buFont typeface="Arial"/>
              <a:buSzPct val="100000"/>
              <a:buChar char="●"/>
            </a:pPr>
            <a:r>
              <a:rPr lang="en-US" dirty="0" b="1" sz="1400">
                <a:solidFill>
                  <a:srgbClr val="000000"/>
                </a:solidFill>
                <a:effectLst/>
                <a:highlight>
                  <a:srgbClr val="FFFF00"/>
                </a:highlight>
                <a:latin typeface="Noto Sans"/>
                <a:ea typeface="Noto Sans"/>
                <a:cs typeface="Noto Sans"/>
              </a:rPr>
              <a:t>Escopo restrito a inadimplentes:</a:t>
            </a:r>
            <a:r>
              <a:rPr lang="en-US" dirty="0" sz="1400">
                <a:solidFill>
                  <a:srgbClr val="000000"/>
                </a:solidFill>
                <a:effectLst/>
                <a:highlight>
                  <a:srgbClr val="FFFF00"/>
                </a:highlight>
                <a:latin typeface="Noto Sans"/>
                <a:ea typeface="Noto Sans"/>
                <a:cs typeface="Noto Sans"/>
              </a:rPr>
              <a:t> bloqueios por outros motivos, como problemas fiscais, continuam sendo feitos individualmente no app standard e não são propostos nem alterados por este desenvolvimento. Esses bloqueios também chegam aos legados pelo DEL-COM-051.</a:t>
            </a:r>
          </a:p>
        </p:txBody>
      </p:sp>
      <p:sp>
        <p:nvSpPr>
          <p:cNvPr id="4" name="Conector reto 3">
            <a:extLst>
              <a:ext uri="{FF2B5EF4-FFF2-40B4-BE49-F238E27FC236}">
                <a16:creationId xmlns:a16="http://schemas.microsoft.com/office/drawing/2014/main" id="{84865350-60AB-4722-5860-0091BC1973AF}"/>
              </a:ext>
            </a:extLst>
          </p:cNvPr>
          <p:cNvSpPr/>
          <p:nvPr/>
        </p:nvSpPr>
        <p:spPr>
          <a:xfrm>
            <a:off x="200696" y="1419244"/>
            <a:ext cx="11790608" cy="0"/>
          </a:xfrm>
          <a:prstGeom prst="line">
            <a:avLst/>
          </a:prstGeom>
          <a:noFill/>
        </p:spPr>
      </p:sp>
    </p:spTree>
    <p:extLst>
      <p:ext uri="{BB962C8B-B14F-4D97-AF65-F5344CB8AC3E}">
        <p14:creationId xmlns:p14="http://schemas.microsoft.com/office/powerpoint/2010/main" val="99595370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BB18-0F30-73DE-C19C-8695B944F2E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FAB2490-E40B-7315-3DAC-1454B51CEE92}"/>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Proposta da Solução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0616C174-BCA5-EDD7-22FB-84D95CC4E1F1}"/>
              </a:ext>
            </a:extLst>
          </p:cNvPr>
          <p:cNvSpPr txBox="1"/>
          <p:nvPr/>
        </p:nvSpPr>
        <p:spPr>
          <a:xfrm>
            <a:off x="869151" y="1614372"/>
            <a:ext cx="10453698" cy="470894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Gravação do bloqueio:</a:t>
            </a:r>
            <a:r>
              <a:rPr lang="pt-BR" sz="1200">
                <a:solidFill>
                  <a:schemeClr val="tx1"/>
                </a:solidFill>
                <a:effectLst/>
                <a:latin typeface="Noto Sans"/>
                <a:cs typeface="Noto Sans"/>
              </a:rPr>
              <a:t> o bloqueio é gravado no mesmo campo utilizado pelo app standard, o indicador de bloqueio do segmento de crédito do cliente, acompanhado do motivo informado pelo usuário</a:t>
            </a:r>
            <a:r>
              <a:rPr lang="pt-BR" sz="1200">
                <a:solidFill>
                  <a:schemeClr val="tx1"/>
                </a:solidFill>
                <a:latin typeface="Noto Sans"/>
                <a:cs typeface="Noto Sans"/>
              </a:rPr>
              <a:t> via seleção match </a:t>
            </a:r>
            <a:r>
              <a:rPr lang="pt-BR" sz="1200" err="1">
                <a:solidFill>
                  <a:schemeClr val="tx1"/>
                </a:solidFill>
                <a:latin typeface="Noto Sans"/>
                <a:cs typeface="Noto Sans"/>
              </a:rPr>
              <a:t>code</a:t>
            </a:r>
            <a:r>
              <a:rPr lang="pt-BR" sz="1200">
                <a:solidFill>
                  <a:schemeClr val="tx1"/>
                </a:solidFill>
                <a:effectLst/>
                <a:latin typeface="Noto Sans"/>
                <a:cs typeface="Noto Sans"/>
              </a:rPr>
              <a:t>. O bloqueio é único e vale tanto para a Comercialização quanto para o Material Circulante. Assim, o bloqueio fica visível no app Administrar contas de crédito, é retornado pelas APIs de consulta de crédito (DEL-COM-168 e DEL-COM-068) e fica registrado no histórico de alterações standard do cliente, que é o ponto de leitura do DEL-COM-051.</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Tabela de log – auditoria e reconhecimento dos bloqueios do app:</a:t>
            </a:r>
            <a:r>
              <a:rPr lang="pt-BR" sz="1200">
                <a:solidFill>
                  <a:schemeClr val="tx1"/>
                </a:solidFill>
                <a:effectLst/>
                <a:latin typeface="Noto Sans"/>
                <a:cs typeface="Noto Sans"/>
              </a:rPr>
              <a:t> cada bloqueio e desbloqueio efetivado pelo app é registrado em uma tabela de log, com cliente, ação, motivo, usuário, data e hora e a situação do cliente naquele momento. Essa tabela garante a rastreabilidade das ações e permite ao </a:t>
            </a:r>
            <a:r>
              <a:rPr lang="pt-BR" sz="1200" err="1">
                <a:solidFill>
                  <a:schemeClr val="tx1"/>
                </a:solidFill>
                <a:effectLst/>
                <a:latin typeface="Noto Sans"/>
                <a:cs typeface="Noto Sans"/>
              </a:rPr>
              <a:t>job</a:t>
            </a:r>
            <a:r>
              <a:rPr lang="pt-BR" sz="1200">
                <a:solidFill>
                  <a:schemeClr val="tx1"/>
                </a:solidFill>
                <a:effectLst/>
                <a:latin typeface="Noto Sans"/>
                <a:cs typeface="Noto Sans"/>
              </a:rPr>
              <a:t> reconhecer os bloqueios feitos pelo próprio app.</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Como o app reconhece os seus próprios bloqueios:</a:t>
            </a:r>
            <a:r>
              <a:rPr lang="pt-BR" sz="1200">
                <a:solidFill>
                  <a:schemeClr val="tx1"/>
                </a:solidFill>
                <a:effectLst/>
                <a:latin typeface="Noto Sans"/>
                <a:cs typeface="Noto Sans"/>
              </a:rPr>
              <a:t> o motivo de inadimplência não é exclusivo deste app e pode ser utilizado em outros pontos do SAP. Por isso, o reconhecimento é feito pela tabela de log: o cliente só é considerado bloqueado pelo DEL-R2R-009 quando o último registro dele no log é um bloqueio, ele continua bloqueado e o motivo atual é o mesmo registrado pelo app. Se o bloqueio for alterado ou refeito no app standard, o cliente deixa de ser proposto para desbloqueio e passa à gestão individual.</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Clientes vinculados (matriz e filiais):</a:t>
            </a:r>
            <a:r>
              <a:rPr lang="pt-BR" sz="1200">
                <a:solidFill>
                  <a:schemeClr val="tx1"/>
                </a:solidFill>
                <a:effectLst/>
                <a:latin typeface="Noto Sans"/>
                <a:cs typeface="Noto Sans"/>
              </a:rPr>
              <a:t> o SAP permite relacionar Parceiros de Negócio em uma hierarquia de crédito, com o crédito controlado a partir do BP principal. O </a:t>
            </a:r>
            <a:r>
              <a:rPr lang="pt-BR" sz="1200" err="1">
                <a:solidFill>
                  <a:schemeClr val="tx1"/>
                </a:solidFill>
                <a:effectLst/>
                <a:latin typeface="Noto Sans"/>
                <a:cs typeface="Noto Sans"/>
              </a:rPr>
              <a:t>job</a:t>
            </a:r>
            <a:r>
              <a:rPr lang="pt-BR" sz="1200">
                <a:solidFill>
                  <a:schemeClr val="tx1"/>
                </a:solidFill>
                <a:effectLst/>
                <a:latin typeface="Noto Sans"/>
                <a:cs typeface="Noto Sans"/>
              </a:rPr>
              <a:t> utiliza essa relação standard: quando um BP do grupo ficar inadimplente, o BP principal e todos os </a:t>
            </a:r>
            <a:r>
              <a:rPr lang="pt-BR" sz="1200" err="1">
                <a:solidFill>
                  <a:schemeClr val="tx1"/>
                </a:solidFill>
                <a:effectLst/>
                <a:latin typeface="Noto Sans"/>
                <a:cs typeface="Noto Sans"/>
              </a:rPr>
              <a:t>BPs</a:t>
            </a:r>
            <a:r>
              <a:rPr lang="pt-BR" sz="1200">
                <a:solidFill>
                  <a:schemeClr val="tx1"/>
                </a:solidFill>
                <a:effectLst/>
                <a:latin typeface="Noto Sans"/>
                <a:cs typeface="Noto Sans"/>
              </a:rPr>
              <a:t> vinculados são propostos para bloqueio, e só voltam a ser propostos para desbloqueio quando todo o grupo estiver regularizado.</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Distribuição aos legados:</a:t>
            </a:r>
            <a:r>
              <a:rPr lang="pt-BR" sz="1200">
                <a:solidFill>
                  <a:schemeClr val="tx1"/>
                </a:solidFill>
                <a:effectLst/>
                <a:latin typeface="Noto Sans"/>
                <a:cs typeface="Noto Sans"/>
              </a:rPr>
              <a:t> o DEL-R2R-009 não envia mensagens; sua responsabilidade termina na gravação do bloqueio e do log. O DEL-COM-051 identifica qualquer alteração no indicador de bloqueio, feita por este app ou pelo app standard Administrar contas de crédito, e publica a situação do cliente na fila </a:t>
            </a:r>
            <a:r>
              <a:rPr lang="pt-BR" sz="1200" err="1">
                <a:solidFill>
                  <a:schemeClr val="tx1"/>
                </a:solidFill>
                <a:effectLst/>
                <a:latin typeface="Noto Sans"/>
                <a:cs typeface="Noto Sans"/>
              </a:rPr>
              <a:t>RabbitMQ</a:t>
            </a:r>
            <a:r>
              <a:rPr lang="pt-BR" sz="1200">
                <a:solidFill>
                  <a:schemeClr val="tx1"/>
                </a:solidFill>
                <a:effectLst/>
                <a:latin typeface="Noto Sans"/>
                <a:cs typeface="Noto Sans"/>
              </a:rPr>
              <a:t> mantida pelo time de legados.</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Crédito sazonal fora do escopo:</a:t>
            </a:r>
            <a:r>
              <a:rPr lang="pt-BR" sz="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o DEL-R2R-009 não altera, reverte nem consulta o limite de crédito sazonal (crédito adicional) do cliente, nem no bloqueio nem no desbloqueio. A gestão do crédito sazonal permanece integralmente no DEL-COM-064.</a:t>
            </a:r>
          </a:p>
        </p:txBody>
      </p:sp>
      <p:cxnSp>
        <p:nvCxnSpPr>
          <p:cNvPr id="4" name="Conector reto 3">
            <a:extLst>
              <a:ext uri="{FF2B5EF4-FFF2-40B4-BE49-F238E27FC236}">
                <a16:creationId xmlns:a16="http://schemas.microsoft.com/office/drawing/2014/main" id="{84865350-60AB-4722-5860-0091BC1973AF}"/>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77624869"/>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876B313E-5B4E-6EEC-85BA-CF608676668D}"/>
              </a:ext>
            </a:extLst>
          </p:cNvPr>
          <p:cNvSpPr txBox="1">
            <a:spLocks/>
          </p:cNvSpPr>
          <p:nvPr/>
        </p:nvSpPr>
        <p:spPr>
          <a:xfrm>
            <a:off x="869151" y="579020"/>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Visão Geral do Negócio</a:t>
            </a:r>
            <a:br>
              <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rPr>
            </a:b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Contexto Atual e Cenário Organizacional</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C8A1123C-D23B-5077-7A50-569B3413246D}"/>
              </a:ext>
            </a:extLst>
          </p:cNvPr>
          <p:cNvSpPr txBox="1"/>
          <p:nvPr/>
        </p:nvSpPr>
        <p:spPr>
          <a:xfrm>
            <a:off x="621643" y="1647417"/>
            <a:ext cx="10453698" cy="415494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Com </a:t>
            </a:r>
            <a:r>
              <a:rPr lang="pt-BR" sz="1400">
                <a:solidFill>
                  <a:schemeClr val="tx1"/>
                </a:solidFill>
                <a:latin typeface="Noto Sans" panose="020B0502040504020204" pitchFamily="34" charset="0"/>
                <a:ea typeface="Noto Sans" panose="020B0502040504020204" pitchFamily="34" charset="0"/>
                <a:cs typeface="Noto Sans" panose="020B0502040504020204" pitchFamily="34" charset="0"/>
              </a:rPr>
              <a:t>o novo ERP da </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SAP, o Contas a Receber e o Controle de Crédito</a:t>
            </a:r>
            <a:r>
              <a:rPr lang="pt-BR" sz="140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passam a ser a fonte única dos títulos em aberto e dos dados de crédito dos clientes. O SAP disponibiliza no Controle de Crédito o indicador de bloqueio por Parceiro de Negócio e segmento de crédito, inclusive com o motivo do bloqueio, porém sua manutenção é individual: não existe no padrão uma rotina que identifique os clientes inadimplentes segundo as regras do Veiling e permita bloqueá-los ou desbloqueá-los em massa.</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Além disso, conforme o BPDD de Controle de Crédito (capítulo 3.8.5), o SAP não bloqueia ordens de venda no Veiling: a decisão de permitir ou impedir uma compra é dos sistemas legados. O bloqueio registrado no SAP é, portanto, o dado mestre que os legados precisam receber para impedir novas compras.</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Sem este desenvolvimento, a identificação dos inadimplentes seria manual, cliente a cliente, com risco de um cliente inadimplente continuar comprando no leilão e de um cliente regularizado permanecer bloqueado indevidamente.</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É nesse contexto que se insere o desenvolvimento DEL-R2R-009, que tem como objetivo identificar os clientes que ultrapassam a régua de inadimplência definida para sua classificação de crédito e permitir à área de Contas a Receber/Crédito bloqueá-los ou desbloqueá-los em massa no SAP. Cada bloqueio e desbloqueio é gravado no indicador de bloqueio do Controle de Crédito, que mantém o histórico de alterações do cliente, e registrado em uma tabela de log para auditoria. A distribuição dessa informação aos sistemas legados, por meio da fila </a:t>
            </a:r>
            <a:r>
              <a:rPr lang="pt-BR" sz="14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RabbitMQ</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é feita pelo delta DEL-COM-051 a partir da alteração do bloqueio no SAP.</a:t>
            </a:r>
          </a:p>
        </p:txBody>
      </p:sp>
      <p:cxnSp>
        <p:nvCxnSpPr>
          <p:cNvPr id="6" name="Conector reto 5">
            <a:extLst>
              <a:ext uri="{FF2B5EF4-FFF2-40B4-BE49-F238E27FC236}">
                <a16:creationId xmlns:a16="http://schemas.microsoft.com/office/drawing/2014/main" id="{2C2BCB75-5283-794E-A934-B0F59017E22F}"/>
              </a:ext>
            </a:extLst>
          </p:cNvPr>
          <p:cNvCxnSpPr/>
          <p:nvPr/>
        </p:nvCxnSpPr>
        <p:spPr>
          <a:xfrm>
            <a:off x="200696" y="1508453"/>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660241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EE814-D0B1-B7D3-C1D8-8E197418E012}"/>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5FFB8A9D-8404-5C93-D648-DF02A5805290}"/>
              </a:ext>
            </a:extLst>
          </p:cNvPr>
          <p:cNvSpPr txBox="1"/>
          <p:nvPr/>
        </p:nvSpPr>
        <p:spPr>
          <a:xfrm>
            <a:off x="1384417" y="2637944"/>
            <a:ext cx="9110931"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Estratégia da Solução</a:t>
            </a:r>
          </a:p>
        </p:txBody>
      </p:sp>
    </p:spTree>
    <p:extLst>
      <p:ext uri="{BB962C8B-B14F-4D97-AF65-F5344CB8AC3E}">
        <p14:creationId xmlns:p14="http://schemas.microsoft.com/office/powerpoint/2010/main" val="765213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57FF-782E-D6E7-419B-D844AF42B690}"/>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DA28BD5-125D-2136-C4E3-60852AC94E2D}"/>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Resultados Esperados</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EDF79E90-337C-29E7-ED39-AB4272D98A2E}"/>
              </a:ext>
            </a:extLst>
          </p:cNvPr>
          <p:cNvSpPr txBox="1"/>
          <p:nvPr/>
        </p:nvSpPr>
        <p:spPr>
          <a:xfrm>
            <a:off x="869151" y="1591278"/>
            <a:ext cx="10453698" cy="2985392"/>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6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Com a implementação deste desenvolvimento, espera-se entregar à área de Contas a Receber/Crédito os seguintes ganhos:</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Identificação automática dos clientes inadimplentes conforme a classe de risco, substituindo a apuração manual feita hoje no CVD.</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Bloqueio e desbloqueio em massa, mantendo a decisão final do usuário cliente a cliente.</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Desbloqueio ágil de clientes regularizados, reduzindo o tempo em que um cliente adimplente permanece impedido de comprar.</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Status de bloqueio centralizado no SAP, consultável pelas APIs de crédito e distribuído aos legados pelo DEL-COM-051.</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Rastreabilidade de cada bloqueio e desbloqueio (quem, quando, por qual motivo e com qual saldo vencido), atendendo à auditoria.</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Redução do risco de vendas a clientes inadimplentes, especialmente nas janelas de atualização de crédito do leilão KLOK.</a:t>
            </a:r>
          </a:p>
        </p:txBody>
      </p:sp>
      <p:cxnSp>
        <p:nvCxnSpPr>
          <p:cNvPr id="4" name="Conector reto 3">
            <a:extLst>
              <a:ext uri="{FF2B5EF4-FFF2-40B4-BE49-F238E27FC236}">
                <a16:creationId xmlns:a16="http://schemas.microsoft.com/office/drawing/2014/main" id="{3BE981D7-9435-A6E1-F275-17F9CF825007}"/>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76787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Fluxo do Processo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D42D6CF1-D683-D088-209F-9B5D133710BE}"/>
              </a:ext>
            </a:extLst>
          </p:cNvPr>
          <p:cNvSpPr txBox="1"/>
          <p:nvPr/>
        </p:nvSpPr>
        <p:spPr>
          <a:xfrm>
            <a:off x="869151" y="1482299"/>
            <a:ext cx="8229600" cy="307777"/>
          </a:xfrm>
          <a:prstGeom prst="rect">
            <a:avLst/>
          </a:prstGeom>
          <a:noFill/>
        </p:spPr>
        <p:txBody>
          <a:bodyPr wrap="none" rtlCol="0">
            <a:spAutoFit/>
          </a:bodyPr>
          <a:lstStyle/>
          <a:p>
            <a:r>
              <a:rPr lang="pt-BR" sz="1400">
                <a:latin typeface="Noto Sans" panose="020B0502040504020204" pitchFamily="34" charset="0"/>
                <a:ea typeface="Noto Sans" panose="020B0502040504020204" pitchFamily="34" charset="0"/>
                <a:cs typeface="Noto Sans" panose="020B0502040504020204" pitchFamily="34" charset="0"/>
              </a:rPr>
              <a:t>Fluxo de identificação, bloqueio e desbloqueio de clientes inadimplentes</a:t>
            </a:r>
          </a:p>
        </p:txBody>
      </p:sp>
      <p:pic>
        <p:nvPicPr>
          <p:cNvPr id="7" name="Picture 6" descr="fluxo.png"/>
          <p:cNvPicPr>
            <a:picLocks noChangeAspect="1"/>
          </p:cNvPicPr>
          <p:nvPr/>
        </p:nvPicPr>
        <p:blipFill>
          <a:blip r:embed="rId2"/>
          <a:stretch>
            <a:fillRect/>
          </a:stretch>
        </p:blipFill>
        <p:spPr>
          <a:xfrm>
            <a:off x="774446" y="1899593"/>
            <a:ext cx="10641330" cy="4343400"/>
          </a:xfrm>
          <a:prstGeom prst="rect">
            <a:avLst/>
          </a:prstGeom>
        </p:spPr>
      </p:pic>
    </p:spTree>
    <p:extLst>
      <p:ext uri="{BB962C8B-B14F-4D97-AF65-F5344CB8AC3E}">
        <p14:creationId xmlns:p14="http://schemas.microsoft.com/office/powerpoint/2010/main" val="536252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Protótipo do Aplicativo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68B8CC3A-EEE3-AFFB-83E3-D0E6604D56EC}"/>
              </a:ext>
            </a:extLst>
          </p:cNvPr>
          <p:cNvSpPr txBox="1"/>
          <p:nvPr/>
        </p:nvSpPr>
        <p:spPr>
          <a:xfrm>
            <a:off x="869150" y="1426895"/>
            <a:ext cx="10972800" cy="369332"/>
          </a:xfrm>
          <a:prstGeom prst="rect">
            <a:avLst/>
          </a:prstGeom>
          <a:noFill/>
        </p:spPr>
        <p:txBody>
          <a:bodyPr wrap="square">
            <a:spAutoFit/>
          </a:bodyPr>
          <a:lstStyle/>
          <a:p>
            <a:r>
              <a:rPr lang="pt-BR" sz="1800">
                <a:latin typeface="Noto Sans" panose="020B0502040504020204" pitchFamily="34" charset="0"/>
                <a:ea typeface="Noto Sans" panose="020B0502040504020204" pitchFamily="34" charset="0"/>
                <a:cs typeface="Noto Sans" panose="020B0502040504020204" pitchFamily="34" charset="0"/>
              </a:rPr>
              <a:t>Tela 1 – List Report: filtro por segmento, seleção múltipla e ações Bloquear / Desbloquear</a:t>
            </a:r>
          </a:p>
        </p:txBody>
      </p:sp>
      <p:pic>
        <p:nvPicPr>
          <p:cNvPr id="6" name="Picture 5" descr="fe1.png"/>
          <p:cNvPicPr>
            <a:picLocks noChangeAspect="1"/>
          </p:cNvPicPr>
          <p:nvPr/>
        </p:nvPicPr>
        <p:blipFill>
          <a:blip r:embed="rId3"/>
          <a:stretch>
            <a:fillRect/>
          </a:stretch>
        </p:blipFill>
        <p:spPr>
          <a:xfrm>
            <a:off x="548640" y="1874519"/>
            <a:ext cx="11064240" cy="3872484"/>
          </a:xfrm>
          <a:prstGeom prst="rect">
            <a:avLst/>
          </a:prstGeom>
        </p:spPr>
      </p:pic>
    </p:spTree>
    <p:extLst>
      <p:ext uri="{BB962C8B-B14F-4D97-AF65-F5344CB8AC3E}">
        <p14:creationId xmlns:p14="http://schemas.microsoft.com/office/powerpoint/2010/main" val="266248174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Protótipo do Aplicativo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68B8CC3A-EEE3-AFFB-83E3-D0E6604D56EC}"/>
              </a:ext>
            </a:extLst>
          </p:cNvPr>
          <p:cNvSpPr txBox="1"/>
          <p:nvPr/>
        </p:nvSpPr>
        <p:spPr>
          <a:xfrm>
            <a:off x="869150" y="1426895"/>
            <a:ext cx="10972800" cy="369332"/>
          </a:xfrm>
          <a:prstGeom prst="rect">
            <a:avLst/>
          </a:prstGeom>
          <a:noFill/>
        </p:spPr>
        <p:txBody>
          <a:bodyPr wrap="square">
            <a:spAutoFit/>
          </a:bodyPr>
          <a:lstStyle/>
          <a:p>
            <a:r>
              <a:rPr lang="pt-BR" sz="1800">
                <a:latin typeface="Noto Sans" panose="020B0502040504020204" pitchFamily="34" charset="0"/>
                <a:ea typeface="Noto Sans" panose="020B0502040504020204" pitchFamily="34" charset="0"/>
                <a:cs typeface="Noto Sans" panose="020B0502040504020204" pitchFamily="34" charset="0"/>
              </a:rPr>
              <a:t>Tela 2 – Diálogo padrão da ação Bloquear, com o motivo informado pelo usuário</a:t>
            </a:r>
          </a:p>
        </p:txBody>
      </p:sp>
      <p:pic>
        <p:nvPicPr>
          <p:cNvPr id="6" name="Picture 5" descr="fe2.png"/>
          <p:cNvPicPr>
            <a:picLocks noChangeAspect="1"/>
          </p:cNvPicPr>
          <p:nvPr/>
        </p:nvPicPr>
        <p:blipFill>
          <a:blip r:embed="rId2"/>
          <a:stretch>
            <a:fillRect/>
          </a:stretch>
        </p:blipFill>
        <p:spPr>
          <a:xfrm>
            <a:off x="548640" y="1895396"/>
            <a:ext cx="11064240" cy="3872484"/>
          </a:xfrm>
          <a:prstGeom prst="rect">
            <a:avLst/>
          </a:prstGeom>
        </p:spPr>
      </p:pic>
    </p:spTree>
    <p:extLst>
      <p:ext uri="{BB962C8B-B14F-4D97-AF65-F5344CB8AC3E}">
        <p14:creationId xmlns:p14="http://schemas.microsoft.com/office/powerpoint/2010/main" val="2662481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B369-6E88-DBE8-D382-8FBA556C6BF9}"/>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7A8EED29-AE44-7736-3953-318D5EC49C12}"/>
              </a:ext>
            </a:extLst>
          </p:cNvPr>
          <p:cNvSpPr txBox="1"/>
          <p:nvPr/>
        </p:nvSpPr>
        <p:spPr>
          <a:xfrm>
            <a:off x="1793206" y="2236004"/>
            <a:ext cx="8605588"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Detalhamento para Desenvolvimento</a:t>
            </a:r>
          </a:p>
        </p:txBody>
      </p:sp>
    </p:spTree>
    <p:extLst>
      <p:ext uri="{BB962C8B-B14F-4D97-AF65-F5344CB8AC3E}">
        <p14:creationId xmlns:p14="http://schemas.microsoft.com/office/powerpoint/2010/main" val="153177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FAB5-E8B9-C798-E5C3-9A08819224C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FCD977B-EBFA-F5DF-E0B2-E8E58B69F1C6}"/>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C85C7BFC-32BF-B376-19BD-F9D392D93C8A}"/>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F3F79C7-97C1-DCDB-B684-65C77043F49B}"/>
              </a:ext>
            </a:extLst>
          </p:cNvPr>
          <p:cNvSpPr txBox="1"/>
          <p:nvPr/>
        </p:nvSpPr>
        <p:spPr>
          <a:xfrm>
            <a:off x="642831" y="1458930"/>
            <a:ext cx="9813128" cy="4208844"/>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a:effectLst/>
                <a:latin typeface="Noto Sans"/>
                <a:ea typeface="Noto Sans"/>
                <a:cs typeface="Noto Sans"/>
              </a:rPr>
              <a:t>O desenvolvimento DEL-R2R-009 deve atender e entregar:</a:t>
            </a:r>
          </a:p>
          <a:p>
            <a:pPr>
              <a:spcAft>
                <a:spcPts val="600"/>
              </a:spcAft>
            </a:pPr>
            <a:r>
              <a:rPr lang="pt-BR" sz="1200" b="1">
                <a:latin typeface="Noto Sans"/>
                <a:ea typeface="Noto Sans"/>
                <a:cs typeface="Noto Sans"/>
              </a:rPr>
              <a:t>CDS com busca de clientes inadimplentes</a:t>
            </a:r>
            <a:r>
              <a:rPr lang="pt-BR" sz="1200" b="1">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Selecionar os Parceiros de Negócio com função UKM000 e segmento de crédito 1000, empresa CVH1, desconsiderando a classe de risco 5 – CVH Interna, que não é avaliada pelo </a:t>
            </a:r>
            <a:r>
              <a:rPr lang="pt-BR" sz="1200" err="1">
                <a:effectLst/>
                <a:latin typeface="Noto Sans"/>
                <a:ea typeface="Noto Sans"/>
                <a:cs typeface="Noto Sans"/>
              </a:rPr>
              <a:t>job</a:t>
            </a:r>
            <a:r>
              <a:rPr lang="pt-BR" sz="1200">
                <a:effectLst/>
                <a:latin typeface="Noto Sans"/>
                <a:ea typeface="Noto Sans"/>
                <a:cs typeface="Noto Sans"/>
              </a:rPr>
              <a:t> nem exibida no app (PR-07).</a:t>
            </a:r>
          </a:p>
          <a:p>
            <a:pPr marL="342900" lvl="0" indent="-342900">
              <a:spcAft>
                <a:spcPts val="300"/>
              </a:spcAft>
              <a:buFont typeface="Arial" panose="020B0604020202020204" pitchFamily="34" charset="0"/>
              <a:buChar char="●"/>
            </a:pPr>
            <a:r>
              <a:rPr lang="pt-BR" sz="1200">
                <a:effectLst/>
                <a:latin typeface="Noto Sans"/>
                <a:ea typeface="Noto Sans"/>
                <a:cs typeface="Noto Sans"/>
              </a:rPr>
              <a:t>Classificar o cliente pela classe de risco (UKMBP_CMS-RISK_CLASS</a:t>
            </a:r>
            <a:r>
              <a:rPr lang="pt-BR" sz="1200" b="1">
                <a:effectLst/>
                <a:latin typeface="Noto Sans"/>
                <a:ea typeface="Noto Sans"/>
                <a:cs typeface="Noto Sans"/>
              </a:rPr>
              <a:t>): à vista para as classes 1A</a:t>
            </a:r>
            <a:r>
              <a:rPr lang="pt-BR" sz="1200" b="1">
                <a:latin typeface="Noto Sans"/>
                <a:ea typeface="Noto Sans"/>
                <a:cs typeface="Noto Sans"/>
              </a:rPr>
              <a:t>,</a:t>
            </a:r>
            <a:r>
              <a:rPr lang="pt-BR" sz="1200" b="1">
                <a:effectLst/>
                <a:latin typeface="Noto Sans"/>
                <a:ea typeface="Noto Sans"/>
                <a:cs typeface="Noto Sans"/>
              </a:rPr>
              <a:t> a prazo para as classes 2A.</a:t>
            </a:r>
          </a:p>
          <a:p>
            <a:pPr marL="342900" indent="-342900">
              <a:spcAft>
                <a:spcPts val="300"/>
              </a:spcAft>
              <a:buFont typeface="Arial" panose="020B0604020202020204" pitchFamily="34" charset="0"/>
              <a:buChar char="●"/>
            </a:pPr>
            <a:r>
              <a:rPr lang="pt-BR" sz="1200">
                <a:effectLst/>
                <a:latin typeface="Noto Sans"/>
                <a:ea typeface="Noto Sans"/>
                <a:cs typeface="Noto Sans"/>
              </a:rPr>
              <a:t>Apurar, por cliente, o saldo das partidas em aberto vencidas há pelo menos 1 dia,</a:t>
            </a:r>
            <a:r>
              <a:rPr lang="pt-BR" sz="1200">
                <a:latin typeface="Noto Sans"/>
                <a:ea typeface="Noto Sans"/>
                <a:cs typeface="Noto Sans"/>
              </a:rPr>
              <a:t> </a:t>
            </a:r>
            <a:r>
              <a:rPr lang="pt-BR" sz="1200" b="1">
                <a:highlight>
                  <a:srgbClr val="FFFF00"/>
                </a:highlight>
                <a:latin typeface="Noto Sans"/>
                <a:ea typeface="Noto Sans"/>
                <a:cs typeface="Noto Sans"/>
              </a:rPr>
              <a:t>não</a:t>
            </a:r>
            <a:r>
              <a:rPr lang="pt-BR" sz="1200" b="1">
                <a:effectLst/>
                <a:highlight>
                  <a:srgbClr val="FFFF00"/>
                </a:highlight>
                <a:latin typeface="Noto Sans"/>
                <a:ea typeface="Noto Sans"/>
                <a:cs typeface="Noto Sans"/>
              </a:rPr>
              <a:t> incluindo</a:t>
            </a:r>
            <a:r>
              <a:rPr lang="pt-BR" sz="1200">
                <a:effectLst/>
                <a:highlight>
                  <a:srgbClr val="FFFF00"/>
                </a:highlight>
                <a:latin typeface="Noto Sans"/>
                <a:ea typeface="Noto Sans"/>
                <a:cs typeface="Noto Sans"/>
              </a:rPr>
              <a:t> juros e multa</a:t>
            </a:r>
            <a:r>
              <a:rPr lang="pt-BR" sz="1200">
                <a:effectLst/>
                <a:latin typeface="Noto Sans"/>
                <a:ea typeface="Noto Sans"/>
                <a:cs typeface="Noto Sans"/>
              </a:rPr>
              <a:t>s.</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Aplicar a régua: à vista, qualquer valor vencido; a prazo, valor vencido a partir de R$ 500,01.</a:t>
            </a:r>
          </a:p>
          <a:p>
            <a:pPr marL="342900" lvl="0" indent="-342900">
              <a:spcAft>
                <a:spcPts val="300"/>
              </a:spcAft>
              <a:buFont typeface="Arial" panose="020B0604020202020204" pitchFamily="34" charset="0"/>
              <a:buChar char="●"/>
            </a:pPr>
            <a:r>
              <a:rPr lang="pt-BR" sz="1200">
                <a:effectLst/>
                <a:latin typeface="Noto Sans"/>
                <a:ea typeface="Noto Sans"/>
                <a:cs typeface="Noto Sans"/>
              </a:rPr>
              <a:t>Gerar a lista de clientes com a ação proposta: bloquear (cliente que ultrapassa a régua e está desbloqueado) ou desbloquear (cliente bloqueado pelo próprio DEL-R2R-009 que não ultrapassa mais a régua).</a:t>
            </a:r>
          </a:p>
          <a:p>
            <a:pPr marL="342900" lvl="0" indent="-342900">
              <a:spcAft>
                <a:spcPts val="300"/>
              </a:spcAft>
              <a:buFont typeface="Arial" panose="020B0604020202020204" pitchFamily="34" charset="0"/>
              <a:buChar char="●"/>
            </a:pPr>
            <a:r>
              <a:rPr lang="pt-BR" sz="1200">
                <a:effectLst/>
                <a:latin typeface="Noto Sans"/>
                <a:ea typeface="Noto Sans"/>
                <a:cs typeface="Noto Sans"/>
              </a:rPr>
              <a:t>Considerar como bloqueado pelo DEL-R2R-009 somente o cliente cuja última ação na tabela Z de log é Bloqueio, que permanece bloqueado (XBLOCKED) e cujo motivo atual (BLOCK_REASON) é igual ao registrado no log. O motivo de inadimplência não é exclusivo do app (PR-12).</a:t>
            </a:r>
          </a:p>
          <a:p>
            <a:pPr marL="342900" lvl="0" indent="-342900">
              <a:spcAft>
                <a:spcPts val="300"/>
              </a:spcAft>
              <a:buFont typeface="Arial" panose="020B0604020202020204" pitchFamily="34" charset="0"/>
              <a:buChar char="●"/>
            </a:pPr>
            <a:r>
              <a:rPr lang="pt-BR" sz="1200">
                <a:effectLst/>
                <a:latin typeface="Noto Sans"/>
                <a:ea typeface="Noto Sans"/>
                <a:cs typeface="Noto Sans"/>
              </a:rPr>
              <a:t>Não propor desbloqueio para clientes bloqueados por outros motivos (ex.: problema fiscal), que permanecem sob gestão individual no app standard.</a:t>
            </a:r>
          </a:p>
          <a:p>
            <a:pPr marL="342900" lvl="0" indent="-342900">
              <a:spcAft>
                <a:spcPts val="300"/>
              </a:spcAft>
              <a:buFont typeface="Arial" panose="020B0604020202020204" pitchFamily="34" charset="0"/>
              <a:buChar char="●"/>
            </a:pPr>
            <a:r>
              <a:rPr lang="pt-BR" sz="1200">
                <a:effectLst/>
                <a:latin typeface="Noto Sans"/>
                <a:ea typeface="Noto Sans"/>
                <a:cs typeface="Noto Sans"/>
              </a:rPr>
              <a:t>Trazer na lista o segmento de atuação do cliente (BP001-GROUP_FEATURE), para que os clientes que não devem ser bloqueados, como supermercados (Autosserviço), sejam identificados e filtrados no app (PR-08).</a:t>
            </a:r>
          </a:p>
          <a:p>
            <a:pPr marL="342900" lvl="0" indent="-342900">
              <a:spcAft>
                <a:spcPts val="300"/>
              </a:spcAft>
              <a:buFont typeface="Arial" panose="020B0604020202020204" pitchFamily="34" charset="0"/>
              <a:buChar char="●"/>
            </a:pPr>
            <a:r>
              <a:rPr lang="pt-BR" sz="1200">
                <a:effectLst/>
                <a:latin typeface="Noto Sans"/>
                <a:ea typeface="Noto Sans"/>
                <a:cs typeface="Noto Sans"/>
              </a:rPr>
              <a:t>Não alterar o limite de crédito sazonal (crédito adicional) do cliente.</a:t>
            </a:r>
          </a:p>
          <a:p>
            <a:pPr marL="342900" lvl="0" indent="-342900">
              <a:spcAft>
                <a:spcPts val="300"/>
              </a:spcAft>
              <a:buFont typeface="Arial" panose="020B0604020202020204" pitchFamily="34" charset="0"/>
              <a:buChar char="●"/>
            </a:pPr>
            <a:r>
              <a:rPr lang="pt-BR" sz="1200">
                <a:effectLst/>
                <a:latin typeface="Noto Sans"/>
                <a:ea typeface="Noto Sans"/>
                <a:cs typeface="Noto Sans"/>
              </a:rPr>
              <a:t>Registrar o log de execução do </a:t>
            </a:r>
            <a:r>
              <a:rPr lang="pt-BR" sz="1200" err="1">
                <a:effectLst/>
                <a:latin typeface="Noto Sans"/>
                <a:ea typeface="Noto Sans"/>
                <a:cs typeface="Noto Sans"/>
              </a:rPr>
              <a:t>job</a:t>
            </a:r>
            <a:r>
              <a:rPr lang="pt-BR" sz="1200">
                <a:effectLst/>
                <a:latin typeface="Noto Sans"/>
                <a:ea typeface="Noto Sans"/>
                <a:cs typeface="Noto Sans"/>
              </a:rPr>
              <a:t>: data, hora, quantidade de clientes avaliados e de propostas geradas.</a:t>
            </a:r>
          </a:p>
        </p:txBody>
      </p:sp>
    </p:spTree>
    <p:extLst>
      <p:ext uri="{BB962C8B-B14F-4D97-AF65-F5344CB8AC3E}">
        <p14:creationId xmlns:p14="http://schemas.microsoft.com/office/powerpoint/2010/main" val="285539130"/>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FAB5-E8B9-C798-E5C3-9A08819224C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FCD977B-EBFA-F5DF-E0B2-E8E58B69F1C6}"/>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C85C7BFC-32BF-B376-19BD-F9D392D93C8A}"/>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F3F79C7-97C1-DCDB-B684-65C77043F49B}"/>
              </a:ext>
            </a:extLst>
          </p:cNvPr>
          <p:cNvSpPr txBox="1"/>
          <p:nvPr/>
        </p:nvSpPr>
        <p:spPr>
          <a:xfrm>
            <a:off x="636481" y="1598630"/>
            <a:ext cx="9813128" cy="2277547"/>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b="1" err="1">
                <a:effectLst/>
                <a:latin typeface="Noto Sans"/>
                <a:ea typeface="Noto Sans"/>
                <a:cs typeface="Noto Sans"/>
              </a:rPr>
              <a:t>Job</a:t>
            </a:r>
            <a:r>
              <a:rPr lang="pt-BR" sz="1200" b="1">
                <a:effectLst/>
                <a:latin typeface="Noto Sans"/>
                <a:ea typeface="Noto Sans"/>
                <a:cs typeface="Noto Sans"/>
              </a:rPr>
              <a:t> de identificação – clientes vinculados (matriz e filiais):</a:t>
            </a:r>
          </a:p>
          <a:p>
            <a:pPr marL="342900" lvl="0" indent="-342900">
              <a:spcAft>
                <a:spcPts val="300"/>
              </a:spcAft>
              <a:buFont typeface="Arial" panose="020B0604020202020204" pitchFamily="34" charset="0"/>
              <a:buChar char="●"/>
            </a:pPr>
            <a:r>
              <a:rPr lang="pt-BR" sz="1200">
                <a:effectLst/>
                <a:latin typeface="Noto Sans"/>
                <a:ea typeface="Noto Sans"/>
                <a:cs typeface="Noto Sans"/>
              </a:rPr>
              <a:t>Identificar os </a:t>
            </a:r>
            <a:r>
              <a:rPr lang="pt-BR" sz="1200" err="1">
                <a:effectLst/>
                <a:latin typeface="Noto Sans"/>
                <a:ea typeface="Noto Sans"/>
                <a:cs typeface="Noto Sans"/>
              </a:rPr>
              <a:t>BPs</a:t>
            </a:r>
            <a:r>
              <a:rPr lang="pt-BR" sz="1200">
                <a:effectLst/>
                <a:latin typeface="Noto Sans"/>
                <a:ea typeface="Noto Sans"/>
                <a:cs typeface="Noto Sans"/>
              </a:rPr>
              <a:t> vinculados pela relação standard de hierarquia de crédito entre Parceiros de Negócio, em que o crédito é controlado a partir do BP principal.</a:t>
            </a:r>
          </a:p>
          <a:p>
            <a:pPr marL="342900" lvl="0" indent="-342900">
              <a:spcAft>
                <a:spcPts val="300"/>
              </a:spcAft>
              <a:buFont typeface="Arial" panose="020B0604020202020204" pitchFamily="34" charset="0"/>
              <a:buChar char="●"/>
            </a:pPr>
            <a:r>
              <a:rPr lang="pt-BR" sz="1200">
                <a:effectLst/>
                <a:latin typeface="Noto Sans"/>
                <a:ea typeface="Noto Sans"/>
                <a:cs typeface="Noto Sans"/>
              </a:rPr>
              <a:t>Quando um BP do grupo ultrapassar a régua, propor o bloqueio do BP principal e de todos os </a:t>
            </a:r>
            <a:r>
              <a:rPr lang="pt-BR" sz="1200" err="1">
                <a:effectLst/>
                <a:latin typeface="Noto Sans"/>
                <a:ea typeface="Noto Sans"/>
                <a:cs typeface="Noto Sans"/>
              </a:rPr>
              <a:t>BPs</a:t>
            </a:r>
            <a:r>
              <a:rPr lang="pt-BR" sz="1200">
                <a:effectLst/>
                <a:latin typeface="Noto Sans"/>
                <a:ea typeface="Noto Sans"/>
                <a:cs typeface="Noto Sans"/>
              </a:rPr>
              <a:t> vinculados, informando na lista o BP de origem do bloqueio.</a:t>
            </a:r>
          </a:p>
          <a:p>
            <a:pPr marL="342900" lvl="0" indent="-342900">
              <a:spcAft>
                <a:spcPts val="300"/>
              </a:spcAft>
              <a:buFont typeface="Arial" panose="020B0604020202020204" pitchFamily="34" charset="0"/>
              <a:buChar char="●"/>
            </a:pPr>
            <a:r>
              <a:rPr lang="pt-BR" sz="1200">
                <a:effectLst/>
                <a:latin typeface="Noto Sans"/>
                <a:ea typeface="Noto Sans"/>
                <a:cs typeface="Noto Sans"/>
              </a:rPr>
              <a:t>Gravar o bloqueio em cada BP do grupo, com um registro na tabela Z de log por BP contendo o BP de origem, para que cada um seja comunicado aos sistemas legados pelo DEL-COM-051.</a:t>
            </a:r>
          </a:p>
          <a:p>
            <a:pPr marL="342900" lvl="0" indent="-342900">
              <a:spcAft>
                <a:spcPts val="300"/>
              </a:spcAft>
              <a:buFont typeface="Arial" panose="020B0604020202020204" pitchFamily="34" charset="0"/>
              <a:buChar char="●"/>
            </a:pPr>
            <a:r>
              <a:rPr lang="pt-BR" sz="1200">
                <a:effectLst/>
                <a:latin typeface="Noto Sans"/>
                <a:ea typeface="Noto Sans"/>
                <a:cs typeface="Noto Sans"/>
              </a:rPr>
              <a:t>Propor o desbloqueio dos </a:t>
            </a:r>
            <a:r>
              <a:rPr lang="pt-BR" sz="1200" err="1">
                <a:effectLst/>
                <a:latin typeface="Noto Sans"/>
                <a:ea typeface="Noto Sans"/>
                <a:cs typeface="Noto Sans"/>
              </a:rPr>
              <a:t>BPs</a:t>
            </a:r>
            <a:r>
              <a:rPr lang="pt-BR" sz="1200">
                <a:effectLst/>
                <a:latin typeface="Noto Sans"/>
                <a:ea typeface="Noto Sans"/>
                <a:cs typeface="Noto Sans"/>
              </a:rPr>
              <a:t> do grupo somente quando nenhum BP do grupo ultrapassar mais a régua.</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Aplicar aos </a:t>
            </a:r>
            <a:r>
              <a:rPr lang="pt-BR" sz="1200" err="1">
                <a:effectLst/>
                <a:latin typeface="Noto Sans"/>
                <a:ea typeface="Noto Sans"/>
                <a:cs typeface="Noto Sans"/>
              </a:rPr>
              <a:t>BPs</a:t>
            </a:r>
            <a:r>
              <a:rPr lang="pt-BR" sz="1200">
                <a:effectLst/>
                <a:latin typeface="Noto Sans"/>
                <a:ea typeface="Noto Sans"/>
                <a:cs typeface="Noto Sans"/>
              </a:rPr>
              <a:t> vinculados a mesma regra de identificação dos bloqueios feitos pelo DEL-R2R-009 (PR-12)</a:t>
            </a:r>
          </a:p>
        </p:txBody>
      </p:sp>
    </p:spTree>
    <p:extLst>
      <p:ext uri="{BB962C8B-B14F-4D97-AF65-F5344CB8AC3E}">
        <p14:creationId xmlns:p14="http://schemas.microsoft.com/office/powerpoint/2010/main" val="28553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6286-9EEE-8F1B-D952-426843911B06}"/>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ED78F2DB-E570-572E-ED7F-F1414BB511A3}"/>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9E9BFA-A223-4F5E-0803-15ED9BA1C23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86F26B9-D838-8605-BC99-462170FA4F09}"/>
              </a:ext>
            </a:extLst>
          </p:cNvPr>
          <p:cNvSpPr txBox="1"/>
          <p:nvPr/>
        </p:nvSpPr>
        <p:spPr>
          <a:xfrm>
            <a:off x="655531" y="1477980"/>
            <a:ext cx="9813128" cy="3947234"/>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b="1">
                <a:effectLst/>
                <a:latin typeface="Noto Sans"/>
                <a:ea typeface="Noto Sans"/>
                <a:cs typeface="Noto Sans"/>
              </a:rPr>
              <a:t>App Fiori – Gestão em massa de bloqueio e desbloqueio:</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App no padrão Fiori </a:t>
            </a:r>
            <a:r>
              <a:rPr lang="pt-BR" sz="1200" err="1">
                <a:effectLst/>
                <a:latin typeface="Noto Sans"/>
                <a:ea typeface="Noto Sans"/>
                <a:cs typeface="Noto Sans"/>
              </a:rPr>
              <a:t>Elements</a:t>
            </a:r>
            <a:r>
              <a:rPr lang="pt-BR" sz="1200">
                <a:effectLst/>
                <a:latin typeface="Noto Sans"/>
                <a:ea typeface="Noto Sans"/>
                <a:cs typeface="Noto Sans"/>
              </a:rPr>
              <a:t> (</a:t>
            </a:r>
            <a:r>
              <a:rPr lang="pt-BR" sz="1200" err="1">
                <a:effectLst/>
                <a:latin typeface="Noto Sans"/>
                <a:ea typeface="Noto Sans"/>
                <a:cs typeface="Noto Sans"/>
              </a:rPr>
              <a:t>List</a:t>
            </a:r>
            <a:r>
              <a:rPr lang="pt-BR" sz="1200">
                <a:effectLst/>
                <a:latin typeface="Noto Sans"/>
                <a:ea typeface="Noto Sans"/>
                <a:cs typeface="Noto Sans"/>
              </a:rPr>
              <a:t> Report), gerado a partir de CDS </a:t>
            </a:r>
            <a:r>
              <a:rPr lang="pt-BR" sz="1200" err="1">
                <a:effectLst/>
                <a:latin typeface="Noto Sans"/>
                <a:ea typeface="Noto Sans"/>
                <a:cs typeface="Noto Sans"/>
              </a:rPr>
              <a:t>View</a:t>
            </a:r>
            <a:r>
              <a:rPr lang="pt-BR" sz="1200">
                <a:effectLst/>
                <a:latin typeface="Noto Sans"/>
                <a:ea typeface="Noto Sans"/>
                <a:cs typeface="Noto Sans"/>
              </a:rPr>
              <a:t> com anotações.</a:t>
            </a:r>
          </a:p>
          <a:p>
            <a:pPr marL="342900" lvl="0" indent="-342900">
              <a:spcAft>
                <a:spcPts val="300"/>
              </a:spcAft>
              <a:buFont typeface="Arial" panose="020B0604020202020204" pitchFamily="34" charset="0"/>
              <a:buChar char="●"/>
            </a:pPr>
            <a:r>
              <a:rPr lang="pt-BR" sz="1200">
                <a:effectLst/>
                <a:latin typeface="Noto Sans"/>
                <a:ea typeface="Noto Sans"/>
                <a:cs typeface="Noto Sans"/>
              </a:rPr>
              <a:t>Exibir os clientes da última execução do </a:t>
            </a:r>
            <a:r>
              <a:rPr lang="pt-BR" sz="1200" err="1">
                <a:effectLst/>
                <a:latin typeface="Noto Sans"/>
                <a:ea typeface="Noto Sans"/>
                <a:cs typeface="Noto Sans"/>
              </a:rPr>
              <a:t>job</a:t>
            </a:r>
            <a:r>
              <a:rPr lang="pt-BR" sz="1200">
                <a:effectLst/>
                <a:latin typeface="Noto Sans"/>
                <a:ea typeface="Noto Sans"/>
                <a:cs typeface="Noto Sans"/>
              </a:rPr>
              <a:t> com a ação proposta (Bloquear / Desbloquear), o segmento de atuação e o BP de origem (clientes vinculados), com filtros por ação proposta, classe de risco, segmento de atuação, cliente e execução do </a:t>
            </a:r>
            <a:r>
              <a:rPr lang="pt-BR" sz="1200" err="1">
                <a:effectLst/>
                <a:latin typeface="Noto Sans"/>
                <a:ea typeface="Noto Sans"/>
                <a:cs typeface="Noto Sans"/>
              </a:rPr>
              <a:t>job</a:t>
            </a:r>
            <a:r>
              <a:rPr lang="pt-BR" sz="1200">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Permitir a seleção de vários clientes e as ações Bloquear e Desbloquear em massa.</a:t>
            </a:r>
          </a:p>
          <a:p>
            <a:pPr marL="342900" indent="-342900">
              <a:spcAft>
                <a:spcPts val="300"/>
              </a:spcAft>
              <a:buFont typeface="Arial" panose="020B0604020202020204" pitchFamily="34" charset="0"/>
              <a:buChar char="●"/>
            </a:pPr>
            <a:r>
              <a:rPr lang="pt-BR" sz="1200">
                <a:effectLst/>
                <a:latin typeface="Noto Sans"/>
                <a:ea typeface="Noto Sans"/>
                <a:cs typeface="Noto Sans"/>
              </a:rPr>
              <a:t>Na ação Bloquear, solicitar o motivo do bloqueio, informado manualmente pelo usuário </a:t>
            </a:r>
            <a:r>
              <a:rPr lang="pt-BR" sz="1200">
                <a:latin typeface="Noto Sans"/>
                <a:ea typeface="Noto Sans"/>
                <a:cs typeface="Noto Sans"/>
              </a:rPr>
              <a:t>através de seleção por match </a:t>
            </a:r>
            <a:r>
              <a:rPr lang="pt-BR" sz="1200" err="1">
                <a:latin typeface="Noto Sans"/>
                <a:ea typeface="Noto Sans"/>
                <a:cs typeface="Noto Sans"/>
              </a:rPr>
              <a:t>code</a:t>
            </a:r>
            <a:r>
              <a:rPr lang="pt-BR" sz="1200">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Gravar ou retirar o bloqueio no segmento de crédito 1000 de cada cliente selecionado, pelas classes standard do Controle de Crédito, e registrar a ação na tabela Z de log, com identificador único por registro.</a:t>
            </a:r>
          </a:p>
          <a:p>
            <a:pPr marL="342900" lvl="0" indent="-342900">
              <a:spcAft>
                <a:spcPts val="300"/>
              </a:spcAft>
              <a:buFont typeface="Arial" panose="020B0604020202020204" pitchFamily="34" charset="0"/>
              <a:buChar char="●"/>
            </a:pPr>
            <a:r>
              <a:rPr lang="pt-BR" sz="1200">
                <a:effectLst/>
                <a:latin typeface="Noto Sans"/>
                <a:ea typeface="Noto Sans"/>
                <a:cs typeface="Noto Sans"/>
              </a:rPr>
              <a:t>Processar cada cliente de forma independente e retornar a mensagem de sucesso ou erro por cliente: o erro em um cliente não impede a gravação dos demais.</a:t>
            </a:r>
          </a:p>
          <a:p>
            <a:pPr marL="342900" lvl="0" indent="-342900">
              <a:spcAft>
                <a:spcPts val="300"/>
              </a:spcAft>
              <a:buFont typeface="Arial" panose="020B0604020202020204" pitchFamily="34" charset="0"/>
              <a:buChar char="●"/>
            </a:pPr>
            <a:r>
              <a:rPr lang="pt-BR" sz="1200">
                <a:effectLst/>
                <a:latin typeface="Noto Sans"/>
                <a:ea typeface="Noto Sans"/>
                <a:cs typeface="Noto Sans"/>
              </a:rPr>
              <a:t>Permitir a navegação do cliente para os apps standard Administrar contas de crédito e Administrar itens de cliente, para consulta individual.</a:t>
            </a: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Frequência de utilização do GAP</a:t>
            </a:r>
            <a:endParaRPr lang="en-US" sz="1400" b="1">
              <a:latin typeface="Noto Sans"/>
              <a:ea typeface="Noto Sans"/>
              <a:cs typeface="Noto Sans"/>
            </a:endParaRPr>
          </a:p>
          <a:p>
            <a:pPr>
              <a:spcAft>
                <a:spcPts val="600"/>
              </a:spcAft>
            </a:pPr>
            <a:r>
              <a:rPr lang="pt-BR" sz="1200" err="1">
                <a:effectLst/>
                <a:latin typeface="Noto Sans"/>
                <a:ea typeface="Noto Sans"/>
                <a:cs typeface="Noto Sans"/>
              </a:rPr>
              <a:t>Job</a:t>
            </a:r>
            <a:r>
              <a:rPr lang="pt-BR" sz="1200">
                <a:effectLst/>
                <a:latin typeface="Noto Sans"/>
                <a:ea typeface="Noto Sans"/>
                <a:cs typeface="Noto Sans"/>
              </a:rPr>
              <a:t> executado diariamente em background às 02:00</a:t>
            </a:r>
            <a:r>
              <a:rPr lang="pt-BR" sz="1200">
                <a:latin typeface="Noto Sans"/>
                <a:ea typeface="Noto Sans"/>
                <a:cs typeface="Noto Sans"/>
              </a:rPr>
              <a:t>.</a:t>
            </a:r>
            <a:r>
              <a:rPr lang="pt-BR" sz="1200">
                <a:effectLst/>
                <a:latin typeface="Noto Sans"/>
                <a:ea typeface="Noto Sans"/>
                <a:cs typeface="Noto Sans"/>
              </a:rPr>
              <a:t> Como as baixas de títulos são feitas via API, os pagamentos recebidos até a execução já estão refletidos na lista. O app é utilizado uma vez ao dia pela equipe de Contas a Receber/Crédito, após a execução do </a:t>
            </a:r>
            <a:r>
              <a:rPr lang="pt-BR" sz="1200" err="1">
                <a:effectLst/>
                <a:latin typeface="Noto Sans"/>
                <a:ea typeface="Noto Sans"/>
                <a:cs typeface="Noto Sans"/>
              </a:rPr>
              <a:t>job</a:t>
            </a:r>
            <a:r>
              <a:rPr lang="pt-BR" sz="1200">
                <a:effectLst/>
                <a:latin typeface="Noto Sans"/>
                <a:ea typeface="Noto Sans"/>
                <a:cs typeface="Noto Sans"/>
              </a:rPr>
              <a:t>.</a:t>
            </a:r>
          </a:p>
        </p:txBody>
      </p:sp>
    </p:spTree>
    <p:extLst>
      <p:ext uri="{BB962C8B-B14F-4D97-AF65-F5344CB8AC3E}">
        <p14:creationId xmlns:p14="http://schemas.microsoft.com/office/powerpoint/2010/main" val="1862480825"/>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76900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442332" y="1423978"/>
            <a:ext cx="11122153" cy="4862870"/>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Detalhamento</a:t>
            </a:r>
            <a:r>
              <a:rPr lang="en-US" sz="1000" b="1">
                <a:solidFill>
                  <a:srgbClr val="000000"/>
                </a:solidFill>
                <a:latin typeface="Noto Sans"/>
                <a:ea typeface="Noto Sans"/>
                <a:cs typeface="Noto Sans"/>
              </a:rPr>
              <a:t> da </a:t>
            </a:r>
            <a:r>
              <a:rPr lang="en-US" sz="1000" b="1" err="1">
                <a:solidFill>
                  <a:srgbClr val="000000"/>
                </a:solidFill>
                <a:latin typeface="Noto Sans"/>
                <a:ea typeface="Noto Sans"/>
                <a:cs typeface="Noto Sans"/>
              </a:rPr>
              <a:t>implementação</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Programa ABAP (</a:t>
            </a:r>
            <a:r>
              <a:rPr lang="pt-BR" sz="1000" err="1">
                <a:latin typeface="Noto Sans"/>
                <a:ea typeface="Noto Sans"/>
                <a:cs typeface="Noto Sans"/>
              </a:rPr>
              <a:t>job</a:t>
            </a:r>
            <a:r>
              <a:rPr lang="pt-BR" sz="1000">
                <a:latin typeface="Noto Sans"/>
                <a:ea typeface="Noto Sans"/>
                <a:cs typeface="Noto Sans"/>
              </a:rPr>
              <a:t>) de identificação, agendado diariamente às 02:00 pelo app Programar </a:t>
            </a:r>
            <a:r>
              <a:rPr lang="pt-BR" sz="1000" err="1">
                <a:latin typeface="Noto Sans"/>
                <a:ea typeface="Noto Sans"/>
                <a:cs typeface="Noto Sans"/>
              </a:rPr>
              <a:t>jobs</a:t>
            </a:r>
            <a:r>
              <a:rPr lang="pt-BR" sz="1000">
                <a:latin typeface="Noto Sans"/>
                <a:ea typeface="Noto Sans"/>
                <a:cs typeface="Noto Sans"/>
              </a:rPr>
              <a:t> de aplicação, com execução em background.</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CDS </a:t>
            </a:r>
            <a:r>
              <a:rPr lang="pt-BR" sz="1000" err="1">
                <a:latin typeface="Noto Sans"/>
                <a:ea typeface="Noto Sans"/>
                <a:cs typeface="Noto Sans"/>
              </a:rPr>
              <a:t>View</a:t>
            </a:r>
            <a:r>
              <a:rPr lang="pt-BR" sz="1000">
                <a:latin typeface="Noto Sans"/>
                <a:ea typeface="Noto Sans"/>
                <a:cs typeface="Noto Sans"/>
              </a:rPr>
              <a:t> (Z) de apuração do saldo vencido por cliente, a partir das partidas em aberto de Contas a Receber (</a:t>
            </a:r>
            <a:r>
              <a:rPr lang="pt-BR" sz="1000" err="1">
                <a:latin typeface="Noto Sans"/>
                <a:ea typeface="Noto Sans"/>
                <a:cs typeface="Noto Sans"/>
              </a:rPr>
              <a:t>I_OperationalAcctgDocItem</a:t>
            </a:r>
            <a:r>
              <a:rPr lang="pt-BR" sz="1000">
                <a:latin typeface="Noto Sans"/>
                <a:ea typeface="Noto Sans"/>
                <a:cs typeface="Noto Sans"/>
              </a:rPr>
              <a:t>) e dos dados de crédito do Parceiro de Negócio (UKMBP_CMS e UKMBP_CMS_SGM), do segmento de atuação (BP001) e da hierarquia de crédito entre </a:t>
            </a:r>
            <a:r>
              <a:rPr lang="pt-BR" sz="1000" err="1">
                <a:latin typeface="Noto Sans"/>
                <a:ea typeface="Noto Sans"/>
                <a:cs typeface="Noto Sans"/>
              </a:rPr>
              <a:t>BPs</a:t>
            </a:r>
            <a:r>
              <a:rPr lang="pt-BR" sz="1000">
                <a:latin typeface="Noto Sans"/>
                <a:ea typeface="Noto Sans"/>
                <a:cs typeface="Noto Sans"/>
              </a:rPr>
              <a:t>.</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Tabela Z de lista de trabalho, com as propostas da última execução e o BP de origem dos clientes vinculados, e tabela Z de log de bloqueios e desbloqueios, para auditoria e reconhecimento dos bloqueios do app.</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App Fiori </a:t>
            </a:r>
            <a:r>
              <a:rPr lang="pt-BR" sz="1000" err="1">
                <a:latin typeface="Noto Sans"/>
                <a:ea typeface="Noto Sans"/>
                <a:cs typeface="Noto Sans"/>
              </a:rPr>
              <a:t>Elements</a:t>
            </a:r>
            <a:r>
              <a:rPr lang="pt-BR" sz="1000">
                <a:latin typeface="Noto Sans"/>
                <a:ea typeface="Noto Sans"/>
                <a:cs typeface="Noto Sans"/>
              </a:rPr>
              <a:t> (</a:t>
            </a:r>
            <a:r>
              <a:rPr lang="pt-BR" sz="1000" err="1">
                <a:latin typeface="Noto Sans"/>
                <a:ea typeface="Noto Sans"/>
                <a:cs typeface="Noto Sans"/>
              </a:rPr>
              <a:t>List</a:t>
            </a:r>
            <a:r>
              <a:rPr lang="pt-BR" sz="1000">
                <a:latin typeface="Noto Sans"/>
                <a:ea typeface="Noto Sans"/>
                <a:cs typeface="Noto Sans"/>
              </a:rPr>
              <a:t> Report) sobre CDS </a:t>
            </a:r>
            <a:r>
              <a:rPr lang="pt-BR" sz="1000" err="1">
                <a:latin typeface="Noto Sans"/>
                <a:ea typeface="Noto Sans"/>
                <a:cs typeface="Noto Sans"/>
              </a:rPr>
              <a:t>View</a:t>
            </a:r>
            <a:r>
              <a:rPr lang="pt-BR" sz="1000">
                <a:latin typeface="Noto Sans"/>
                <a:ea typeface="Noto Sans"/>
                <a:cs typeface="Noto Sans"/>
              </a:rPr>
              <a:t> com anotações de UI e comportamento RAP, com as ações Bloquear (parâmetro Motivo) e Desbloquear.</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Gravação do bloqueio e do motivo pelas classes standard do SAP </a:t>
            </a:r>
            <a:r>
              <a:rPr lang="pt-BR" sz="1000" err="1">
                <a:latin typeface="Noto Sans"/>
                <a:ea typeface="Noto Sans"/>
                <a:cs typeface="Noto Sans"/>
              </a:rPr>
              <a:t>Credit</a:t>
            </a:r>
            <a:r>
              <a:rPr lang="pt-BR" sz="1000">
                <a:latin typeface="Noto Sans"/>
                <a:ea typeface="Noto Sans"/>
                <a:cs typeface="Noto Sans"/>
              </a:rPr>
              <a:t> Management, sem atualização direta de tabela, para que seja gerado o histórico de alterações standard lido pelo DEL-COM-051: CL_UKM_BUPA_FACTORY (GET_CREDIT_ACCOUNT e SAVE_ALL) e CL_UKM_ACCOUNT (SET_BLOCK ou GET_BP_CMS_SGM / SET_BP_CMS_SGM). </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Detalhamento</a:t>
            </a:r>
            <a:r>
              <a:rPr lang="en-US" sz="1000" b="1">
                <a:solidFill>
                  <a:srgbClr val="000000"/>
                </a:solidFill>
                <a:latin typeface="Noto Sans"/>
                <a:ea typeface="Noto Sans"/>
                <a:cs typeface="Noto Sans"/>
              </a:rPr>
              <a:t> da </a:t>
            </a:r>
            <a:r>
              <a:rPr lang="en-US" sz="1000" b="1" err="1">
                <a:solidFill>
                  <a:srgbClr val="000000"/>
                </a:solidFill>
                <a:latin typeface="Noto Sans"/>
                <a:ea typeface="Noto Sans"/>
                <a:cs typeface="Noto Sans"/>
              </a:rPr>
              <a:t>Tabela</a:t>
            </a:r>
            <a:r>
              <a:rPr lang="en-US" sz="1000" b="1">
                <a:solidFill>
                  <a:srgbClr val="000000"/>
                </a:solidFill>
                <a:latin typeface="Noto Sans"/>
                <a:ea typeface="Noto Sans"/>
                <a:cs typeface="Noto Sans"/>
              </a:rPr>
              <a:t>/APP/STVARV de </a:t>
            </a:r>
            <a:r>
              <a:rPr lang="en-US" sz="1000" b="1" err="1">
                <a:solidFill>
                  <a:srgbClr val="000000"/>
                </a:solidFill>
                <a:latin typeface="Noto Sans"/>
                <a:ea typeface="Noto Sans"/>
                <a:cs typeface="Noto Sans"/>
              </a:rPr>
              <a:t>Parâmetros</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A régua de bloqueio é fixa no código, conforme o BPDD. Recomenda-se manter em parâmetro (APP Tabele de parâmetros) apenas a relação entre classe de risco e perfil (à vista / a prazo) e as classes excluídas da avaliação (ex.: 5 – CVH Interna), para que a criação ou exclusão de uma classe não exija alteração de programa.</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a:solidFill>
                  <a:srgbClr val="000000"/>
                </a:solidFill>
                <a:latin typeface="Noto Sans"/>
                <a:ea typeface="Noto Sans"/>
                <a:cs typeface="Noto Sans"/>
              </a:rPr>
              <a:t>Dados </a:t>
            </a:r>
            <a:r>
              <a:rPr lang="en-US" sz="1000" b="1" err="1">
                <a:solidFill>
                  <a:srgbClr val="000000"/>
                </a:solidFill>
                <a:latin typeface="Noto Sans"/>
                <a:ea typeface="Noto Sans"/>
                <a:cs typeface="Noto Sans"/>
              </a:rPr>
              <a:t>referentes</a:t>
            </a:r>
            <a:r>
              <a:rPr lang="en-US" sz="1000" b="1">
                <a:solidFill>
                  <a:srgbClr val="000000"/>
                </a:solidFill>
                <a:latin typeface="Noto Sans"/>
                <a:ea typeface="Noto Sans"/>
                <a:cs typeface="Noto Sans"/>
              </a:rPr>
              <a:t> a </a:t>
            </a:r>
            <a:r>
              <a:rPr lang="en-US" sz="1000" b="1" err="1">
                <a:solidFill>
                  <a:srgbClr val="000000"/>
                </a:solidFill>
                <a:latin typeface="Noto Sans"/>
                <a:ea typeface="Noto Sans"/>
                <a:cs typeface="Noto Sans"/>
              </a:rPr>
              <a:t>liberação</a:t>
            </a:r>
            <a:r>
              <a:rPr lang="en-US" sz="1000" b="1">
                <a:solidFill>
                  <a:srgbClr val="000000"/>
                </a:solidFill>
                <a:latin typeface="Noto Sans"/>
                <a:ea typeface="Noto Sans"/>
                <a:cs typeface="Noto Sans"/>
              </a:rPr>
              <a:t> do GAP </a:t>
            </a:r>
            <a:r>
              <a:rPr lang="en-US" sz="1000" b="1" err="1">
                <a:solidFill>
                  <a:srgbClr val="000000"/>
                </a:solidFill>
                <a:latin typeface="Noto Sans"/>
                <a:ea typeface="Noto Sans"/>
                <a:cs typeface="Noto Sans"/>
              </a:rPr>
              <a:t>em</a:t>
            </a:r>
            <a:r>
              <a:rPr lang="en-US" sz="1000" b="1">
                <a:solidFill>
                  <a:srgbClr val="000000"/>
                </a:solidFill>
                <a:latin typeface="Noto Sans"/>
                <a:ea typeface="Noto Sans"/>
                <a:cs typeface="Noto Sans"/>
              </a:rPr>
              <a:t> APP Fiori</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Nome do aplicativo: Bloquear/Desbloquear Clientes Inadimplentes.</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Catálogo/Grupo Fiori: Contas a Receber / Gestão de Crédito, incluído no </a:t>
            </a:r>
            <a:r>
              <a:rPr lang="pt-BR" sz="1000" err="1">
                <a:latin typeface="Noto Sans"/>
                <a:ea typeface="Noto Sans"/>
                <a:cs typeface="Noto Sans"/>
              </a:rPr>
              <a:t>Launchpad</a:t>
            </a:r>
            <a:r>
              <a:rPr lang="pt-BR" sz="1000">
                <a:latin typeface="Noto Sans"/>
                <a:ea typeface="Noto Sans"/>
                <a:cs typeface="Noto Sans"/>
              </a:rPr>
              <a:t> dos perfis de Contas a Receber e Crédito.</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Telas previstas: (1) lista de clientes com filtros, seleção múltipla e ações; (2) diálogo padrão da ação Bloquear com o motivo. O detalhe do cliente é consultado nos apps standard, por navegação.</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Objetos</a:t>
            </a:r>
            <a:r>
              <a:rPr lang="en-US" sz="1000" b="1">
                <a:solidFill>
                  <a:srgbClr val="000000"/>
                </a:solidFill>
                <a:latin typeface="Noto Sans"/>
                <a:ea typeface="Noto Sans"/>
                <a:cs typeface="Noto Sans"/>
              </a:rPr>
              <a:t> de </a:t>
            </a:r>
            <a:r>
              <a:rPr lang="en-US" sz="1000" b="1" err="1">
                <a:solidFill>
                  <a:srgbClr val="000000"/>
                </a:solidFill>
                <a:latin typeface="Noto Sans"/>
                <a:ea typeface="Noto Sans"/>
                <a:cs typeface="Noto Sans"/>
              </a:rPr>
              <a:t>autorização</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Objeto de autorização customizado (ex.: Z_FI_BLOQ) com os campos Empresa (BUKRS), Segmento de crédito e Atividade (Exibir / Bloquear / Desbloquear). O mesmo perfil executa bloqueio e desbloqueio, conforme definido com o negócio. Role PFCG dedicada ao app, derivada dos perfis SAP_BR_AR_MANAGER e SAP_BR_CREDIT_CONTROLLER.</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Frequência</a:t>
            </a:r>
            <a:r>
              <a:rPr lang="en-US" sz="1000" b="1">
                <a:solidFill>
                  <a:srgbClr val="000000"/>
                </a:solidFill>
                <a:latin typeface="Noto Sans"/>
                <a:ea typeface="Noto Sans"/>
                <a:cs typeface="Noto Sans"/>
              </a:rPr>
              <a:t> e volume</a:t>
            </a:r>
            <a:endParaRPr lang="en-US" sz="1000">
              <a:latin typeface="Calibri"/>
              <a:ea typeface="Calibri"/>
              <a:cs typeface="Calibri"/>
            </a:endParaRPr>
          </a:p>
          <a:p>
            <a:pPr>
              <a:spcAft>
                <a:spcPts val="300"/>
              </a:spcAft>
              <a:tabLst>
                <a:tab pos="450215" algn="l"/>
              </a:tabLst>
            </a:pPr>
            <a:r>
              <a:rPr lang="pt-BR" sz="1000" err="1">
                <a:latin typeface="Noto Sans"/>
                <a:ea typeface="Noto Sans"/>
                <a:cs typeface="Noto Sans"/>
              </a:rPr>
              <a:t>Job</a:t>
            </a:r>
            <a:r>
              <a:rPr lang="pt-BR" sz="1000">
                <a:latin typeface="Noto Sans"/>
                <a:ea typeface="Noto Sans"/>
                <a:cs typeface="Noto Sans"/>
              </a:rPr>
              <a:t> diário às 02:00, avaliando a base de clientes com função de crédito no segmento 1000, exceto a classe 5. O volume de propostas acompanha o nível de inadimplência da carteira.</a:t>
            </a:r>
            <a:endParaRPr lang="en-US" sz="1000">
              <a:latin typeface="Noto Sans"/>
              <a:ea typeface="Noto Sans"/>
              <a:cs typeface="Noto Sans"/>
            </a:endParaRPr>
          </a:p>
        </p:txBody>
      </p:sp>
    </p:spTree>
    <p:extLst>
      <p:ext uri="{BB962C8B-B14F-4D97-AF65-F5344CB8AC3E}">
        <p14:creationId xmlns:p14="http://schemas.microsoft.com/office/powerpoint/2010/main" val="598936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panose="020B0502040504020204" pitchFamily="34" charset="0"/>
                <a:ea typeface="Noto Sans" panose="020B0502040504020204" pitchFamily="34" charset="0"/>
                <a:cs typeface="Noto Sans" panose="020B0502040504020204" pitchFamily="34" charset="0"/>
              </a:rPr>
              <a:t>Classificação por classe de risco (UKMBP_CMS-RISK_CLASS) e régua aplicada</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8" name="Tabela 7">
            <a:extLst>
              <a:ext uri="{FF2B5EF4-FFF2-40B4-BE49-F238E27FC236}">
                <a16:creationId xmlns:a16="http://schemas.microsoft.com/office/drawing/2014/main" id="{B220E37F-15FC-ED89-E644-CE0698DED536}"/>
              </a:ext>
            </a:extLst>
          </p:cNvPr>
          <p:cNvGraphicFramePr>
            <a:graphicFrameLocks noGrp="1"/>
          </p:cNvGraphicFramePr>
          <p:nvPr>
            <p:extLst>
              <p:ext uri="{D42A27DB-BD31-4B8C-83A1-F6EECF244321}">
                <p14:modId xmlns:p14="http://schemas.microsoft.com/office/powerpoint/2010/main" val="2442137944"/>
              </p:ext>
            </p:extLst>
          </p:nvPr>
        </p:nvGraphicFramePr>
        <p:xfrm>
          <a:off x="1181100" y="1960491"/>
          <a:ext cx="8778240" cy="1483360"/>
        </p:xfrm>
        <a:graphic>
          <a:graphicData uri="http://schemas.openxmlformats.org/drawingml/2006/table">
            <a:tbl>
              <a:tblPr firstRow="1" bandRow="1">
                <a:tableStyleId>{21E4AEA4-8DFA-4A89-87EB-49C32662AFE0}</a:tableStyleId>
              </a:tblPr>
              <a:tblGrid>
                <a:gridCol w="1463040">
                  <a:extLst>
                    <a:ext uri="{9D8B030D-6E8A-4147-A177-3AD203B41FA5}">
                      <a16:colId xmlns:a16="http://schemas.microsoft.com/office/drawing/2014/main" val="696365016"/>
                    </a:ext>
                  </a:extLst>
                </a:gridCol>
                <a:gridCol w="2194560">
                  <a:extLst>
                    <a:ext uri="{9D8B030D-6E8A-4147-A177-3AD203B41FA5}">
                      <a16:colId xmlns:a16="http://schemas.microsoft.com/office/drawing/2014/main" val="1355983214"/>
                    </a:ext>
                  </a:extLst>
                </a:gridCol>
                <a:gridCol w="5120640">
                  <a:extLst>
                    <a:ext uri="{9D8B030D-6E8A-4147-A177-3AD203B41FA5}">
                      <a16:colId xmlns:a16="http://schemas.microsoft.com/office/drawing/2014/main" val="2515496978"/>
                    </a:ext>
                  </a:extLst>
                </a:gridCol>
              </a:tblGrid>
              <a:tr h="370840">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Classe de risco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Descrição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Régua aplicada</a:t>
                      </a:r>
                    </a:p>
                  </a:txBody>
                  <a:tcPr/>
                </a:tc>
                <a:extLst>
                  <a:ext uri="{0D108BD9-81ED-4DB2-BD59-A6C34878D82A}">
                    <a16:rowId xmlns:a16="http://schemas.microsoft.com/office/drawing/2014/main" val="1766924666"/>
                  </a:ext>
                </a:extLst>
              </a:tr>
              <a:tr h="370840">
                <a:tc>
                  <a:txBody>
                    <a:bodyPr/>
                    <a:lstStyle/>
                    <a:p>
                      <a:r>
                        <a:rPr lang="pt-BR" sz="900" b="0">
                          <a:latin typeface="Noto Sans"/>
                          <a:ea typeface="Noto Sans"/>
                          <a:cs typeface="Noto Sans"/>
                        </a:rPr>
                        <a:t>1A</a:t>
                      </a:r>
                      <a:endParaRPr lang="pt-BR" sz="900" b="0">
                        <a:latin typeface="Noto Sans" panose="020B0502040504020204" pitchFamily="34" charset="0"/>
                        <a:ea typeface="Noto Sans" panose="020B0502040504020204" pitchFamily="34" charset="0"/>
                        <a:cs typeface="Noto Sans" panose="020B0502040504020204" pitchFamily="34" charset="0"/>
                      </a:endParaRPr>
                    </a:p>
                  </a:txBody>
                  <a:tcPr anchor="ctr"/>
                </a:tc>
                <a:tc>
                  <a:txBody>
                    <a:bodyPr/>
                    <a:lstStyle/>
                    <a:p>
                      <a:r>
                        <a:rPr lang="pt-BR" sz="900">
                          <a:latin typeface="Noto Sans"/>
                          <a:ea typeface="Noto Sans"/>
                          <a:cs typeface="Noto Sans"/>
                        </a:rPr>
                        <a:t>A VISTA </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À vista – qualquer valor vencido há 1 dia ou mais</a:t>
                      </a:r>
                    </a:p>
                  </a:txBody>
                  <a:tcPr anchor="ctr"/>
                </a:tc>
                <a:extLst>
                  <a:ext uri="{0D108BD9-81ED-4DB2-BD59-A6C34878D82A}">
                    <a16:rowId xmlns:a16="http://schemas.microsoft.com/office/drawing/2014/main" val="4192868215"/>
                  </a:ext>
                </a:extLst>
              </a:tr>
              <a:tr h="37084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2A</a:t>
                      </a:r>
                    </a:p>
                  </a:txBody>
                  <a:tcPr anchor="ctr"/>
                </a:tc>
                <a:tc>
                  <a:txBody>
                    <a:bodyPr/>
                    <a:lstStyle/>
                    <a:p>
                      <a:r>
                        <a:rPr lang="pt-BR" sz="900">
                          <a:latin typeface="Noto Sans"/>
                          <a:ea typeface="Noto Sans"/>
                          <a:cs typeface="Noto Sans"/>
                        </a:rPr>
                        <a:t>A PRAZO </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A prazo – a partir de R$ 500,01 vencido há 1 dia ou mais</a:t>
                      </a:r>
                    </a:p>
                  </a:txBody>
                  <a:tcPr anchor="ctr"/>
                </a:tc>
                <a:extLst>
                  <a:ext uri="{0D108BD9-81ED-4DB2-BD59-A6C34878D82A}">
                    <a16:rowId xmlns:a16="http://schemas.microsoft.com/office/drawing/2014/main" val="1667301520"/>
                  </a:ext>
                </a:extLst>
              </a:tr>
              <a:tr h="37084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5</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CVH - INTERNA</a:t>
                      </a:r>
                    </a:p>
                  </a:txBody>
                  <a:tcPr anchor="ctr"/>
                </a:tc>
                <a:tc>
                  <a:txBody>
                    <a:bodyPr/>
                    <a:lstStyle/>
                    <a:p>
                      <a:r>
                        <a:rPr lang="pt-BR" sz="900">
                          <a:latin typeface="Noto Sans"/>
                          <a:ea typeface="Noto Sans"/>
                          <a:cs typeface="Noto Sans"/>
                        </a:rPr>
                        <a:t>Não avaliada – excluída do </a:t>
                      </a:r>
                      <a:r>
                        <a:rPr lang="pt-BR" sz="900" err="1">
                          <a:latin typeface="Noto Sans"/>
                          <a:ea typeface="Noto Sans"/>
                          <a:cs typeface="Noto Sans"/>
                        </a:rPr>
                        <a:t>job</a:t>
                      </a:r>
                      <a:r>
                        <a:rPr lang="pt-BR" sz="900">
                          <a:latin typeface="Noto Sans"/>
                          <a:ea typeface="Noto Sans"/>
                          <a:cs typeface="Noto Sans"/>
                        </a:rPr>
                        <a:t> e do app (PR-07)</a:t>
                      </a:r>
                    </a:p>
                  </a:txBody>
                  <a:tcPr anchor="ctr"/>
                </a:tc>
                <a:extLst>
                  <a:ext uri="{0D108BD9-81ED-4DB2-BD59-A6C34878D82A}">
                    <a16:rowId xmlns:a16="http://schemas.microsoft.com/office/drawing/2014/main" val="358163393"/>
                  </a:ext>
                </a:extLst>
              </a:tr>
            </a:tbl>
          </a:graphicData>
        </a:graphic>
      </p:graphicFrame>
    </p:spTree>
    <p:extLst>
      <p:ext uri="{BB962C8B-B14F-4D97-AF65-F5344CB8AC3E}">
        <p14:creationId xmlns:p14="http://schemas.microsoft.com/office/powerpoint/2010/main" val="7684266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panose="020B0502040504020204" pitchFamily="34" charset="0"/>
                <a:ea typeface="Noto Sans" panose="020B0502040504020204" pitchFamily="34" charset="0"/>
                <a:cs typeface="Noto Sans" panose="020B0502040504020204" pitchFamily="34" charset="0"/>
              </a:rPr>
              <a:t>Fontes de dados utilizadas pelo job</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8" name="Tabela 7">
            <a:extLst>
              <a:ext uri="{FF2B5EF4-FFF2-40B4-BE49-F238E27FC236}">
                <a16:creationId xmlns:a16="http://schemas.microsoft.com/office/drawing/2014/main" id="{B220E37F-15FC-ED89-E644-CE0698DED536}"/>
              </a:ext>
            </a:extLst>
          </p:cNvPr>
          <p:cNvGraphicFramePr>
            <a:graphicFrameLocks noGrp="1"/>
          </p:cNvGraphicFramePr>
          <p:nvPr>
            <p:extLst>
              <p:ext uri="{D42A27DB-BD31-4B8C-83A1-F6EECF244321}">
                <p14:modId xmlns:p14="http://schemas.microsoft.com/office/powerpoint/2010/main" val="2814140990"/>
              </p:ext>
            </p:extLst>
          </p:nvPr>
        </p:nvGraphicFramePr>
        <p:xfrm>
          <a:off x="1181100" y="1960491"/>
          <a:ext cx="8127999" cy="3571240"/>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696365016"/>
                    </a:ext>
                  </a:extLst>
                </a:gridCol>
                <a:gridCol w="2709333">
                  <a:extLst>
                    <a:ext uri="{9D8B030D-6E8A-4147-A177-3AD203B41FA5}">
                      <a16:colId xmlns:a16="http://schemas.microsoft.com/office/drawing/2014/main" val="1355983214"/>
                    </a:ext>
                  </a:extLst>
                </a:gridCol>
                <a:gridCol w="2709333">
                  <a:extLst>
                    <a:ext uri="{9D8B030D-6E8A-4147-A177-3AD203B41FA5}">
                      <a16:colId xmlns:a16="http://schemas.microsoft.com/office/drawing/2014/main" val="2515496978"/>
                    </a:ext>
                  </a:extLst>
                </a:gridCol>
              </a:tblGrid>
              <a:tr h="370840">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Objeto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Campo de negócio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Campo técnico</a:t>
                      </a:r>
                    </a:p>
                  </a:txBody>
                  <a:tcPr/>
                </a:tc>
                <a:extLst>
                  <a:ext uri="{0D108BD9-81ED-4DB2-BD59-A6C34878D82A}">
                    <a16:rowId xmlns:a16="http://schemas.microsoft.com/office/drawing/2014/main" val="1766924666"/>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Função de crédito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BUT100-RLTYP = UKM000</a:t>
                      </a:r>
                    </a:p>
                  </a:txBody>
                  <a:tcPr anchor="ctr"/>
                </a:tc>
                <a:extLst>
                  <a:ext uri="{0D108BD9-81ED-4DB2-BD59-A6C34878D82A}">
                    <a16:rowId xmlns:a16="http://schemas.microsoft.com/office/drawing/2014/main" val="504666693"/>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dados gerais</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Classe de risco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UKMBP_CMS-RISK_CLASS</a:t>
                      </a:r>
                    </a:p>
                  </a:txBody>
                  <a:tcPr anchor="ctr"/>
                </a:tc>
                <a:extLst>
                  <a:ext uri="{0D108BD9-81ED-4DB2-BD59-A6C34878D82A}">
                    <a16:rowId xmlns:a16="http://schemas.microsoft.com/office/drawing/2014/main" val="45626744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Segmento de atuação (característica de agrupamento)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BP001-GROUP_FEATURE</a:t>
                      </a:r>
                    </a:p>
                  </a:txBody>
                  <a:tcPr anchor="ctr"/>
                </a:tc>
                <a:extLst>
                  <a:ext uri="{0D108BD9-81ED-4DB2-BD59-A6C34878D82A}">
                    <a16:rowId xmlns:a16="http://schemas.microsoft.com/office/drawing/2014/main" val="67843892"/>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Hierarquia de crédito (BP principal / vinculados)</a:t>
                      </a:r>
                    </a:p>
                  </a:txBody>
                  <a:tcPr anchor="ctr"/>
                </a:tc>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BUT050-RELTYP = </a:t>
                      </a:r>
                      <a:r>
                        <a:rPr lang="pt-BR" sz="900" b="0" i="0" kern="1200">
                          <a:solidFill>
                            <a:schemeClr val="dk1"/>
                          </a:solidFill>
                          <a:effectLst/>
                          <a:latin typeface="Noto Sans" panose="020B0502040504020204" pitchFamily="34" charset="0"/>
                          <a:ea typeface="Noto Sans" panose="020B0502040504020204" pitchFamily="34" charset="0"/>
                          <a:cs typeface="Noto Sans" panose="020B0502040504020204" pitchFamily="34" charset="0"/>
                        </a:rPr>
                        <a:t>FUKM001 / TUKM001</a:t>
                      </a:r>
                      <a:endParaRPr lang="pt-BR" sz="900" b="0">
                        <a:latin typeface="Noto Sans" panose="020B0502040504020204" pitchFamily="34" charset="0"/>
                        <a:ea typeface="Noto Sans" panose="020B0502040504020204" pitchFamily="34" charset="0"/>
                        <a:cs typeface="Noto Sans" panose="020B0502040504020204" pitchFamily="34" charset="0"/>
                      </a:endParaRPr>
                    </a:p>
                  </a:txBody>
                  <a:tcPr anchor="ctr"/>
                </a:tc>
                <a:extLst>
                  <a:ext uri="{0D108BD9-81ED-4DB2-BD59-A6C34878D82A}">
                    <a16:rowId xmlns:a16="http://schemas.microsoft.com/office/drawing/2014/main" val="22418369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Segmento de crédito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UKMBP_CMS_SGM-CREDIT_SGMNT</a:t>
                      </a:r>
                    </a:p>
                  </a:txBody>
                  <a:tcPr anchor="ctr"/>
                </a:tc>
                <a:extLst>
                  <a:ext uri="{0D108BD9-81ED-4DB2-BD59-A6C34878D82A}">
                    <a16:rowId xmlns:a16="http://schemas.microsoft.com/office/drawing/2014/main" val="1475219626"/>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Indicador de bloqueio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UKMBP_CMS_SGM-XBLOCKED</a:t>
                      </a:r>
                    </a:p>
                  </a:txBody>
                  <a:tcPr anchor="ctr"/>
                </a:tc>
                <a:extLst>
                  <a:ext uri="{0D108BD9-81ED-4DB2-BD59-A6C34878D82A}">
                    <a16:rowId xmlns:a16="http://schemas.microsoft.com/office/drawing/2014/main" val="343384132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Motivo do bloqueio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UKMBP_CMS_SGM-BLOCK_REASON</a:t>
                      </a:r>
                    </a:p>
                  </a:txBody>
                  <a:tcPr anchor="ctr"/>
                </a:tc>
                <a:extLst>
                  <a:ext uri="{0D108BD9-81ED-4DB2-BD59-A6C34878D82A}">
                    <a16:rowId xmlns:a16="http://schemas.microsoft.com/office/drawing/2014/main" val="2289258151"/>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Empresa / Cliente</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CompanyCode / Customer</a:t>
                      </a:r>
                    </a:p>
                  </a:txBody>
                  <a:tcPr anchor="ctr"/>
                </a:tc>
                <a:extLst>
                  <a:ext uri="{0D108BD9-81ED-4DB2-BD59-A6C34878D82A}">
                    <a16:rowId xmlns:a16="http://schemas.microsoft.com/office/drawing/2014/main" val="3880800497"/>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Vencimento líquido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NetDueDate</a:t>
                      </a:r>
                    </a:p>
                  </a:txBody>
                  <a:tcPr anchor="ctr"/>
                </a:tc>
                <a:extLst>
                  <a:ext uri="{0D108BD9-81ED-4DB2-BD59-A6C34878D82A}">
                    <a16:rowId xmlns:a16="http://schemas.microsoft.com/office/drawing/2014/main" val="697935609"/>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Montante em moeda interna</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AmountInCompanyCodeCurrency</a:t>
                      </a:r>
                    </a:p>
                  </a:txBody>
                  <a:tcPr anchor="ctr"/>
                </a:tc>
                <a:extLst>
                  <a:ext uri="{0D108BD9-81ED-4DB2-BD59-A6C34878D82A}">
                    <a16:rowId xmlns:a16="http://schemas.microsoft.com/office/drawing/2014/main" val="4226293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Código de razão especial</a:t>
                      </a:r>
                    </a:p>
                  </a:txBody>
                  <a:tcPr anchor="ctr"/>
                </a:tc>
                <a:tc>
                  <a:txBody>
                    <a:bodyPr/>
                    <a:lstStyle/>
                    <a:p>
                      <a:r>
                        <a:rPr lang="pt-BR" sz="900" err="1">
                          <a:latin typeface="Noto Sans" panose="020B0502040504020204" pitchFamily="34" charset="0"/>
                          <a:ea typeface="Noto Sans" panose="020B0502040504020204" pitchFamily="34" charset="0"/>
                          <a:cs typeface="Noto Sans" panose="020B0502040504020204" pitchFamily="34" charset="0"/>
                        </a:rPr>
                        <a:t>SpecialGLCode</a:t>
                      </a:r>
                      <a:endParaRPr lang="pt-BR" sz="900">
                        <a:latin typeface="Noto Sans" panose="020B0502040504020204" pitchFamily="34" charset="0"/>
                        <a:ea typeface="Noto Sans" panose="020B0502040504020204" pitchFamily="34" charset="0"/>
                        <a:cs typeface="Noto Sans" panose="020B0502040504020204" pitchFamily="34" charset="0"/>
                      </a:endParaRPr>
                    </a:p>
                  </a:txBody>
                  <a:tcPr anchor="ctr"/>
                </a:tc>
                <a:extLst>
                  <a:ext uri="{0D108BD9-81ED-4DB2-BD59-A6C34878D82A}">
                    <a16:rowId xmlns:a16="http://schemas.microsoft.com/office/drawing/2014/main" val="2033026946"/>
                  </a:ext>
                </a:extLst>
              </a:tr>
            </a:tbl>
          </a:graphicData>
        </a:graphic>
      </p:graphicFrame>
      <p:sp>
        <p:nvSpPr>
          <p:cNvPr id="3" name="CaixaDeTexto 2">
            <a:extLst>
              <a:ext uri="{FF2B5EF4-FFF2-40B4-BE49-F238E27FC236}">
                <a16:creationId xmlns:a16="http://schemas.microsoft.com/office/drawing/2014/main" id="{E5F510E2-0EE4-8BD3-49C2-A34C230475FA}"/>
              </a:ext>
            </a:extLst>
          </p:cNvPr>
          <p:cNvSpPr txBox="1"/>
          <p:nvPr/>
        </p:nvSpPr>
        <p:spPr>
          <a:xfrm>
            <a:off x="1116331" y="5531731"/>
            <a:ext cx="8127999" cy="548640"/>
          </a:xfrm>
          <a:prstGeom prst="rect">
            <a:avLst/>
          </a:prstGeom>
          <a:noFill/>
        </p:spPr>
        <p:txBody>
          <a:bodyPr wrap="square" rtlCol="0">
            <a:spAutoFit/>
          </a:bodyPr>
          <a:lstStyle/>
          <a:p>
            <a:pPr>
              <a:spcAft>
                <a:spcPts val="300"/>
              </a:spcAft>
              <a:tabLst>
                <a:tab pos="450215" algn="l"/>
              </a:tabLst>
            </a:pPr>
            <a:r>
              <a:rPr lang="pt-BR" sz="900">
                <a:latin typeface="Noto Sans"/>
                <a:ea typeface="Noto Sans"/>
                <a:cs typeface="Noto Sans"/>
              </a:rPr>
              <a:t>*Campos de Contas a Receber da CDS standard I_OperationalAcctgDocItem, considerando somente partidas em aberto.</a:t>
            </a:r>
            <a:endParaRPr lang="en-US" sz="900">
              <a:latin typeface="Noto Sans"/>
              <a:ea typeface="Noto Sans"/>
              <a:cs typeface="Noto Sans"/>
            </a:endParaRPr>
          </a:p>
        </p:txBody>
      </p:sp>
    </p:spTree>
    <p:extLst>
      <p:ext uri="{BB962C8B-B14F-4D97-AF65-F5344CB8AC3E}">
        <p14:creationId xmlns:p14="http://schemas.microsoft.com/office/powerpoint/2010/main" val="3724577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769891"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a:cs typeface="Noto Sans"/>
              </a:rPr>
              <a:t>Estratégia de Desenvolvimento</a:t>
            </a:r>
          </a:p>
          <a:p>
            <a:r>
              <a:rPr lang="pt-BR" sz="3200" b="1">
                <a:solidFill>
                  <a:srgbClr val="E7640A"/>
                </a:solidFill>
                <a:latin typeface="Noto Sans"/>
                <a:cs typeface="Noto Sans"/>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a:ea typeface="Noto Sans"/>
                <a:cs typeface="Noto Sans"/>
              </a:rPr>
              <a:t>Estrutura sugerida da tabela Z de log (ex.: ZTFI_R2R009_LOG)</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D9AF27B5-758E-2010-1B27-27005A91418A}"/>
              </a:ext>
            </a:extLst>
          </p:cNvPr>
          <p:cNvGraphicFramePr>
            <a:graphicFrameLocks noGrp="1"/>
          </p:cNvGraphicFramePr>
          <p:nvPr>
            <p:extLst>
              <p:ext uri="{D42A27DB-BD31-4B8C-83A1-F6EECF244321}">
                <p14:modId xmlns:p14="http://schemas.microsoft.com/office/powerpoint/2010/main" val="3335747858"/>
              </p:ext>
            </p:extLst>
          </p:nvPr>
        </p:nvGraphicFramePr>
        <p:xfrm>
          <a:off x="1257300" y="1772436"/>
          <a:ext cx="9966960" cy="3662680"/>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4103755738"/>
                    </a:ext>
                  </a:extLst>
                </a:gridCol>
                <a:gridCol w="2651760">
                  <a:extLst>
                    <a:ext uri="{9D8B030D-6E8A-4147-A177-3AD203B41FA5}">
                      <a16:colId xmlns:a16="http://schemas.microsoft.com/office/drawing/2014/main" val="3811946264"/>
                    </a:ext>
                  </a:extLst>
                </a:gridCol>
                <a:gridCol w="1645920">
                  <a:extLst>
                    <a:ext uri="{9D8B030D-6E8A-4147-A177-3AD203B41FA5}">
                      <a16:colId xmlns:a16="http://schemas.microsoft.com/office/drawing/2014/main" val="3609932601"/>
                    </a:ext>
                  </a:extLst>
                </a:gridCol>
                <a:gridCol w="3840480">
                  <a:extLst>
                    <a:ext uri="{9D8B030D-6E8A-4147-A177-3AD203B41FA5}">
                      <a16:colId xmlns:a16="http://schemas.microsoft.com/office/drawing/2014/main" val="4186175836"/>
                    </a:ext>
                  </a:extLst>
                </a:gridCol>
              </a:tblGrid>
              <a:tr h="370840">
                <a:tc>
                  <a:txBody>
                    <a:bodyPr/>
                    <a:lstStyle/>
                    <a:p>
                      <a:r>
                        <a:rPr lang="pt-BR" sz="1100">
                          <a:latin typeface="Noto Sans"/>
                          <a:ea typeface="Noto Sans"/>
                          <a:cs typeface="Noto Sans"/>
                        </a:rPr>
                        <a:t>Campo</a:t>
                      </a:r>
                    </a:p>
                  </a:txBody>
                  <a:tcPr anchor="ctr"/>
                </a:tc>
                <a:tc>
                  <a:txBody>
                    <a:bodyPr/>
                    <a:lstStyle/>
                    <a:p>
                      <a:pPr lvl="0">
                        <a:buNone/>
                      </a:pPr>
                      <a:r>
                        <a:rPr lang="pt-BR" sz="1100">
                          <a:latin typeface="Noto Sans"/>
                          <a:ea typeface="Noto Sans"/>
                          <a:cs typeface="Noto Sans"/>
                        </a:rPr>
                        <a:t>Campo técnico (sugerido)</a:t>
                      </a:r>
                    </a:p>
                  </a:txBody>
                  <a:tcPr anchor="ctr"/>
                </a:tc>
                <a:tc>
                  <a:txBody>
                    <a:bodyPr/>
                    <a:lstStyle/>
                    <a:p>
                      <a:r>
                        <a:rPr lang="pt-BR" sz="1100">
                          <a:latin typeface="Noto Sans"/>
                          <a:ea typeface="Noto Sans"/>
                          <a:cs typeface="Noto Sans"/>
                        </a:rPr>
                        <a:t>Origem</a:t>
                      </a:r>
                    </a:p>
                  </a:txBody>
                  <a:tcPr anchor="ctr"/>
                </a:tc>
                <a:tc>
                  <a:txBody>
                    <a:bodyPr/>
                    <a:lstStyle/>
                    <a:p>
                      <a:r>
                        <a:rPr lang="pt-BR" sz="1100">
                          <a:latin typeface="Noto Sans"/>
                          <a:ea typeface="Noto Sans"/>
                          <a:cs typeface="Noto Sans"/>
                        </a:rPr>
                        <a:t>Observação</a:t>
                      </a:r>
                    </a:p>
                  </a:txBody>
                  <a:tcPr anchor="ctr"/>
                </a:tc>
                <a:extLst>
                  <a:ext uri="{0D108BD9-81ED-4DB2-BD59-A6C34878D82A}">
                    <a16:rowId xmlns:a16="http://schemas.microsoft.com/office/drawing/2014/main" val="4066447365"/>
                  </a:ext>
                </a:extLst>
              </a:tr>
              <a:tr h="292608">
                <a:tc>
                  <a:txBody>
                    <a:bodyPr/>
                    <a:lstStyle/>
                    <a:p>
                      <a:pPr lvl="0">
                        <a:buNone/>
                      </a:pPr>
                      <a:r>
                        <a:rPr lang="pt-BR" sz="900">
                          <a:latin typeface="Noto Sans"/>
                          <a:ea typeface="Noto Sans"/>
                          <a:cs typeface="Noto Sans"/>
                        </a:rPr>
                        <a:t>ID do registro</a:t>
                      </a:r>
                    </a:p>
                  </a:txBody>
                  <a:tcPr anchor="ctr"/>
                </a:tc>
                <a:tc>
                  <a:txBody>
                    <a:bodyPr/>
                    <a:lstStyle/>
                    <a:p>
                      <a:pPr lvl="0">
                        <a:buNone/>
                      </a:pPr>
                      <a:r>
                        <a:rPr lang="pt-BR" sz="900">
                          <a:latin typeface="Noto Sans"/>
                          <a:ea typeface="Noto Sans"/>
                          <a:cs typeface="Noto Sans"/>
                        </a:rPr>
                        <a:t>LOG_ID</a:t>
                      </a:r>
                      <a:endParaRPr lang="en-US" sz="900">
                        <a:latin typeface="Noto Sans"/>
                        <a:ea typeface="Noto Sans"/>
                        <a:cs typeface="Noto Sans"/>
                      </a:endParaRPr>
                    </a:p>
                  </a:txBody>
                  <a:tcPr anchor="ctr"/>
                </a:tc>
                <a:tc>
                  <a:txBody>
                    <a:bodyPr/>
                    <a:lstStyle/>
                    <a:p>
                      <a:pPr lvl="0">
                        <a:buNone/>
                      </a:pPr>
                      <a:r>
                        <a:rPr lang="pt-BR" sz="900">
                          <a:latin typeface="Noto Sans"/>
                          <a:ea typeface="Noto Sans"/>
                          <a:cs typeface="Noto Sans"/>
                        </a:rPr>
                        <a:t>Sistema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Chave única do registro</a:t>
                      </a:r>
                      <a:endParaRPr lang="en-US" sz="900">
                        <a:latin typeface="Noto Sans"/>
                        <a:ea typeface="Noto Sans"/>
                        <a:cs typeface="Noto Sans"/>
                      </a:endParaRPr>
                    </a:p>
                  </a:txBody>
                  <a:tcPr anchor="ctr"/>
                </a:tc>
                <a:extLst>
                  <a:ext uri="{0D108BD9-81ED-4DB2-BD59-A6C34878D82A}">
                    <a16:rowId xmlns:a16="http://schemas.microsoft.com/office/drawing/2014/main" val="1339288012"/>
                  </a:ext>
                </a:extLst>
              </a:tr>
              <a:tr h="292608">
                <a:tc>
                  <a:txBody>
                    <a:bodyPr/>
                    <a:lstStyle/>
                    <a:p>
                      <a:pPr lvl="0">
                        <a:buNone/>
                      </a:pPr>
                      <a:r>
                        <a:rPr lang="pt-BR" sz="900" b="0" i="0" u="none" strike="noStrike" noProof="0">
                          <a:latin typeface="Noto Sans"/>
                          <a:ea typeface="Noto Sans"/>
                          <a:cs typeface="Noto Sans"/>
                        </a:rPr>
                        <a:t>Cliente</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PARTNER</a:t>
                      </a:r>
                    </a:p>
                  </a:txBody>
                  <a:tcPr anchor="ctr"/>
                </a:tc>
                <a:tc>
                  <a:txBody>
                    <a:bodyPr/>
                    <a:lstStyle/>
                    <a:p>
                      <a:pPr lvl="0">
                        <a:buNone/>
                      </a:pPr>
                      <a:r>
                        <a:rPr lang="pt-BR" sz="900" b="0" i="0" u="none" strike="noStrike" noProof="0">
                          <a:latin typeface="Noto Sans"/>
                          <a:ea typeface="Noto Sans"/>
                          <a:cs typeface="Noto Sans"/>
                        </a:rPr>
                        <a:t>Lista de trabalho / app</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Parceiro de Negócio</a:t>
                      </a:r>
                      <a:endParaRPr lang="en-US" sz="900">
                        <a:latin typeface="Noto Sans"/>
                        <a:ea typeface="Noto Sans"/>
                        <a:cs typeface="Noto Sans"/>
                      </a:endParaRPr>
                    </a:p>
                  </a:txBody>
                  <a:tcPr anchor="ctr"/>
                </a:tc>
                <a:extLst>
                  <a:ext uri="{0D108BD9-81ED-4DB2-BD59-A6C34878D82A}">
                    <a16:rowId xmlns:a16="http://schemas.microsoft.com/office/drawing/2014/main" val="1977763683"/>
                  </a:ext>
                </a:extLst>
              </a:tr>
              <a:tr h="292608">
                <a:tc>
                  <a:txBody>
                    <a:bodyPr/>
                    <a:lstStyle/>
                    <a:p>
                      <a:pPr lvl="0">
                        <a:buNone/>
                      </a:pPr>
                      <a:r>
                        <a:rPr lang="pt-BR" sz="900" b="0" i="0" u="none" strike="noStrike" noProof="0">
                          <a:latin typeface="Noto Sans"/>
                          <a:ea typeface="Noto Sans"/>
                          <a:cs typeface="Noto Sans"/>
                        </a:rPr>
                        <a:t>BP de 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PARTNER_ORIGEM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BP do grupo que ultrapassou a régua; igual ao cliente quando não há vínculo</a:t>
                      </a:r>
                      <a:endParaRPr lang="en-US" sz="900" b="0">
                        <a:latin typeface="Noto Sans"/>
                        <a:ea typeface="Noto Sans"/>
                        <a:cs typeface="Noto Sans"/>
                      </a:endParaRPr>
                    </a:p>
                  </a:txBody>
                  <a:tcPr anchor="ctr"/>
                </a:tc>
                <a:extLst>
                  <a:ext uri="{0D108BD9-81ED-4DB2-BD59-A6C34878D82A}">
                    <a16:rowId xmlns:a16="http://schemas.microsoft.com/office/drawing/2014/main" val="1334862819"/>
                  </a:ext>
                </a:extLst>
              </a:tr>
              <a:tr h="292608">
                <a:tc>
                  <a:txBody>
                    <a:bodyPr/>
                    <a:lstStyle/>
                    <a:p>
                      <a:pPr lvl="0">
                        <a:buNone/>
                      </a:pPr>
                      <a:r>
                        <a:rPr lang="pt-BR" sz="900" b="0" i="0" u="none" strike="noStrike" noProof="0">
                          <a:latin typeface="Noto Sans"/>
                          <a:ea typeface="Noto Sans"/>
                          <a:cs typeface="Noto Sans"/>
                        </a:rPr>
                        <a:t>Segmento de crédito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CREDIT_SGMNT</a:t>
                      </a:r>
                    </a:p>
                  </a:txBody>
                  <a:tcPr anchor="ctr"/>
                </a:tc>
                <a:tc>
                  <a:txBody>
                    <a:bodyPr/>
                    <a:lstStyle/>
                    <a:p>
                      <a:pPr lvl="0">
                        <a:buNone/>
                      </a:pPr>
                      <a:r>
                        <a:rPr lang="pt-BR" sz="900">
                          <a:latin typeface="Noto Sans"/>
                          <a:ea typeface="Noto Sans"/>
                          <a:cs typeface="Noto Sans"/>
                        </a:rPr>
                        <a:t>Fixo</a:t>
                      </a:r>
                    </a:p>
                  </a:txBody>
                  <a:tcPr anchor="ctr"/>
                </a:tc>
                <a:tc>
                  <a:txBody>
                    <a:bodyPr/>
                    <a:lstStyle/>
                    <a:p>
                      <a:pPr lvl="0">
                        <a:buNone/>
                      </a:pPr>
                      <a:r>
                        <a:rPr lang="pt-BR" sz="900" b="0" i="0" u="none" strike="noStrike" noProof="0">
                          <a:latin typeface="Noto Sans"/>
                          <a:ea typeface="Noto Sans"/>
                          <a:cs typeface="Noto Sans"/>
                        </a:rPr>
                        <a:t>1000</a:t>
                      </a:r>
                    </a:p>
                  </a:txBody>
                  <a:tcPr anchor="ctr"/>
                </a:tc>
                <a:extLst>
                  <a:ext uri="{0D108BD9-81ED-4DB2-BD59-A6C34878D82A}">
                    <a16:rowId xmlns:a16="http://schemas.microsoft.com/office/drawing/2014/main" val="2536475090"/>
                  </a:ext>
                </a:extLst>
              </a:tr>
              <a:tr h="292608">
                <a:tc>
                  <a:txBody>
                    <a:bodyPr/>
                    <a:lstStyle/>
                    <a:p>
                      <a:pPr lvl="0" algn="l">
                        <a:lnSpc>
                          <a:spcPct val="100000"/>
                        </a:lnSpc>
                        <a:spcBef>
                          <a:spcPts val="0"/>
                        </a:spcBef>
                        <a:spcAft>
                          <a:spcPts val="0"/>
                        </a:spcAft>
                        <a:buNone/>
                      </a:pPr>
                      <a:r>
                        <a:rPr lang="pt-BR" sz="900" b="0" i="0" u="none" strike="noStrike" noProof="0">
                          <a:solidFill>
                            <a:srgbClr val="000000"/>
                          </a:solidFill>
                          <a:latin typeface="Noto Sans"/>
                          <a:ea typeface="Noto Sans"/>
                          <a:cs typeface="Noto Sans"/>
                        </a:rPr>
                        <a:t>Ação</a:t>
                      </a:r>
                    </a:p>
                  </a:txBody>
                  <a:tcPr anchor="ctr"/>
                </a:tc>
                <a:tc>
                  <a:txBody>
                    <a:bodyPr/>
                    <a:lstStyle/>
                    <a:p>
                      <a:pPr lvl="0">
                        <a:buNone/>
                      </a:pPr>
                      <a:r>
                        <a:rPr lang="pt-BR" sz="900" b="0" i="0" u="none" strike="noStrike" noProof="0">
                          <a:solidFill>
                            <a:srgbClr val="000000"/>
                          </a:solidFill>
                          <a:latin typeface="Noto Sans"/>
                          <a:ea typeface="Noto Sans"/>
                          <a:cs typeface="Noto Sans"/>
                        </a:rPr>
                        <a:t>ACAO</a:t>
                      </a:r>
                      <a:endParaRPr lang="en-US" sz="900">
                        <a:latin typeface="Noto Sans"/>
                        <a:ea typeface="Noto Sans"/>
                        <a:cs typeface="Noto Sans"/>
                      </a:endParaRPr>
                    </a:p>
                  </a:txBody>
                  <a:tcPr anchor="ctr"/>
                </a:tc>
                <a:tc>
                  <a:txBody>
                    <a:bodyPr/>
                    <a:lstStyle/>
                    <a:p>
                      <a:pPr lvl="0">
                        <a:buNone/>
                      </a:pPr>
                      <a:r>
                        <a:rPr lang="pt-BR" sz="900">
                          <a:latin typeface="Noto Sans"/>
                          <a:ea typeface="Noto Sans"/>
                          <a:cs typeface="Noto Sans"/>
                        </a:rPr>
                        <a:t>App</a:t>
                      </a:r>
                    </a:p>
                  </a:txBody>
                  <a:tcPr anchor="ctr"/>
                </a:tc>
                <a:tc>
                  <a:txBody>
                    <a:bodyPr/>
                    <a:lstStyle/>
                    <a:p>
                      <a:pPr lvl="0" algn="l">
                        <a:lnSpc>
                          <a:spcPct val="100000"/>
                        </a:lnSpc>
                        <a:spcBef>
                          <a:spcPts val="0"/>
                        </a:spcBef>
                        <a:spcAft>
                          <a:spcPts val="0"/>
                        </a:spcAft>
                        <a:buNone/>
                      </a:pPr>
                      <a:r>
                        <a:rPr lang="pt-BR" sz="900" b="0" i="0" u="none" strike="noStrike" noProof="0">
                          <a:solidFill>
                            <a:srgbClr val="000000"/>
                          </a:solidFill>
                          <a:latin typeface="Noto Sans"/>
                          <a:ea typeface="Noto Sans"/>
                          <a:cs typeface="Noto Sans"/>
                        </a:rPr>
                        <a:t>B = Bloqueio, D = Desbloqueio</a:t>
                      </a:r>
                    </a:p>
                  </a:txBody>
                  <a:tcPr anchor="ctr"/>
                </a:tc>
                <a:extLst>
                  <a:ext uri="{0D108BD9-81ED-4DB2-BD59-A6C34878D82A}">
                    <a16:rowId xmlns:a16="http://schemas.microsoft.com/office/drawing/2014/main" val="1171702068"/>
                  </a:ext>
                </a:extLst>
              </a:tr>
              <a:tr h="292608">
                <a:tc>
                  <a:txBody>
                    <a:bodyPr/>
                    <a:lstStyle/>
                    <a:p>
                      <a:pPr lvl="0">
                        <a:buNone/>
                      </a:pPr>
                      <a:r>
                        <a:rPr lang="pt-BR" sz="900" b="0" i="0" u="none" strike="noStrike" noProof="0">
                          <a:latin typeface="Noto Sans"/>
                          <a:ea typeface="Noto Sans"/>
                          <a:cs typeface="Noto Sans"/>
                        </a:rPr>
                        <a:t>Motivo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BLOCK_REASON</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Usuário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Informado manualmente na efetivação</a:t>
                      </a:r>
                      <a:endParaRPr lang="en-US" sz="900">
                        <a:latin typeface="Noto Sans"/>
                        <a:ea typeface="Noto Sans"/>
                        <a:cs typeface="Noto Sans"/>
                      </a:endParaRPr>
                    </a:p>
                  </a:txBody>
                  <a:tcPr anchor="ctr"/>
                </a:tc>
                <a:extLst>
                  <a:ext uri="{0D108BD9-81ED-4DB2-BD59-A6C34878D82A}">
                    <a16:rowId xmlns:a16="http://schemas.microsoft.com/office/drawing/2014/main" val="1230308815"/>
                  </a:ext>
                </a:extLst>
              </a:tr>
              <a:tr h="292608">
                <a:tc>
                  <a:txBody>
                    <a:bodyPr/>
                    <a:lstStyle/>
                    <a:p>
                      <a:pPr lvl="0">
                        <a:buNone/>
                      </a:pPr>
                      <a:r>
                        <a:rPr lang="pt-BR" sz="900" b="0" i="0" u="none" strike="noStrike" noProof="0">
                          <a:latin typeface="Noto Sans"/>
                          <a:ea typeface="Noto Sans"/>
                          <a:cs typeface="Noto Sans"/>
                        </a:rPr>
                        <a:t>Status</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STATUS / MENSAGEM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App</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Sucesso ou erro da gravação do bloqueio</a:t>
                      </a:r>
                      <a:endParaRPr lang="en-US" sz="900">
                        <a:latin typeface="Noto Sans"/>
                        <a:ea typeface="Noto Sans"/>
                        <a:cs typeface="Noto Sans"/>
                      </a:endParaRPr>
                    </a:p>
                  </a:txBody>
                  <a:tcPr anchor="ctr"/>
                </a:tc>
                <a:extLst>
                  <a:ext uri="{0D108BD9-81ED-4DB2-BD59-A6C34878D82A}">
                    <a16:rowId xmlns:a16="http://schemas.microsoft.com/office/drawing/2014/main" val="428399094"/>
                  </a:ext>
                </a:extLst>
              </a:tr>
              <a:tr h="292608">
                <a:tc>
                  <a:txBody>
                    <a:bodyPr/>
                    <a:lstStyle/>
                    <a:p>
                      <a:pPr lvl="0">
                        <a:buNone/>
                      </a:pPr>
                      <a:r>
                        <a:rPr lang="pt-BR" sz="900" b="0" i="0" u="none" strike="noStrike" noProof="0">
                          <a:latin typeface="Noto Sans"/>
                          <a:ea typeface="Noto Sans"/>
                          <a:cs typeface="Noto Sans"/>
                        </a:rPr>
                        <a:t>Situação apurada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RISK_CLASS / VLR_VENCIDO / DIAS_ATRASO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Classe de risco, valor vencido e maior atraso no momento da ação</a:t>
                      </a:r>
                    </a:p>
                  </a:txBody>
                  <a:tcPr anchor="ctr"/>
                </a:tc>
                <a:extLst>
                  <a:ext uri="{0D108BD9-81ED-4DB2-BD59-A6C34878D82A}">
                    <a16:rowId xmlns:a16="http://schemas.microsoft.com/office/drawing/2014/main" val="1910179570"/>
                  </a:ext>
                </a:extLst>
              </a:tr>
              <a:tr h="292608">
                <a:tc>
                  <a:txBody>
                    <a:bodyPr/>
                    <a:lstStyle/>
                    <a:p>
                      <a:pPr lvl="0">
                        <a:buNone/>
                      </a:pPr>
                      <a:r>
                        <a:rPr lang="pt-BR" sz="900" b="0" i="0" u="none" strike="noStrike" noProof="0">
                          <a:latin typeface="Noto Sans"/>
                          <a:ea typeface="Noto Sans"/>
                          <a:cs typeface="Noto Sans"/>
                        </a:rPr>
                        <a:t>Usuário, data e hora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UNAME / DATUM / UZEIT</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Sistema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Auditoria</a:t>
                      </a:r>
                    </a:p>
                  </a:txBody>
                  <a:tcPr anchor="ctr"/>
                </a:tc>
                <a:extLst>
                  <a:ext uri="{0D108BD9-81ED-4DB2-BD59-A6C34878D82A}">
                    <a16:rowId xmlns:a16="http://schemas.microsoft.com/office/drawing/2014/main" val="3286788998"/>
                  </a:ext>
                </a:extLst>
              </a:tr>
              <a:tr h="292608">
                <a:tc>
                  <a:txBody>
                    <a:bodyPr/>
                    <a:lstStyle/>
                    <a:p>
                      <a:pPr lvl="0">
                        <a:buNone/>
                      </a:pPr>
                      <a:r>
                        <a:rPr lang="pt-BR" sz="900" b="0" i="0" u="none" strike="noStrike" noProof="0">
                          <a:latin typeface="Noto Sans"/>
                          <a:ea typeface="Noto Sans"/>
                          <a:cs typeface="Noto Sans"/>
                        </a:rPr>
                        <a:t>Execução do 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JOBRUN_ID</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Vincula a ação à lista de trabalho de origem</a:t>
                      </a:r>
                    </a:p>
                  </a:txBody>
                  <a:tcPr anchor="ctr"/>
                </a:tc>
                <a:extLst>
                  <a:ext uri="{0D108BD9-81ED-4DB2-BD59-A6C34878D82A}">
                    <a16:rowId xmlns:a16="http://schemas.microsoft.com/office/drawing/2014/main" val="3376046177"/>
                  </a:ext>
                </a:extLst>
              </a:tr>
              <a:tr h="292608">
                <a:tc>
                  <a:txBody>
                    <a:bodyPr/>
                    <a:lstStyle/>
                    <a:p>
                      <a:pPr lvl="0">
                        <a:buNone/>
                      </a:pPr>
                      <a:r>
                        <a:rPr lang="pt-BR" sz="900" b="0" i="0" u="none" strike="noStrike" noProof="0">
                          <a:latin typeface="Noto Sans"/>
                          <a:ea typeface="Noto Sans"/>
                          <a:cs typeface="Noto Sans"/>
                        </a:rPr>
                        <a:t>Origem do registro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App / carga inicial</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 = App; C = Carga inicial do go-live (PR-13)</a:t>
                      </a:r>
                    </a:p>
                  </a:txBody>
                  <a:tcPr anchor="ctr"/>
                </a:tc>
                <a:extLst>
                  <a:ext uri="{0D108BD9-81ED-4DB2-BD59-A6C34878D82A}">
                    <a16:rowId xmlns:a16="http://schemas.microsoft.com/office/drawing/2014/main" val="2643226887"/>
                  </a:ext>
                </a:extLst>
              </a:tr>
            </a:tbl>
          </a:graphicData>
        </a:graphic>
      </p:graphicFrame>
    </p:spTree>
    <p:extLst>
      <p:ext uri="{BB962C8B-B14F-4D97-AF65-F5344CB8AC3E}">
        <p14:creationId xmlns:p14="http://schemas.microsoft.com/office/powerpoint/2010/main" val="4062066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B6EF1-6D43-5AFA-9F4E-EE0EEC90164B}"/>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50276857-BFDC-3719-64A2-EEAE17D17020}"/>
              </a:ext>
            </a:extLst>
          </p:cNvPr>
          <p:cNvSpPr txBox="1"/>
          <p:nvPr/>
        </p:nvSpPr>
        <p:spPr>
          <a:xfrm>
            <a:off x="1793206" y="2256324"/>
            <a:ext cx="8605588"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Governança Técnica </a:t>
            </a:r>
          </a:p>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da Solução</a:t>
            </a:r>
          </a:p>
        </p:txBody>
      </p:sp>
    </p:spTree>
    <p:extLst>
      <p:ext uri="{BB962C8B-B14F-4D97-AF65-F5344CB8AC3E}">
        <p14:creationId xmlns:p14="http://schemas.microsoft.com/office/powerpoint/2010/main" val="1624017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296904722"/>
              </p:ext>
            </p:extLst>
          </p:nvPr>
        </p:nvGraphicFramePr>
        <p:xfrm>
          <a:off x="674413" y="1594068"/>
          <a:ext cx="10843503" cy="392854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365760">
                <a:tc>
                  <a:txBody>
                    <a:bodyPr/>
                    <a:lstStyle/>
                    <a:p>
                      <a:r>
                        <a:rPr lang="pt-BR" sz="900">
                          <a:effectLst/>
                          <a:latin typeface="Noto Sans"/>
                          <a:ea typeface="Noto Sans"/>
                          <a:cs typeface="Noto Sans"/>
                        </a:rPr>
                        <a:t>PR-01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A régua de bloqueio é fixa no código, conforme o BPDD de Contas a Receber (3.8.11); alterações de régua exigem nova demanda de desenvolvimento.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365760">
                <a:tc>
                  <a:txBody>
                    <a:bodyPr/>
                    <a:lstStyle/>
                    <a:p>
                      <a:r>
                        <a:rPr lang="pt-BR" sz="900">
                          <a:effectLst/>
                          <a:latin typeface="Noto Sans"/>
                          <a:ea typeface="Noto Sans"/>
                          <a:cs typeface="Noto Sans"/>
                        </a:rPr>
                        <a:t>PR-02</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perfil do cliente (à vista ou a prazo) é definido pela classe de risco do Parceiro de Negócio (UKMBP_CMS-RISK_CLASS).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01522170"/>
                  </a:ext>
                </a:extLst>
              </a:tr>
              <a:tr h="365760">
                <a:tc>
                  <a:txBody>
                    <a:bodyPr/>
                    <a:lstStyle/>
                    <a:p>
                      <a:r>
                        <a:rPr lang="pt-BR" sz="900">
                          <a:solidFill>
                            <a:srgbClr val="000000"/>
                          </a:solidFill>
                          <a:effectLst/>
                          <a:latin typeface="Noto Sans"/>
                          <a:ea typeface="Noto Sans"/>
                          <a:cs typeface="Noto Sans"/>
                        </a:rPr>
                        <a:t>PR-03</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O saldo vencido não considera juros e multas já lançados como partidas em aberto e as partidas de razão especial, deduzidos os adiantamentos.</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Contas a Receber </a:t>
                      </a:r>
                      <a:r>
                        <a:rPr lang="pt-BR" sz="900" err="1">
                          <a:solidFill>
                            <a:srgbClr val="000000"/>
                          </a:solidFill>
                          <a:effectLst/>
                          <a:latin typeface="Noto Sans"/>
                          <a:ea typeface="Noto Sans"/>
                          <a:cs typeface="Noto Sans"/>
                        </a:rPr>
                        <a:t>Veiling</a:t>
                      </a:r>
                      <a:endParaRPr lang="pt-BR" sz="900" err="1">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lvl="0" algn="l">
                        <a:buNone/>
                      </a:pPr>
                      <a:r>
                        <a:rPr lang="pt-BR" sz="900">
                          <a:solidFill>
                            <a:srgbClr val="000000"/>
                          </a:solidFill>
                          <a:effectLst/>
                          <a:latin typeface="Noto Sans"/>
                          <a:ea typeface="Noto Sans"/>
                          <a:cs typeface="Noto Sans"/>
                        </a:rPr>
                        <a:t>Confirmado em reunião de validação</a:t>
                      </a:r>
                      <a:endParaRPr lang="pt-B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04132126"/>
                  </a:ext>
                </a:extLst>
              </a:tr>
              <a:tr h="365760">
                <a:tc>
                  <a:txBody>
                    <a:bodyPr/>
                    <a:lstStyle/>
                    <a:p>
                      <a:r>
                        <a:rPr lang="pt-BR" sz="900">
                          <a:effectLst/>
                          <a:latin typeface="Noto Sans"/>
                          <a:ea typeface="Noto Sans"/>
                          <a:cs typeface="Noto Sans"/>
                        </a:rPr>
                        <a:t>PR-04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DEL-R2R-009 não publica mensagens. O DEL-COM-051 identifica as alterações do indicador de bloqueio, feitas por este app ou pelo app standard, e as distribui aos legados via fila </a:t>
                      </a:r>
                      <a:r>
                        <a:rPr lang="pt-BR" sz="900" err="1">
                          <a:effectLst/>
                          <a:latin typeface="Noto Sans"/>
                          <a:ea typeface="Noto Sans"/>
                          <a:cs typeface="Noto Sans"/>
                        </a:rPr>
                        <a:t>RabbitMQ</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Integração / Legados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365760">
                <a:tc>
                  <a:txBody>
                    <a:bodyPr/>
                    <a:lstStyle/>
                    <a:p>
                      <a:r>
                        <a:rPr lang="pt-BR" sz="900">
                          <a:effectLst/>
                          <a:latin typeface="Noto Sans"/>
                          <a:ea typeface="Noto Sans"/>
                          <a:cs typeface="Noto Sans"/>
                        </a:rPr>
                        <a:t>PR-05</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app propõe desbloqueio apenas para clientes bloqueados por inadimplência. Bloqueios por outros motivos (ex.: problema fiscal) serão atualizados no app </a:t>
                      </a:r>
                      <a:r>
                        <a:rPr lang="pt-BR" sz="900" b="1">
                          <a:effectLst/>
                          <a:latin typeface="Noto Sans"/>
                          <a:ea typeface="Noto Sans"/>
                          <a:cs typeface="Noto Sans"/>
                        </a:rPr>
                        <a:t>“Administrar contas de crédito</a:t>
                      </a:r>
                      <a:r>
                        <a:rPr lang="pt-BR" sz="900">
                          <a:effectLst/>
                          <a:latin typeface="Noto Sans"/>
                          <a:ea typeface="Noto Sans"/>
                          <a:cs typeface="Noto Sans"/>
                        </a:rPr>
                        <a:t>”. </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542408756"/>
                  </a:ext>
                </a:extLst>
              </a:tr>
              <a:tr h="365760">
                <a:tc>
                  <a:txBody>
                    <a:bodyPr/>
                    <a:lstStyle/>
                    <a:p>
                      <a:r>
                        <a:rPr lang="pt-BR" sz="900">
                          <a:effectLst/>
                          <a:latin typeface="Noto Sans"/>
                          <a:ea typeface="Noto Sans"/>
                          <a:cs typeface="Noto Sans"/>
                        </a:rPr>
                        <a:t>PR-06</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DEL-R2R-009 não altera, reverte nem consulta o limite de crédito sazonal; a gestão permanece no DEL-COM-064.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30085598"/>
                  </a:ext>
                </a:extLst>
              </a:tr>
              <a:tr h="365760">
                <a:tc>
                  <a:txBody>
                    <a:bodyPr/>
                    <a:lstStyle/>
                    <a:p>
                      <a:r>
                        <a:rPr lang="pt-BR" sz="900">
                          <a:solidFill>
                            <a:srgbClr val="000000"/>
                          </a:solidFill>
                          <a:effectLst/>
                          <a:latin typeface="Noto Sans"/>
                          <a:ea typeface="Noto Sans"/>
                          <a:cs typeface="Noto Sans"/>
                        </a:rPr>
                        <a:t>PR-07</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da classe de risco 5 – CVH Interna não são avaliados pelo app.</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Crédito </a:t>
                      </a:r>
                      <a:r>
                        <a:rPr lang="pt-BR" sz="900" err="1">
                          <a:solidFill>
                            <a:srgbClr val="000000"/>
                          </a:solidFill>
                          <a:effectLst/>
                          <a:latin typeface="Noto Sans"/>
                          <a:ea typeface="Noto Sans"/>
                          <a:cs typeface="Noto Sans"/>
                        </a:rPr>
                        <a:t>Veiling</a:t>
                      </a:r>
                      <a:endParaRPr lang="pt-BR" sz="900" err="1">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Confirmado pelo </a:t>
                      </a:r>
                      <a:r>
                        <a:rPr lang="pt-BR" sz="900" err="1">
                          <a:solidFill>
                            <a:srgbClr val="000000"/>
                          </a:solidFill>
                          <a:effectLst/>
                          <a:latin typeface="Noto Sans"/>
                          <a:ea typeface="Noto Sans"/>
                          <a:cs typeface="Noto Sans"/>
                        </a:rPr>
                        <a:t>Veiling</a:t>
                      </a:r>
                      <a:r>
                        <a:rPr lang="pt-BR" sz="900">
                          <a:solidFill>
                            <a:srgbClr val="000000"/>
                          </a:solidFill>
                          <a:effectLst/>
                          <a:latin typeface="Noto Sans"/>
                          <a:ea typeface="Noto Sans"/>
                          <a:cs typeface="Noto Sans"/>
                        </a:rPr>
                        <a:t>.</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34518521"/>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76737678"/>
              </p:ext>
            </p:extLst>
          </p:nvPr>
        </p:nvGraphicFramePr>
        <p:xfrm>
          <a:off x="674413" y="1594068"/>
          <a:ext cx="10843503" cy="353230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457200">
                <a:tc>
                  <a:txBody>
                    <a:bodyPr/>
                    <a:lstStyle/>
                    <a:p>
                      <a:r>
                        <a:rPr lang="pt-BR" sz="900">
                          <a:solidFill>
                            <a:srgbClr val="000000"/>
                          </a:solidFill>
                          <a:effectLst/>
                          <a:latin typeface="Noto Sans"/>
                          <a:ea typeface="Noto Sans"/>
                          <a:cs typeface="Noto Sans"/>
                        </a:rPr>
                        <a:t>PR-08</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que não devem ser bloqueados (ex.: supermercados) são identificados pelo segmento de atuação do BP (BP001-GROUP_FEATURE = Autosserviço), disponível como filtro no app. O campo deve estar preenchido para todos os clientes na migração.</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código do segmento Autosserviço= 002. </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08211751"/>
                  </a:ext>
                </a:extLst>
              </a:tr>
              <a:tr h="457200">
                <a:tc>
                  <a:txBody>
                    <a:bodyPr/>
                    <a:lstStyle/>
                    <a:p>
                      <a:r>
                        <a:rPr lang="pt-BR" sz="900">
                          <a:effectLst/>
                          <a:latin typeface="Noto Sans"/>
                          <a:ea typeface="Noto Sans"/>
                          <a:cs typeface="Noto Sans"/>
                        </a:rPr>
                        <a:t>PR-10</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Motivo de bloqueio utilizado pelo app: Inadimplência, configurado no </a:t>
                      </a:r>
                      <a:r>
                        <a:rPr lang="pt-BR" sz="900" err="1">
                          <a:effectLst/>
                          <a:latin typeface="Noto Sans"/>
                          <a:ea typeface="Noto Sans"/>
                          <a:cs typeface="Noto Sans"/>
                        </a:rPr>
                        <a:t>customizing</a:t>
                      </a:r>
                      <a:r>
                        <a:rPr lang="pt-BR" sz="900">
                          <a:effectLst/>
                          <a:latin typeface="Noto Sans"/>
                          <a:ea typeface="Noto Sans"/>
                          <a:cs typeface="Noto Sans"/>
                        </a:rPr>
                        <a:t> do Controle de Crédito e aberto para uso em outros pontos do SAP.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457200">
                <a:tc>
                  <a:txBody>
                    <a:bodyPr/>
                    <a:lstStyle/>
                    <a:p>
                      <a:r>
                        <a:rPr lang="pt-BR" sz="900">
                          <a:effectLst/>
                          <a:latin typeface="Noto Sans"/>
                          <a:ea typeface="Noto Sans"/>
                          <a:cs typeface="Noto Sans"/>
                        </a:rPr>
                        <a:t>PR-11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bloqueio é único para a Comercialização e para o Material Circulante; não há bloqueio separado por canal.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43874490"/>
                  </a:ext>
                </a:extLst>
              </a:tr>
              <a:tr h="457200">
                <a:tc>
                  <a:txBody>
                    <a:bodyPr/>
                    <a:lstStyle/>
                    <a:p>
                      <a:r>
                        <a:rPr lang="pt-BR" sz="900">
                          <a:effectLst/>
                          <a:latin typeface="Noto Sans"/>
                          <a:ea typeface="Noto Sans"/>
                          <a:cs typeface="Noto Sans"/>
                        </a:rPr>
                        <a:t>PR-12</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motivo de inadimplência não é exclusivo do DEL-R2R-009. O app reconhece os seus bloqueios pela tabela Z de log: última ação = Bloqueio, cliente ainda bloqueado e motivo atual igual ao registrado.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122289652"/>
                  </a:ext>
                </a:extLst>
              </a:tr>
              <a:tr h="457200">
                <a:tc>
                  <a:txBody>
                    <a:bodyPr/>
                    <a:lstStyle/>
                    <a:p>
                      <a:r>
                        <a:rPr lang="pt-BR" sz="900">
                          <a:effectLst/>
                          <a:latin typeface="Noto Sans"/>
                          <a:ea typeface="Noto Sans"/>
                          <a:cs typeface="Noto Sans"/>
                        </a:rPr>
                        <a:t>PR-13</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Bloqueios por inadimplência migrados no go-live recebem um registro inicial na tabela Z de log (origem: carga inicial), para que possam ser propostos para desbloqueio após a regularização.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r>
                        <a:rPr lang="pt-BR" sz="900">
                          <a:effectLst/>
                          <a:latin typeface="Noto Sans"/>
                          <a:ea typeface="Noto Sans"/>
                          <a:cs typeface="Noto Sans"/>
                        </a:rPr>
                        <a:t> / Consultor FSCM</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845572366"/>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076736878"/>
              </p:ext>
            </p:extLst>
          </p:nvPr>
        </p:nvGraphicFramePr>
        <p:xfrm>
          <a:off x="674413" y="1594068"/>
          <a:ext cx="10843503" cy="177462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548640">
                <a:tc>
                  <a:txBody>
                    <a:bodyPr/>
                    <a:lstStyle/>
                    <a:p>
                      <a:r>
                        <a:rPr lang="pt-BR" sz="900">
                          <a:solidFill>
                            <a:srgbClr val="000000"/>
                          </a:solidFill>
                          <a:effectLst/>
                          <a:latin typeface="Noto Sans"/>
                          <a:ea typeface="Noto Sans"/>
                          <a:cs typeface="Noto Sans"/>
                        </a:rPr>
                        <a:t>PR-14</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vinculados: o BP principal e os </a:t>
                      </a:r>
                      <a:r>
                        <a:rPr lang="pt-BR" sz="900" err="1">
                          <a:solidFill>
                            <a:srgbClr val="000000"/>
                          </a:solidFill>
                          <a:effectLst/>
                          <a:latin typeface="Noto Sans"/>
                          <a:ea typeface="Noto Sans"/>
                          <a:cs typeface="Noto Sans"/>
                        </a:rPr>
                        <a:t>BPs</a:t>
                      </a:r>
                      <a:r>
                        <a:rPr lang="pt-BR" sz="900">
                          <a:solidFill>
                            <a:srgbClr val="000000"/>
                          </a:solidFill>
                          <a:effectLst/>
                          <a:latin typeface="Noto Sans"/>
                          <a:ea typeface="Noto Sans"/>
                          <a:cs typeface="Noto Sans"/>
                        </a:rPr>
                        <a:t> vinculados pela hierarquia de crédito standard serão bloqueados em conjunto quando um deles ultrapassar a régua, e para desbloqueio somente quando todo o grupo estiver regularizado.</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Solicitado por Silvana Santos – Contas a Receber.</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08211751"/>
                  </a:ext>
                </a:extLst>
              </a:tr>
              <a:tr h="548640">
                <a:tc>
                  <a:txBody>
                    <a:bodyPr/>
                    <a:lstStyle/>
                    <a:p>
                      <a:r>
                        <a:rPr lang="pt-BR" sz="900">
                          <a:effectLst/>
                          <a:latin typeface="Noto Sans"/>
                          <a:ea typeface="Noto Sans"/>
                          <a:cs typeface="Noto Sans"/>
                        </a:rPr>
                        <a:t>PR-15</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A gravação do bloqueio pelo app usa as classes standard do Controle de Crédito e gera o histórico de alterações, que é o ponto de leitura do DEL-COM-051. A tabela Z de log deste delta não é utilizada pelo DEL-COM-051.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err="1">
                          <a:effectLst/>
                          <a:latin typeface="Noto Sans"/>
                          <a:ea typeface="Noto Sans"/>
                          <a:cs typeface="Noto Sans"/>
                        </a:rPr>
                        <a:t>Insi</a:t>
                      </a:r>
                      <a:r>
                        <a:rPr lang="pt-BR" sz="900">
                          <a:effectLst/>
                          <a:latin typeface="Noto Sans"/>
                          <a:ea typeface="Noto Sans"/>
                          <a:cs typeface="Noto Sans"/>
                        </a:rPr>
                        <a:t> / Arquitetura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endParaRPr lang="pt-BR" sz="900">
                        <a:effectLst/>
                        <a:highlight>
                          <a:srgbClr val="FFFF00"/>
                        </a:highligh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9624-3E0F-D02F-4C8C-1F00660C947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CE4D2B6E-F81C-77FF-2DDC-7DB701C89422}"/>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Plano de Testes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CDFEEA-ED8A-5FA0-5029-FFEAE681CE6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10" name="Tabela 9">
            <a:extLst>
              <a:ext uri="{FF2B5EF4-FFF2-40B4-BE49-F238E27FC236}">
                <a16:creationId xmlns:a16="http://schemas.microsoft.com/office/drawing/2014/main" id="{E933BD7D-416B-F560-641D-181CCDFBF20D}"/>
              </a:ext>
            </a:extLst>
          </p:cNvPr>
          <p:cNvGraphicFramePr>
            <a:graphicFrameLocks noGrp="1"/>
          </p:cNvGraphicFramePr>
          <p:nvPr>
            <p:extLst>
              <p:ext uri="{D42A27DB-BD31-4B8C-83A1-F6EECF244321}">
                <p14:modId xmlns:p14="http://schemas.microsoft.com/office/powerpoint/2010/main" val="874542811"/>
              </p:ext>
            </p:extLst>
          </p:nvPr>
        </p:nvGraphicFramePr>
        <p:xfrm>
          <a:off x="672301" y="1608311"/>
          <a:ext cx="10995443" cy="4360119"/>
        </p:xfrm>
        <a:graphic>
          <a:graphicData uri="http://schemas.openxmlformats.org/drawingml/2006/table">
            <a:tbl>
              <a:tblPr/>
              <a:tblGrid>
                <a:gridCol w="756449">
                  <a:extLst>
                    <a:ext uri="{9D8B030D-6E8A-4147-A177-3AD203B41FA5}">
                      <a16:colId xmlns:a16="http://schemas.microsoft.com/office/drawing/2014/main" val="535038"/>
                    </a:ext>
                  </a:extLst>
                </a:gridCol>
                <a:gridCol w="1557933">
                  <a:extLst>
                    <a:ext uri="{9D8B030D-6E8A-4147-A177-3AD203B41FA5}">
                      <a16:colId xmlns:a16="http://schemas.microsoft.com/office/drawing/2014/main" val="4066786244"/>
                    </a:ext>
                  </a:extLst>
                </a:gridCol>
                <a:gridCol w="1891020">
                  <a:extLst>
                    <a:ext uri="{9D8B030D-6E8A-4147-A177-3AD203B41FA5}">
                      <a16:colId xmlns:a16="http://schemas.microsoft.com/office/drawing/2014/main" val="3637384992"/>
                    </a:ext>
                  </a:extLst>
                </a:gridCol>
                <a:gridCol w="1891020">
                  <a:extLst>
                    <a:ext uri="{9D8B030D-6E8A-4147-A177-3AD203B41FA5}">
                      <a16:colId xmlns:a16="http://schemas.microsoft.com/office/drawing/2014/main" val="4041603473"/>
                    </a:ext>
                  </a:extLst>
                </a:gridCol>
                <a:gridCol w="2060365">
                  <a:extLst>
                    <a:ext uri="{9D8B030D-6E8A-4147-A177-3AD203B41FA5}">
                      <a16:colId xmlns:a16="http://schemas.microsoft.com/office/drawing/2014/main" val="1199935892"/>
                    </a:ext>
                  </a:extLst>
                </a:gridCol>
                <a:gridCol w="2838656">
                  <a:extLst>
                    <a:ext uri="{9D8B030D-6E8A-4147-A177-3AD203B41FA5}">
                      <a16:colId xmlns:a16="http://schemas.microsoft.com/office/drawing/2014/main" val="2861968143"/>
                    </a:ext>
                  </a:extLst>
                </a:gridCol>
              </a:tblGrid>
              <a:tr h="470073">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ID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Descrição do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Tipo de Testes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Pré-condições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Passos de Teste</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Resultado Esperado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686099">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T01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à vista com título vencido de baixo valor.</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classe 1A, desbloqueado, com título de R$ 45,90 vencido há 1 dia.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Executar o job. 2) Abrir 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proposto para bloqueio com valor e dias de atraso corretos.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536947">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T02</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a prazo no limite da régua.</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Dois clientes classe 2A, com R$ 500,00 e R$ 500,01 vencidos há 1 dia.</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Executar o job. 2) Consultar a lista de trabalho.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Apenas o cliente com R$ 500,01 é proposto para bloqueio.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01522170"/>
                  </a:ext>
                </a:extLst>
              </a:tr>
              <a:tr h="304622">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T03</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Título com vencimento no dia.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à vista com título vencendo no dia da execução.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Executar o job.</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não proposto (atraso inferior a 1 dia).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04132126"/>
                  </a:ext>
                </a:extLst>
              </a:tr>
              <a:tr h="304622">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T04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Bloqueio em massa com desmarcação individual.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Lista de trabalho com propostas de 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Selecionar todos. 2) Desmarcar um cliente. 3) Informar o motivo e confirmar.</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Bloqueio e motivo gravados nos clientes selecionados e log registrado; cliente desmarcado permanece desbloqueado.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34208166"/>
                  </a:ext>
                </a:extLst>
              </a:tr>
              <a:tr h="304622">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T05</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Desbloqueio de cliente regularizado.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cujos títulos foram compensados.</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Executar o job. 2) Desbloquear pelo app.</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proposto para desbloqueio; bloqueio retirado e log registrado.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304622">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T06</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por outro motivo.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no app standard por problema fiscal, sem títulos vencidos.</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Executar o job.</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não proposto para desbloqueio.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934838449"/>
                  </a:ext>
                </a:extLst>
              </a:tr>
              <a:tr h="304622">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T07</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Crédito sazonal preservado.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com crédito sazonal ativo e proposto para bloqueio.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Bloquear pelo app. 2) Desbloquear após regularização.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Limite de crédito sazonal inalterado em ambas as ações.</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11640596"/>
                  </a:ext>
                </a:extLst>
              </a:tr>
              <a:tr h="304622">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T08</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Execução do job com a base completa.</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Performance</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Base completa de clientes com função UKM000 no segmento 1000.</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Executar o job em background.</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Execução concluída dentro da janela definida, sem timeout.</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69268000"/>
                  </a:ext>
                </a:extLst>
              </a:tr>
            </a:tbl>
          </a:graphicData>
        </a:graphic>
      </p:graphicFrame>
    </p:spTree>
    <p:extLst>
      <p:ext uri="{BB962C8B-B14F-4D97-AF65-F5344CB8AC3E}">
        <p14:creationId xmlns:p14="http://schemas.microsoft.com/office/powerpoint/2010/main" val="68914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9624-3E0F-D02F-4C8C-1F00660C947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CE4D2B6E-F81C-77FF-2DDC-7DB701C89422}"/>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Plano de Testes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CDFEEA-ED8A-5FA0-5029-FFEAE681CE6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10" name="Tabela 9">
            <a:extLst>
              <a:ext uri="{FF2B5EF4-FFF2-40B4-BE49-F238E27FC236}">
                <a16:creationId xmlns:a16="http://schemas.microsoft.com/office/drawing/2014/main" id="{E933BD7D-416B-F560-641D-181CCDFBF20D}"/>
              </a:ext>
            </a:extLst>
          </p:cNvPr>
          <p:cNvGraphicFramePr>
            <a:graphicFrameLocks noGrp="1"/>
          </p:cNvGraphicFramePr>
          <p:nvPr>
            <p:extLst>
              <p:ext uri="{D42A27DB-BD31-4B8C-83A1-F6EECF244321}">
                <p14:modId xmlns:p14="http://schemas.microsoft.com/office/powerpoint/2010/main" val="3392127618"/>
              </p:ext>
            </p:extLst>
          </p:nvPr>
        </p:nvGraphicFramePr>
        <p:xfrm>
          <a:off x="672301" y="1608311"/>
          <a:ext cx="10995443" cy="3554649"/>
        </p:xfrm>
        <a:graphic>
          <a:graphicData uri="http://schemas.openxmlformats.org/drawingml/2006/table">
            <a:tbl>
              <a:tblPr/>
              <a:tblGrid>
                <a:gridCol w="756449">
                  <a:extLst>
                    <a:ext uri="{9D8B030D-6E8A-4147-A177-3AD203B41FA5}">
                      <a16:colId xmlns:a16="http://schemas.microsoft.com/office/drawing/2014/main" val="535038"/>
                    </a:ext>
                  </a:extLst>
                </a:gridCol>
                <a:gridCol w="1557933">
                  <a:extLst>
                    <a:ext uri="{9D8B030D-6E8A-4147-A177-3AD203B41FA5}">
                      <a16:colId xmlns:a16="http://schemas.microsoft.com/office/drawing/2014/main" val="4066786244"/>
                    </a:ext>
                  </a:extLst>
                </a:gridCol>
                <a:gridCol w="1891020">
                  <a:extLst>
                    <a:ext uri="{9D8B030D-6E8A-4147-A177-3AD203B41FA5}">
                      <a16:colId xmlns:a16="http://schemas.microsoft.com/office/drawing/2014/main" val="3637384992"/>
                    </a:ext>
                  </a:extLst>
                </a:gridCol>
                <a:gridCol w="1891020">
                  <a:extLst>
                    <a:ext uri="{9D8B030D-6E8A-4147-A177-3AD203B41FA5}">
                      <a16:colId xmlns:a16="http://schemas.microsoft.com/office/drawing/2014/main" val="4041603473"/>
                    </a:ext>
                  </a:extLst>
                </a:gridCol>
                <a:gridCol w="2060365">
                  <a:extLst>
                    <a:ext uri="{9D8B030D-6E8A-4147-A177-3AD203B41FA5}">
                      <a16:colId xmlns:a16="http://schemas.microsoft.com/office/drawing/2014/main" val="1199935892"/>
                    </a:ext>
                  </a:extLst>
                </a:gridCol>
                <a:gridCol w="2838656">
                  <a:extLst>
                    <a:ext uri="{9D8B030D-6E8A-4147-A177-3AD203B41FA5}">
                      <a16:colId xmlns:a16="http://schemas.microsoft.com/office/drawing/2014/main" val="2861968143"/>
                    </a:ext>
                  </a:extLst>
                </a:gridCol>
              </a:tblGrid>
              <a:tr h="470073">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ID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Descrição do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Tipo de Testes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Pré-condições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Passos de Teste</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Resultado Esperado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T09</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Bloqueio alterado no app standard.</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bloqueado pelo app, com o motivo alterado no app Administrar contas de crédito e títulos compensados.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1) Executar o </a:t>
                      </a:r>
                      <a:r>
                        <a:rPr lang="pt-BR" sz="900" err="1">
                          <a:effectLst/>
                          <a:latin typeface="Noto Sans"/>
                          <a:ea typeface="Noto Sans"/>
                          <a:cs typeface="Noto Sans"/>
                        </a:rPr>
                        <a:t>job</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não proposto para desbloqueio; permanece sob gestão individual.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T10</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Motivo de inadimplência usado fora do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bloqueado no app standard com o motivo de inadimplência, sem registro no log e sem títulos vencidos.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1) Executar o </a:t>
                      </a:r>
                      <a:r>
                        <a:rPr lang="pt-BR" sz="900" err="1">
                          <a:effectLst/>
                          <a:latin typeface="Noto Sans"/>
                          <a:ea typeface="Noto Sans"/>
                          <a:cs typeface="Noto Sans"/>
                        </a:rPr>
                        <a:t>job</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não proposto para desbloqueio.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78159874"/>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Erro em um cliente durante a ação em massa.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Três clientes sendo propostos para bloqueio, porém um destes não foi bloqueado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Selecionar os três clientes. 2) Bloquear.</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Dois clientes bloqueados e registrados no log; mensagem de erro apenas para o cliente em edição.</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33419459"/>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T12</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Bloqueio comunicado aos legados.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Integrado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proposto para bloqueio e DEL-COM-051 disponível no ambiente de testes.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Bloquear pelo app. 2) Consultar o histórico de alterações do cliente e o monitor do DEL-COM-051.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Alteração registrada no histórico standard e situação BLOQUEADO publicada pelo DEL-COM-051.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650468233"/>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T13</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migrado no go-live.</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migrado bloqueado por inadimplência, com registro de carga inicial no log e títulos compensados.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1) Executar o </a:t>
                      </a:r>
                      <a:r>
                        <a:rPr lang="pt-BR" sz="900" err="1">
                          <a:effectLst/>
                          <a:latin typeface="Noto Sans"/>
                          <a:ea typeface="Noto Sans"/>
                          <a:cs typeface="Noto Sans"/>
                        </a:rPr>
                        <a:t>job</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proposto para desbloqueio.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71709328"/>
                  </a:ext>
                </a:extLst>
              </a:tr>
            </a:tbl>
          </a:graphicData>
        </a:graphic>
      </p:graphicFrame>
    </p:spTree>
    <p:extLst>
      <p:ext uri="{BB962C8B-B14F-4D97-AF65-F5344CB8AC3E}">
        <p14:creationId xmlns:p14="http://schemas.microsoft.com/office/powerpoint/2010/main" val="68914411"/>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9624-3E0F-D02F-4C8C-1F00660C947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CE4D2B6E-F81C-77FF-2DDC-7DB701C89422}"/>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Plano de Testes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CDFEEA-ED8A-5FA0-5029-FFEAE681CE6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10" name="Tabela 9">
            <a:extLst>
              <a:ext uri="{FF2B5EF4-FFF2-40B4-BE49-F238E27FC236}">
                <a16:creationId xmlns:a16="http://schemas.microsoft.com/office/drawing/2014/main" id="{E933BD7D-416B-F560-641D-181CCDFBF20D}"/>
              </a:ext>
            </a:extLst>
          </p:cNvPr>
          <p:cNvGraphicFramePr>
            <a:graphicFrameLocks noGrp="1"/>
          </p:cNvGraphicFramePr>
          <p:nvPr>
            <p:extLst>
              <p:ext uri="{D42A27DB-BD31-4B8C-83A1-F6EECF244321}">
                <p14:modId xmlns:p14="http://schemas.microsoft.com/office/powerpoint/2010/main" val="2096006479"/>
              </p:ext>
            </p:extLst>
          </p:nvPr>
        </p:nvGraphicFramePr>
        <p:xfrm>
          <a:off x="672301" y="1608311"/>
          <a:ext cx="10995443" cy="3962453"/>
        </p:xfrm>
        <a:graphic>
          <a:graphicData uri="http://schemas.openxmlformats.org/drawingml/2006/table">
            <a:tbl>
              <a:tblPr/>
              <a:tblGrid>
                <a:gridCol w="756449">
                  <a:extLst>
                    <a:ext uri="{9D8B030D-6E8A-4147-A177-3AD203B41FA5}">
                      <a16:colId xmlns:a16="http://schemas.microsoft.com/office/drawing/2014/main" val="535038"/>
                    </a:ext>
                  </a:extLst>
                </a:gridCol>
                <a:gridCol w="1557933">
                  <a:extLst>
                    <a:ext uri="{9D8B030D-6E8A-4147-A177-3AD203B41FA5}">
                      <a16:colId xmlns:a16="http://schemas.microsoft.com/office/drawing/2014/main" val="4066786244"/>
                    </a:ext>
                  </a:extLst>
                </a:gridCol>
                <a:gridCol w="1891020">
                  <a:extLst>
                    <a:ext uri="{9D8B030D-6E8A-4147-A177-3AD203B41FA5}">
                      <a16:colId xmlns:a16="http://schemas.microsoft.com/office/drawing/2014/main" val="3637384992"/>
                    </a:ext>
                  </a:extLst>
                </a:gridCol>
                <a:gridCol w="1891020">
                  <a:extLst>
                    <a:ext uri="{9D8B030D-6E8A-4147-A177-3AD203B41FA5}">
                      <a16:colId xmlns:a16="http://schemas.microsoft.com/office/drawing/2014/main" val="4041603473"/>
                    </a:ext>
                  </a:extLst>
                </a:gridCol>
                <a:gridCol w="2060365">
                  <a:extLst>
                    <a:ext uri="{9D8B030D-6E8A-4147-A177-3AD203B41FA5}">
                      <a16:colId xmlns:a16="http://schemas.microsoft.com/office/drawing/2014/main" val="1199935892"/>
                    </a:ext>
                  </a:extLst>
                </a:gridCol>
                <a:gridCol w="2838656">
                  <a:extLst>
                    <a:ext uri="{9D8B030D-6E8A-4147-A177-3AD203B41FA5}">
                      <a16:colId xmlns:a16="http://schemas.microsoft.com/office/drawing/2014/main" val="2861968143"/>
                    </a:ext>
                  </a:extLst>
                </a:gridCol>
              </a:tblGrid>
              <a:tr h="470073">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ID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Descrição do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Tipo de Testes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Pré-condições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Passos de Teste</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Resultado Esperado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Bloqueio de clientes vinculados.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Filial com título vencido acima da régua; BP principal e outra filial sem vencidos.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a:ea typeface="Noto Sans"/>
                          <a:cs typeface="Noto Sans"/>
                        </a:rPr>
                        <a:t>1) Executar o </a:t>
                      </a:r>
                      <a:r>
                        <a:rPr lang="pt-BR" sz="900" dirty="0" err="1">
                          <a:effectLst/>
                          <a:latin typeface="Noto Sans"/>
                          <a:ea typeface="Noto Sans"/>
                          <a:cs typeface="Noto Sans"/>
                        </a:rPr>
                        <a:t>job</a:t>
                      </a:r>
                      <a:r>
                        <a:rPr lang="pt-BR" sz="900" dirty="0">
                          <a:effectLst/>
                          <a:latin typeface="Noto Sans"/>
                          <a:ea typeface="Noto Sans"/>
                          <a:cs typeface="Noto Sans"/>
                        </a:rPr>
                        <a:t>. 2) Bloquear pelo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a:ea typeface="Noto Sans"/>
                          <a:cs typeface="Noto Sans"/>
                        </a:rPr>
                        <a:t>Os três </a:t>
                      </a:r>
                      <a:r>
                        <a:rPr lang="pt-BR" sz="900" dirty="0" err="1">
                          <a:effectLst/>
                          <a:latin typeface="Noto Sans"/>
                          <a:ea typeface="Noto Sans"/>
                          <a:cs typeface="Noto Sans"/>
                        </a:rPr>
                        <a:t>BPs</a:t>
                      </a:r>
                      <a:r>
                        <a:rPr lang="pt-BR" sz="900" dirty="0">
                          <a:effectLst/>
                          <a:latin typeface="Noto Sans"/>
                          <a:ea typeface="Noto Sans"/>
                          <a:cs typeface="Noto Sans"/>
                        </a:rPr>
                        <a:t> propostos e bloqueados, com o BP de origem registrado no log de cada um.</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T15</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Grupo parcialmente regularizado.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a:ea typeface="Noto Sans"/>
                          <a:cs typeface="Noto Sans"/>
                        </a:rPr>
                        <a:t>Grupo bloqueado pelo app; apenas um dos </a:t>
                      </a:r>
                      <a:r>
                        <a:rPr lang="pt-BR" sz="900" dirty="0" err="1">
                          <a:effectLst/>
                          <a:latin typeface="Noto Sans"/>
                          <a:ea typeface="Noto Sans"/>
                          <a:cs typeface="Noto Sans"/>
                        </a:rPr>
                        <a:t>BPs</a:t>
                      </a:r>
                      <a:r>
                        <a:rPr lang="pt-BR" sz="900" dirty="0">
                          <a:effectLst/>
                          <a:latin typeface="Noto Sans"/>
                          <a:ea typeface="Noto Sans"/>
                          <a:cs typeface="Noto Sans"/>
                        </a:rPr>
                        <a:t> regularizado.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a:ea typeface="Noto Sans"/>
                          <a:cs typeface="Noto Sans"/>
                        </a:rPr>
                        <a:t>1) Executar o </a:t>
                      </a:r>
                      <a:r>
                        <a:rPr lang="pt-BR" sz="900" dirty="0" err="1">
                          <a:effectLst/>
                          <a:latin typeface="Noto Sans"/>
                          <a:ea typeface="Noto Sans"/>
                          <a:cs typeface="Noto Sans"/>
                        </a:rPr>
                        <a:t>job</a:t>
                      </a:r>
                      <a:r>
                        <a:rPr lang="pt-BR" sz="900" dirty="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Nenhum BP do grupo proposto para desbloqueio.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71229771"/>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T16</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da classe 5 – CVH Interna.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classe 5 com título vencido.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a:ea typeface="Noto Sans"/>
                          <a:cs typeface="Noto Sans"/>
                        </a:rPr>
                        <a:t>1) Executar o </a:t>
                      </a:r>
                      <a:r>
                        <a:rPr lang="pt-BR" sz="900" dirty="0" err="1">
                          <a:effectLst/>
                          <a:latin typeface="Noto Sans"/>
                          <a:ea typeface="Noto Sans"/>
                          <a:cs typeface="Noto Sans"/>
                        </a:rPr>
                        <a:t>job</a:t>
                      </a:r>
                      <a:r>
                        <a:rPr lang="pt-BR" sz="900" dirty="0">
                          <a:effectLst/>
                          <a:latin typeface="Noto Sans"/>
                          <a:ea typeface="Noto Sans"/>
                          <a:cs typeface="Noto Sans"/>
                        </a:rPr>
                        <a:t>. 2) Abrir 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não avaliado e não exibido no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934219167"/>
                  </a:ext>
                </a:extLst>
              </a:tr>
              <a:tr h="566928">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T17</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Filtro por segmento de atuação.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Lista com clientes de segmentos diferentes, incluindo Autosserviço.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1) Filtrar o app pelos segmentos desejados.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Apenas os clientes dos segmentos selecionados são exibidos.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107789780"/>
                  </a:ext>
                </a:extLst>
              </a:tr>
              <a:tr h="566928">
                <a:tc>
                  <a:txBody>
                    <a:bodyPr/>
                    <a:lstStyle/>
                    <a:p>
                      <a:pPr lvl="0">
                        <a:buNone/>
                      </a:pPr>
                      <a:r>
                        <a:rPr lang="pt-BR" sz="900" b="0" i="0" u="none" strike="noStrike" noProof="0">
                          <a:effectLst/>
                        </a:rPr>
                        <a:t>T18</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tc>
                  <a:txBody>
                    <a:bodyPr/>
                    <a:lstStyle/>
                    <a:p>
                      <a:pPr lvl="0">
                        <a:buNone/>
                      </a:pPr>
                      <a:r>
                        <a:rPr lang="pt-BR" sz="900" b="0" i="0" u="none" strike="noStrike" noProof="0">
                          <a:effectLst/>
                        </a:rPr>
                        <a:t>Inclusão de nova filial em grupo bloqueado.</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tc>
                  <a:txBody>
                    <a:bodyPr/>
                    <a:lstStyle/>
                    <a:p>
                      <a:pPr lvl="0">
                        <a:buNone/>
                      </a:pPr>
                      <a:r>
                        <a:rPr lang="pt-BR" sz="900" b="0" i="0" u="none" strike="noStrike" noProof="0">
                          <a:effectLst/>
                        </a:rPr>
                        <a:t>Funcional</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tc>
                  <a:txBody>
                    <a:bodyPr/>
                    <a:lstStyle/>
                    <a:p>
                      <a:pPr lvl="0">
                        <a:buNone/>
                      </a:pPr>
                      <a:r>
                        <a:rPr lang="pt-BR" sz="900" b="0" i="0" u="none" strike="noStrike" noProof="0">
                          <a:effectLst/>
                        </a:rPr>
                        <a:t>Grupo bloqueado pelo app por inadimplência de uma filial, nova filial vinculada ao BP principal após o bloqueio.</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tc>
                  <a:txBody>
                    <a:bodyPr/>
                    <a:lstStyle/>
                    <a:p>
                      <a:pPr lvl="0">
                        <a:buNone/>
                      </a:pPr>
                      <a:r>
                        <a:rPr lang="pt-BR" sz="900" b="0" i="0" u="none" strike="noStrike" noProof="0">
                          <a:effectLst/>
                        </a:rPr>
                        <a:t>1) Vincular a nova filial na hierarquia de crédito. 2) Atualizar a lista do app.</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tc>
                  <a:txBody>
                    <a:bodyPr/>
                    <a:lstStyle/>
                    <a:p>
                      <a:pPr lvl="0">
                        <a:buNone/>
                      </a:pPr>
                      <a:r>
                        <a:rPr lang="pt-BR" sz="900" b="0" i="0" u="none" strike="noStrike" noProof="0">
                          <a:effectLst/>
                        </a:rPr>
                        <a:t>Nova filial proposta para bloqueio, com o BP de origem do grupo</a:t>
                      </a:r>
                      <a:endParaRPr lang="pt-BR"/>
                    </a:p>
                  </a:txBody>
                  <a:tcPr marL="63500" marR="63500" marT="50799" marB="50799" anchor="ctr">
                    <a:lnL w="15678">
                      <a:solidFill>
                        <a:srgbClr val="FFFFFF"/>
                      </a:solidFill>
                    </a:lnL>
                    <a:lnR w="15678">
                      <a:solidFill>
                        <a:srgbClr val="FFFFFF"/>
                      </a:solidFill>
                    </a:lnR>
                    <a:lnT w="15678">
                      <a:solidFill>
                        <a:srgbClr val="FFFFFF"/>
                      </a:solidFill>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02863570"/>
                  </a:ext>
                </a:extLst>
              </a:tr>
              <a:tr h="574430">
                <a:tc>
                  <a:txBody>
                    <a:bodyPr/>
                    <a:lstStyle/>
                    <a:p>
                      <a:pPr lvl="0">
                        <a:buNone/>
                      </a:pPr>
                      <a:r>
                        <a:rPr lang="pt-BR" sz="900" b="0" i="0" u="none" strike="noStrike" noProof="0">
                          <a:effectLst/>
                          <a:latin typeface="Calibri"/>
                          <a:ea typeface="Calibri"/>
                          <a:cs typeface="Calibri"/>
                        </a:rPr>
                        <a:t>T19</a:t>
                      </a:r>
                      <a:endParaRPr lang="pt-BR"/>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tc>
                  <a:txBody>
                    <a:bodyPr/>
                    <a:lstStyle/>
                    <a:p>
                      <a:pPr lvl="0">
                        <a:buNone/>
                      </a:pPr>
                      <a:r>
                        <a:rPr lang="pt-BR" sz="900" b="0" i="0" u="none" strike="noStrike" noProof="0">
                          <a:effectLst/>
                          <a:latin typeface="Calibri"/>
                          <a:ea typeface="Calibri"/>
                          <a:cs typeface="Calibri"/>
                        </a:rPr>
                        <a:t>Exclusão da filial inadimplente do grupo</a:t>
                      </a:r>
                      <a:endParaRPr lang="pt-BR"/>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tc>
                  <a:txBody>
                    <a:bodyPr/>
                    <a:lstStyle/>
                    <a:p>
                      <a:pPr lvl="0">
                        <a:buNone/>
                      </a:pPr>
                      <a:r>
                        <a:rPr lang="pt-BR" sz="900" b="0" i="0" u="none" strike="noStrike" noProof="0">
                          <a:effectLst/>
                          <a:latin typeface="Calibri"/>
                          <a:ea typeface="Calibri"/>
                          <a:cs typeface="Calibri"/>
                        </a:rPr>
                        <a:t>Funcional</a:t>
                      </a:r>
                      <a:endParaRPr lang="pt-BR"/>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tc>
                  <a:txBody>
                    <a:bodyPr/>
                    <a:lstStyle/>
                    <a:p>
                      <a:pPr lvl="0">
                        <a:buNone/>
                      </a:pPr>
                      <a:r>
                        <a:rPr lang="pt-BR" sz="900" b="0" i="0" u="none" strike="noStrike" noProof="0" dirty="0">
                          <a:effectLst/>
                          <a:latin typeface="Calibri"/>
                          <a:ea typeface="Calibri"/>
                          <a:cs typeface="Calibri"/>
                        </a:rPr>
                        <a:t>Grupo bloqueado pelo app por inadimplência de uma filial, demais </a:t>
                      </a:r>
                      <a:r>
                        <a:rPr lang="pt-BR" sz="900" b="0" i="0" u="none" strike="noStrike" noProof="0" dirty="0" err="1">
                          <a:effectLst/>
                          <a:latin typeface="Calibri"/>
                          <a:ea typeface="Calibri"/>
                          <a:cs typeface="Calibri"/>
                        </a:rPr>
                        <a:t>BPs</a:t>
                      </a:r>
                      <a:r>
                        <a:rPr lang="pt-BR" sz="900" b="0" i="0" u="none" strike="noStrike" noProof="0" dirty="0">
                          <a:effectLst/>
                          <a:latin typeface="Calibri"/>
                          <a:ea typeface="Calibri"/>
                          <a:cs typeface="Calibri"/>
                        </a:rPr>
                        <a:t> sem títulos vencidos.</a:t>
                      </a:r>
                      <a:endParaRPr lang="pt-BR" dirty="0"/>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tc>
                  <a:txBody>
                    <a:bodyPr/>
                    <a:lstStyle/>
                    <a:p>
                      <a:pPr lvl="0">
                        <a:buNone/>
                      </a:pPr>
                      <a:r>
                        <a:rPr lang="pt-BR" sz="900" b="0" i="0" u="none" strike="noStrike" noProof="0">
                          <a:effectLst/>
                          <a:latin typeface="Calibri"/>
                          <a:ea typeface="Calibri"/>
                          <a:cs typeface="Calibri"/>
                        </a:rPr>
                        <a:t>1) Encerrar a relação da filial na hierarquia de crédito. 2) Atualizar a lista do app.</a:t>
                      </a:r>
                      <a:endParaRPr lang="pt-BR"/>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tc>
                  <a:txBody>
                    <a:bodyPr/>
                    <a:lstStyle/>
                    <a:p>
                      <a:pPr lvl="0">
                        <a:buNone/>
                      </a:pPr>
                      <a:r>
                        <a:rPr lang="pt-BR" sz="900" b="0" i="0" u="none" strike="noStrike" noProof="0">
                          <a:effectLst/>
                          <a:latin typeface="Calibri"/>
                          <a:ea typeface="Calibri"/>
                          <a:cs typeface="Calibri"/>
                        </a:rPr>
                        <a:t>BP principal e demais filiais propostos para desbloqueio, filial removida permanece bloqueada.</a:t>
                      </a:r>
                      <a:endParaRPr lang="pt-BR"/>
                    </a:p>
                  </a:txBody>
                  <a:tcPr marL="63500" marR="63500" marT="50798" marB="50798" anchor="ctr">
                    <a:lnL w="15678">
                      <a:solidFill>
                        <a:srgbClr val="FFFFFF"/>
                      </a:solidFill>
                    </a:lnL>
                    <a:lnR w="15678">
                      <a:solidFill>
                        <a:srgbClr val="FFFFFF"/>
                      </a:solidFill>
                    </a:lnR>
                    <a:lnT w="15678">
                      <a:solidFill>
                        <a:srgbClr val="FFFFFF"/>
                      </a:solidFill>
                    </a:lnT>
                    <a:lnB w="15678">
                      <a:solidFill>
                        <a:srgbClr val="FFFFFF"/>
                      </a:solidFill>
                    </a:lnB>
                    <a:solidFill>
                      <a:srgbClr val="F2F2F2"/>
                    </a:solidFill>
                  </a:tcPr>
                </a:tc>
                <a:extLst>
                  <a:ext uri="{0D108BD9-81ED-4DB2-BD59-A6C34878D82A}">
                    <a16:rowId xmlns:a16="http://schemas.microsoft.com/office/drawing/2014/main" val="2985827409"/>
                  </a:ext>
                </a:extLst>
              </a:tr>
            </a:tbl>
          </a:graphicData>
        </a:graphic>
      </p:graphicFrame>
    </p:spTree>
    <p:extLst>
      <p:ext uri="{BB962C8B-B14F-4D97-AF65-F5344CB8AC3E}">
        <p14:creationId xmlns:p14="http://schemas.microsoft.com/office/powerpoint/2010/main" val="68914411"/>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CF13-BE8C-9892-373C-F1E6C162452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BB922AD7-456B-8523-5DAA-E1E9D4CD266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err="1">
                <a:solidFill>
                  <a:srgbClr val="E7640A"/>
                </a:solidFill>
                <a:latin typeface="Noto Sans" panose="020B0502040504020204" pitchFamily="34" charset="0"/>
                <a:ea typeface="Noto Sans" panose="020B0502040504020204" pitchFamily="34" charset="0"/>
                <a:cs typeface="Noto Sans" panose="020B0502040504020204" pitchFamily="34" charset="0"/>
              </a:rPr>
              <a:t>Cutover</a:t>
            </a: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 Técnico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87F9D7A9-F251-3CF7-4D11-5D91150C1511}"/>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964B5684-5529-8DA6-37B8-4C1FD333CBFB}"/>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6" name="Tabela 5">
            <a:extLst>
              <a:ext uri="{FF2B5EF4-FFF2-40B4-BE49-F238E27FC236}">
                <a16:creationId xmlns:a16="http://schemas.microsoft.com/office/drawing/2014/main" id="{18A75B28-A6CE-B366-35DA-C1CF54205E09}"/>
              </a:ext>
            </a:extLst>
          </p:cNvPr>
          <p:cNvGraphicFramePr>
            <a:graphicFrameLocks noGrp="1"/>
          </p:cNvGraphicFramePr>
          <p:nvPr>
            <p:extLst>
              <p:ext uri="{D42A27DB-BD31-4B8C-83A1-F6EECF244321}">
                <p14:modId xmlns:p14="http://schemas.microsoft.com/office/powerpoint/2010/main" val="1632885426"/>
              </p:ext>
            </p:extLst>
          </p:nvPr>
        </p:nvGraphicFramePr>
        <p:xfrm>
          <a:off x="711459" y="1654698"/>
          <a:ext cx="10769082" cy="3555829"/>
        </p:xfrm>
        <a:graphic>
          <a:graphicData uri="http://schemas.openxmlformats.org/drawingml/2006/table">
            <a:tbl>
              <a:tblPr/>
              <a:tblGrid>
                <a:gridCol w="325070">
                  <a:extLst>
                    <a:ext uri="{9D8B030D-6E8A-4147-A177-3AD203B41FA5}">
                      <a16:colId xmlns:a16="http://schemas.microsoft.com/office/drawing/2014/main" val="710816635"/>
                    </a:ext>
                  </a:extLst>
                </a:gridCol>
                <a:gridCol w="2082783">
                  <a:extLst>
                    <a:ext uri="{9D8B030D-6E8A-4147-A177-3AD203B41FA5}">
                      <a16:colId xmlns:a16="http://schemas.microsoft.com/office/drawing/2014/main" val="1327727739"/>
                    </a:ext>
                  </a:extLst>
                </a:gridCol>
                <a:gridCol w="1022230">
                  <a:extLst>
                    <a:ext uri="{9D8B030D-6E8A-4147-A177-3AD203B41FA5}">
                      <a16:colId xmlns:a16="http://schemas.microsoft.com/office/drawing/2014/main" val="3559504817"/>
                    </a:ext>
                  </a:extLst>
                </a:gridCol>
                <a:gridCol w="1159802">
                  <a:extLst>
                    <a:ext uri="{9D8B030D-6E8A-4147-A177-3AD203B41FA5}">
                      <a16:colId xmlns:a16="http://schemas.microsoft.com/office/drawing/2014/main" val="3035200208"/>
                    </a:ext>
                  </a:extLst>
                </a:gridCol>
                <a:gridCol w="1065313">
                  <a:extLst>
                    <a:ext uri="{9D8B030D-6E8A-4147-A177-3AD203B41FA5}">
                      <a16:colId xmlns:a16="http://schemas.microsoft.com/office/drawing/2014/main" val="2538224067"/>
                    </a:ext>
                  </a:extLst>
                </a:gridCol>
                <a:gridCol w="904280">
                  <a:extLst>
                    <a:ext uri="{9D8B030D-6E8A-4147-A177-3AD203B41FA5}">
                      <a16:colId xmlns:a16="http://schemas.microsoft.com/office/drawing/2014/main" val="3970119531"/>
                    </a:ext>
                  </a:extLst>
                </a:gridCol>
                <a:gridCol w="875207">
                  <a:extLst>
                    <a:ext uri="{9D8B030D-6E8A-4147-A177-3AD203B41FA5}">
                      <a16:colId xmlns:a16="http://schemas.microsoft.com/office/drawing/2014/main" val="737728385"/>
                    </a:ext>
                  </a:extLst>
                </a:gridCol>
                <a:gridCol w="1158240">
                  <a:extLst>
                    <a:ext uri="{9D8B030D-6E8A-4147-A177-3AD203B41FA5}">
                      <a16:colId xmlns:a16="http://schemas.microsoft.com/office/drawing/2014/main" val="1316309661"/>
                    </a:ext>
                  </a:extLst>
                </a:gridCol>
                <a:gridCol w="2176157">
                  <a:extLst>
                    <a:ext uri="{9D8B030D-6E8A-4147-A177-3AD203B41FA5}">
                      <a16:colId xmlns:a16="http://schemas.microsoft.com/office/drawing/2014/main" val="389880849"/>
                    </a:ext>
                  </a:extLst>
                </a:gridCol>
              </a:tblGrid>
              <a:tr h="625685">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Nome da tarefa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Transação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Predecessoras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Responsável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Duração (h)</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Ambiente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Mandante aberto ou fechado?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Observações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797644560"/>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1</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Transporte dos objetos de desenvolvimento (App Fiori, CDS, classes, programa do </a:t>
                      </a:r>
                      <a:r>
                        <a:rPr lang="pt-BR" sz="800" err="1">
                          <a:effectLst/>
                          <a:latin typeface="Noto Sans"/>
                          <a:ea typeface="Noto Sans"/>
                          <a:cs typeface="Noto Sans"/>
                        </a:rPr>
                        <a:t>job</a:t>
                      </a:r>
                      <a:r>
                        <a:rPr lang="pt-BR" sz="800">
                          <a:effectLst/>
                          <a:latin typeface="Noto Sans"/>
                          <a:ea typeface="Noto Sans"/>
                          <a:cs typeface="Noto Sans"/>
                        </a:rPr>
                        <a:t>, tabelas Z e objeto de autorização)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SE09 / SE10</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Aprovação em QAS</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Equipe ABAP</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Aberto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7213480"/>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2</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Configuração dos motivos de bloqueio de crédito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SPRO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Transporte concluído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Consultor FI-AR / FSCM</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1</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a:ea typeface="Noto Sans"/>
                          <a:cs typeface="Noto Sans"/>
                        </a:rPr>
                        <a:t>Via transporte de </a:t>
                      </a:r>
                      <a:r>
                        <a:rPr lang="pt-BR" sz="800" err="1">
                          <a:effectLst/>
                          <a:latin typeface="Noto Sans"/>
                          <a:ea typeface="Noto Sans"/>
                          <a:cs typeface="Noto Sans"/>
                        </a:rPr>
                        <a:t>customizing</a:t>
                      </a:r>
                      <a:r>
                        <a:rPr lang="pt-BR" sz="800">
                          <a:effectLst/>
                          <a:latin typeface="Noto Sans"/>
                          <a:ea typeface="Noto Sans"/>
                          <a:cs typeface="Noto Sans"/>
                        </a:rPr>
                        <a:t>; motivo Inadimplência.</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8823322"/>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3</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Validação da classe de risco, do segmento de atuação e da hierarquia de crédito dos clientes migrados</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Carga DEL-R2R-038</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Consultor FSCM / Crédito </a:t>
                      </a:r>
                      <a:r>
                        <a:rPr lang="pt-BR" sz="800" err="1">
                          <a:effectLst/>
                          <a:latin typeface="Noto Sans"/>
                          <a:ea typeface="Noto Sans"/>
                          <a:cs typeface="Noto Sans"/>
                        </a:rPr>
                        <a:t>Veiling</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Classe de risco em todo cliente UKM000; Autosserviço com segmento preenchido; vínculos conforme o legado.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2021809"/>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4</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Carga inicial dos bloqueios vigentes no sistema legado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Item 3</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Crédito </a:t>
                      </a:r>
                      <a:r>
                        <a:rPr lang="pt-BR" sz="800" err="1">
                          <a:effectLst/>
                          <a:latin typeface="Noto Sans"/>
                          <a:ea typeface="Noto Sans"/>
                          <a:cs typeface="Noto Sans"/>
                        </a:rPr>
                        <a:t>Veiling</a:t>
                      </a:r>
                      <a:r>
                        <a:rPr lang="pt-BR" sz="800">
                          <a:effectLst/>
                          <a:latin typeface="Noto Sans"/>
                          <a:ea typeface="Noto Sans"/>
                          <a:cs typeface="Noto Sans"/>
                        </a:rPr>
                        <a:t> / Consultor FSCM</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Via DEL-R2R-038 ou carga dedicada </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6649748"/>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5</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Registro inicial na tabela Z de log dos clientes migrados bloqueados por inadimplência (origem: carga inicial)</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Programa de carga</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Item 4</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Equipe ABAP / Consultor FI-AR</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1</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Permite propor o desbloqueio após a regularização.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91965609"/>
                  </a:ext>
                </a:extLst>
              </a:tr>
            </a:tbl>
          </a:graphicData>
        </a:graphic>
      </p:graphicFrame>
    </p:spTree>
    <p:extLst>
      <p:ext uri="{BB962C8B-B14F-4D97-AF65-F5344CB8AC3E}">
        <p14:creationId xmlns:p14="http://schemas.microsoft.com/office/powerpoint/2010/main" val="1634643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1B16-1F89-A8A1-7AF9-EBA60F51ECF0}"/>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0CD0D2C6-487A-5E3A-9923-F60F518B4598}"/>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756DE85B-5DF0-F266-C0C6-09A71C2BBBE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1D9E6007-E547-D9D0-2B80-7F5F0CDC7AC8}"/>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661CE958-3212-0440-8577-22F8482796B9}"/>
              </a:ext>
            </a:extLst>
          </p:cNvPr>
          <p:cNvGraphicFramePr>
            <a:graphicFrameLocks noGrp="1"/>
          </p:cNvGraphicFramePr>
          <p:nvPr>
            <p:extLst>
              <p:ext uri="{D42A27DB-BD31-4B8C-83A1-F6EECF244321}">
                <p14:modId xmlns:p14="http://schemas.microsoft.com/office/powerpoint/2010/main" val="1984128036"/>
              </p:ext>
            </p:extLst>
          </p:nvPr>
        </p:nvGraphicFramePr>
        <p:xfrm>
          <a:off x="678803" y="2216365"/>
          <a:ext cx="10339388" cy="1942967"/>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latinLnBrk="0" hangingPunct="1">
                        <a:lnSpc>
                          <a:spcPct val="115000"/>
                        </a:lnSpc>
                        <a:spcBef>
                          <a:spcPts val="600"/>
                        </a:spcBef>
                        <a:spcAft>
                          <a:spcPts val="600"/>
                        </a:spcAft>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Consultor SAP FI</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Maycon</a:t>
                      </a:r>
                      <a:r>
                        <a:rPr lang="pt-BR" sz="10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Nogueira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r>
                        <a:rPr lang="en-US"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a:lnSpc>
                          <a:spcPct val="115000"/>
                        </a:lnSpc>
                        <a:spcBef>
                          <a:spcPts val="600"/>
                        </a:spcBef>
                        <a:spcAft>
                          <a:spcPts val="600"/>
                        </a:spcAft>
                      </a:pPr>
                      <a:r>
                        <a:rPr lang="pt-BR" sz="1000" i="1">
                          <a:highlight>
                            <a:srgbClr val="F2F2F2"/>
                          </a:highlight>
                          <a:latin typeface="Noto Sans" panose="020B0502040504020204" pitchFamily="34" charset="0"/>
                          <a:ea typeface="Noto Sans" panose="020B0502040504020204" pitchFamily="34" charset="0"/>
                          <a:cs typeface="Noto Sans" panose="020B0502040504020204" pitchFamily="34" charset="0"/>
                        </a:rPr>
                        <a:t>Gerente do Programa </a:t>
                      </a:r>
                      <a:r>
                        <a:rPr lang="pt-BR" sz="1000" i="1" err="1">
                          <a:highlight>
                            <a:srgbClr val="F2F2F2"/>
                          </a:highlight>
                          <a:latin typeface="Noto Sans" panose="020B0502040504020204" pitchFamily="34" charset="0"/>
                          <a:ea typeface="Noto Sans" panose="020B0502040504020204" pitchFamily="34" charset="0"/>
                          <a:cs typeface="Noto Sans" panose="020B0502040504020204" pitchFamily="34" charset="0"/>
                        </a:rPr>
                        <a:t>Insi</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Glaucia Nogueira Tomé</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a:lnSpc>
                          <a:spcPct val="115000"/>
                        </a:lnSpc>
                        <a:spcBef>
                          <a:spcPts val="600"/>
                        </a:spcBef>
                        <a:spcAft>
                          <a:spcPts val="600"/>
                        </a:spcAft>
                      </a:pPr>
                      <a:r>
                        <a:rPr lang="pt-BR" sz="1000" i="1">
                          <a:highlight>
                            <a:srgbClr val="F2F2F2"/>
                          </a:highlight>
                          <a:latin typeface="Noto Sans" panose="020B0502040504020204" pitchFamily="34" charset="0"/>
                          <a:ea typeface="Noto Sans" panose="020B0502040504020204" pitchFamily="34" charset="0"/>
                          <a:cs typeface="Noto Sans" panose="020B0502040504020204" pitchFamily="34" charset="0"/>
                        </a:rPr>
                        <a:t>Gerente do Projeto </a:t>
                      </a:r>
                      <a:r>
                        <a:rPr lang="pt-BR" sz="1000" i="1" err="1">
                          <a:highlight>
                            <a:srgbClr val="F2F2F2"/>
                          </a:highlight>
                          <a:latin typeface="Noto Sans" panose="020B0502040504020204" pitchFamily="34" charset="0"/>
                          <a:ea typeface="Noto Sans" panose="020B0502040504020204" pitchFamily="34" charset="0"/>
                          <a:cs typeface="Noto Sans" panose="020B0502040504020204" pitchFamily="34" charset="0"/>
                        </a:rPr>
                        <a:t>Veiling</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Bruno Bazuco </a:t>
                      </a:r>
                      <a:r>
                        <a:rPr lang="pt-BR" sz="1000"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Frittoli</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a:lnSpc>
                          <a:spcPct val="115000"/>
                        </a:lnSpc>
                        <a:spcBef>
                          <a:spcPts val="600"/>
                        </a:spcBef>
                        <a:spcAft>
                          <a:spcPts val="600"/>
                        </a:spcAft>
                      </a:pPr>
                      <a:r>
                        <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GMO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Adriana </a:t>
                      </a:r>
                      <a:r>
                        <a:rPr lang="pt-BR" sz="1000"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Delafina</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9029525"/>
                  </a:ext>
                </a:extLst>
              </a:tr>
              <a:tr h="319241">
                <a:tc>
                  <a:txBody>
                    <a:bodyPr/>
                    <a:lstStyle/>
                    <a:p>
                      <a:pPr marL="269875" algn="l">
                        <a:lnSpc>
                          <a:spcPct val="115000"/>
                        </a:lnSpc>
                        <a:spcBef>
                          <a:spcPts val="600"/>
                        </a:spcBef>
                        <a:spcAft>
                          <a:spcPts val="600"/>
                        </a:spcAft>
                      </a:pPr>
                      <a:r>
                        <a:rPr lang="en-US"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r>
                        <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PMO </a:t>
                      </a:r>
                      <a:r>
                        <a:rPr lang="pt-BR" sz="1000" i="1"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Veiling</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buNone/>
                      </a:pPr>
                      <a:r>
                        <a:rPr lang="pt-BR" sz="1000" kern="12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Michelle Peixoto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r>
                        <a:rPr lang="en-US"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44238033"/>
                  </a:ext>
                </a:extLst>
              </a:tr>
            </a:tbl>
          </a:graphicData>
        </a:graphic>
      </p:graphicFrame>
    </p:spTree>
    <p:extLst>
      <p:ext uri="{BB962C8B-B14F-4D97-AF65-F5344CB8AC3E}">
        <p14:creationId xmlns:p14="http://schemas.microsoft.com/office/powerpoint/2010/main" val="1887478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C6C25-F1A1-74B7-9415-377B965A7C5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DBA5AFF5-1D6D-7351-5C9F-7296CA66F5F4}"/>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F728B400-1A74-D1B3-628D-C761F592331D}"/>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FBC4C001-9B94-DE4C-ECFA-E33ED0A7564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BCD6F1FC-7C4D-FFD2-E448-A14F5387F19F}"/>
              </a:ext>
            </a:extLst>
          </p:cNvPr>
          <p:cNvGraphicFramePr>
            <a:graphicFrameLocks noGrp="1"/>
          </p:cNvGraphicFramePr>
          <p:nvPr>
            <p:extLst>
              <p:ext uri="{D42A27DB-BD31-4B8C-83A1-F6EECF244321}">
                <p14:modId xmlns:p14="http://schemas.microsoft.com/office/powerpoint/2010/main" val="3766950167"/>
              </p:ext>
            </p:extLst>
          </p:nvPr>
        </p:nvGraphicFramePr>
        <p:xfrm>
          <a:off x="678803" y="1899584"/>
          <a:ext cx="10339388" cy="3149608"/>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Francisco Pereira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8445959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l" defTabSz="914400" rtl="0" eaLnBrk="1" fontAlgn="b" latinLnBrk="0" hangingPunct="1">
                        <a:lnSpc>
                          <a:spcPct val="115000"/>
                        </a:lnSpc>
                        <a:spcBef>
                          <a:spcPts val="600"/>
                        </a:spcBef>
                        <a:spcAft>
                          <a:spcPts val="600"/>
                        </a:spcAft>
                        <a:buClrTx/>
                        <a:buSzTx/>
                        <a:buFontTx/>
                        <a:buNone/>
                        <a:tabLst/>
                        <a:defRPr/>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Henrique Lopes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Josemar Carrano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486499"/>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Thamara D'</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Angieri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Mara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Capassi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9840952"/>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Adriana Flávia Cegalla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Manzoti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36875379"/>
                  </a:ext>
                </a:extLst>
              </a:tr>
              <a:tr h="248918">
                <a:tc>
                  <a:txBody>
                    <a:bodyPr/>
                    <a:lstStyle/>
                    <a:p>
                      <a:pPr marL="269875" marR="0" lvl="0" indent="0" algn="l" defTabSz="914400" rtl="0" eaLnBrk="1" fontAlgn="b" latinLnBrk="0" hangingPunct="1">
                        <a:lnSpc>
                          <a:spcPct val="115000"/>
                        </a:lnSpc>
                        <a:spcBef>
                          <a:spcPts val="600"/>
                        </a:spcBef>
                        <a:spcAft>
                          <a:spcPts val="600"/>
                        </a:spcAft>
                        <a:buClrTx/>
                        <a:buSzTx/>
                        <a:buFontTx/>
                        <a:buNone/>
                        <a:tabLst/>
                        <a:defRPr/>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Carla Gonçalves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Claudete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Robello</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b="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93473498"/>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Denis Martins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9025889"/>
                  </a:ext>
                </a:extLst>
              </a:tr>
            </a:tbl>
          </a:graphicData>
        </a:graphic>
      </p:graphicFrame>
    </p:spTree>
    <p:extLst>
      <p:ext uri="{BB962C8B-B14F-4D97-AF65-F5344CB8AC3E}">
        <p14:creationId xmlns:p14="http://schemas.microsoft.com/office/powerpoint/2010/main" val="3575201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2505A-91BD-9BD3-647F-1BA0F26ED22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5BD48162-A9C8-832C-9764-E5BD84E57D31}"/>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0D41FECD-38AA-7A10-71B3-78B090660CBB}"/>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ED5427DF-6028-4226-95DF-FFFA82B47C8A}"/>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439D3038-D6D5-083D-4F63-A443FF125006}"/>
              </a:ext>
            </a:extLst>
          </p:cNvPr>
          <p:cNvGraphicFramePr>
            <a:graphicFrameLocks noGrp="1"/>
          </p:cNvGraphicFramePr>
          <p:nvPr>
            <p:extLst>
              <p:ext uri="{D42A27DB-BD31-4B8C-83A1-F6EECF244321}">
                <p14:modId xmlns:p14="http://schemas.microsoft.com/office/powerpoint/2010/main" val="3057943724"/>
              </p:ext>
            </p:extLst>
          </p:nvPr>
        </p:nvGraphicFramePr>
        <p:xfrm>
          <a:off x="678803" y="1980264"/>
          <a:ext cx="10339388" cy="3233430"/>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Jhone</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Vieira</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Jonathan Roberto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Recco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486499"/>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Josiane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Artuzi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Lucas Rodrigo Da Silva Divino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9840952"/>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Marcela Correa Do Prado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Marcio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Antonio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Spitti</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902952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Rafael Sobreiro (Mara assina no </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lugar – Ausência 05 a 19/10)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b="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3987126"/>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Ricardo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Antonio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Vieira</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endPar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66628534"/>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Solange Aparecida Leite De Aguiar</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6830638"/>
                  </a:ext>
                </a:extLst>
              </a:tr>
            </a:tbl>
          </a:graphicData>
        </a:graphic>
      </p:graphicFrame>
    </p:spTree>
    <p:extLst>
      <p:ext uri="{BB962C8B-B14F-4D97-AF65-F5344CB8AC3E}">
        <p14:creationId xmlns:p14="http://schemas.microsoft.com/office/powerpoint/2010/main" val="4259963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FC9CC96-B8C1-DCFD-9141-6EEACA857CBF}"/>
              </a:ext>
            </a:extLst>
          </p:cNvPr>
          <p:cNvSpPr txBox="1"/>
          <p:nvPr/>
        </p:nvSpPr>
        <p:spPr>
          <a:xfrm>
            <a:off x="4381401" y="2879261"/>
            <a:ext cx="4041382" cy="698012"/>
          </a:xfrm>
          <a:prstGeom prst="rect">
            <a:avLst/>
          </a:prstGeom>
          <a:noFill/>
        </p:spPr>
        <p:txBody>
          <a:bodyPr wrap="square" rtlCol="0">
            <a:spAutoFit/>
          </a:bodyPr>
          <a:lstStyle>
            <a:defPPr>
              <a:defRPr lang="pt-BR"/>
            </a:defPPr>
            <a:lvl1pPr>
              <a:lnSpc>
                <a:spcPct val="80000"/>
              </a:lnSpc>
              <a:defRPr sz="4800" b="1">
                <a:solidFill>
                  <a:prstClr val="white"/>
                </a:solidFill>
                <a:latin typeface="Noto Sans Black" panose="020B0A02040504020204" pitchFamily="34"/>
                <a:ea typeface="Noto Sans Black" panose="020B0A02040504020204" pitchFamily="34"/>
                <a:cs typeface="Noto Sans Black" panose="020B0A02040504020204" pitchFamily="34"/>
              </a:defRPr>
            </a:lvl1pPr>
          </a:lstStyle>
          <a:p>
            <a:r>
              <a:rPr lang="pt-BR"/>
              <a:t>Obrigado (a)!</a:t>
            </a:r>
          </a:p>
        </p:txBody>
      </p:sp>
      <p:sp>
        <p:nvSpPr>
          <p:cNvPr id="3" name="CaixaDeTexto 2">
            <a:extLst>
              <a:ext uri="{FF2B5EF4-FFF2-40B4-BE49-F238E27FC236}">
                <a16:creationId xmlns:a16="http://schemas.microsoft.com/office/drawing/2014/main" id="{2E24B679-0994-B2B7-3DE5-26EFEB3CDDCC}"/>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6" name="Imagem 5" descr="Logotipo&#10;&#10;Descrição gerada automaticamente">
            <a:extLst>
              <a:ext uri="{FF2B5EF4-FFF2-40B4-BE49-F238E27FC236}">
                <a16:creationId xmlns:a16="http://schemas.microsoft.com/office/drawing/2014/main" id="{347562D7-3E6D-A112-7F60-075C99A5F24C}"/>
              </a:ext>
            </a:extLst>
          </p:cNvPr>
          <p:cNvPicPr>
            <a:picLocks noChangeAspect="1"/>
          </p:cNvPicPr>
          <p:nvPr/>
        </p:nvPicPr>
        <p:blipFill>
          <a:blip r:embed="rId3"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
        <p:nvSpPr>
          <p:cNvPr id="2" name="CaixaDeTexto 2">
            <a:extLst>
              <a:ext uri="{FF2B5EF4-FFF2-40B4-BE49-F238E27FC236}">
                <a16:creationId xmlns:a16="http://schemas.microsoft.com/office/drawing/2014/main" id="{CB1489EE-D46B-453F-81EF-480FA6185CD9}"/>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5" name="Imagem 4" descr="Logotipo&#10;&#10;Descrição gerada automaticamente">
            <a:extLst>
              <a:ext uri="{FF2B5EF4-FFF2-40B4-BE49-F238E27FC236}">
                <a16:creationId xmlns:a16="http://schemas.microsoft.com/office/drawing/2014/main" id="{A1102253-95E0-4ADA-8B65-E0E71143DEB9}"/>
              </a:ext>
            </a:extLst>
          </p:cNvPr>
          <p:cNvPicPr>
            <a:picLocks noChangeAspect="1"/>
          </p:cNvPicPr>
          <p:nvPr/>
        </p:nvPicPr>
        <p:blipFill>
          <a:blip r:embed="rId3"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Tree>
    <p:extLst>
      <p:ext uri="{BB962C8B-B14F-4D97-AF65-F5344CB8AC3E}">
        <p14:creationId xmlns:p14="http://schemas.microsoft.com/office/powerpoint/2010/main" val="21370995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DC64098C984F84B95DCCDCBEF9992AD" ma:contentTypeVersion="14" ma:contentTypeDescription="Crie um novo documento." ma:contentTypeScope="" ma:versionID="e4fd08d76a22a6ee44e3b7e88835c62a">
  <xsd:schema xmlns:xsd="http://www.w3.org/2001/XMLSchema" xmlns:xs="http://www.w3.org/2001/XMLSchema" xmlns:p="http://schemas.microsoft.com/office/2006/metadata/properties" xmlns:ns1="http://schemas.microsoft.com/sharepoint/v3" xmlns:ns2="0a53c07c-7dcc-4758-8adc-371cf5e7d60e" xmlns:ns3="b6a67fde-a5f7-4487-8ddd-3cbdebf81750" targetNamespace="http://schemas.microsoft.com/office/2006/metadata/properties" ma:root="true" ma:fieldsID="1fefed70bc7ac0c7e5ceb830c161d7a9" ns1:_="" ns2:_="" ns3:_="">
    <xsd:import namespace="http://schemas.microsoft.com/sharepoint/v3"/>
    <xsd:import namespace="0a53c07c-7dcc-4758-8adc-371cf5e7d60e"/>
    <xsd:import namespace="b6a67fde-a5f7-4487-8ddd-3cbdebf817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Propriedades da Política de Conformidade Unificada" ma:hidden="true" ma:internalName="_ip_UnifiedCompliancePolicyProperties">
      <xsd:simpleType>
        <xsd:restriction base="dms:Note"/>
      </xsd:simpleType>
    </xsd:element>
    <xsd:element name="_ip_UnifiedCompliancePolicyUIAction" ma:index="21" nillable="true" ma:displayName="Ação de Interface do Usuário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53c07c-7dcc-4758-8adc-371cf5e7d6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bb18d876-b614-4fa4-9376-bd093735700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6a67fde-a5f7-4487-8ddd-3cbdebf8175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b85f8b-ae4c-4725-8aef-aff55e319d5e}" ma:internalName="TaxCatchAll" ma:showField="CatchAllData" ma:web="b6a67fde-a5f7-4487-8ddd-3cbdebf817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53c07c-7dcc-4758-8adc-371cf5e7d60e">
      <Terms xmlns="http://schemas.microsoft.com/office/infopath/2007/PartnerControls"/>
    </lcf76f155ced4ddcb4097134ff3c332f>
    <TaxCatchAll xmlns="b6a67fde-a5f7-4487-8ddd-3cbdebf8175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3042400-55B6-4857-8374-FC2D8E380CC4}">
  <ds:schemaRefs>
    <ds:schemaRef ds:uri="http://schemas.microsoft.com/sharepoint/v3/contenttype/forms"/>
  </ds:schemaRefs>
</ds:datastoreItem>
</file>

<file path=customXml/itemProps2.xml><?xml version="1.0" encoding="utf-8"?>
<ds:datastoreItem xmlns:ds="http://schemas.openxmlformats.org/officeDocument/2006/customXml" ds:itemID="{08FC7B87-34FA-4D7F-8DC5-6A0CB5B3C8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a53c07c-7dcc-4758-8adc-371cf5e7d60e"/>
    <ds:schemaRef ds:uri="b6a67fde-a5f7-4487-8ddd-3cbdebf817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9FB292E-3196-4ABA-885B-5A92C74EB323}">
  <ds:schemaRefs>
    <ds:schemaRef ds:uri="071c67bd-9ea8-41da-a04e-cf41575e7a4a"/>
    <ds:schemaRef ds:uri="9a1dc8fe-366b-44af-81db-370c3d3c3c8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0a53c07c-7dcc-4758-8adc-371cf5e7d60e"/>
    <ds:schemaRef ds:uri="b6a67fde-a5f7-4487-8ddd-3cbdebf81750"/>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0</TotalTime>
  <Words>5454</Words>
  <Application>Microsoft Office PowerPoint</Application>
  <PresentationFormat>Widescreen</PresentationFormat>
  <Paragraphs>668</Paragraphs>
  <Slides>34</Slides>
  <Notes>8</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Rafael B. Oler</dc:creator>
  <cp:lastModifiedBy>Livia Santos Barcelos</cp:lastModifiedBy>
  <cp:revision>25</cp:revision>
  <dcterms:created xsi:type="dcterms:W3CDTF">2024-01-02T12:00:47Z</dcterms:created>
  <dcterms:modified xsi:type="dcterms:W3CDTF">2026-10-21T20:13:12Z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0x010100ADC64098C984F84B95DCCDCBEF9992AD</vt:lpwstr>
  </property>
  <property fmtid="{D5CDD505-2E9C-101B-9397-08002B2CF9AE}" pid="3" name="MSIP_Label_97a01d7b-e820-4c64-b341-549ce04d9d63_Enabled">
    <vt:lpwstr>true</vt:lpwstr>
  </property>
  <property fmtid="{D5CDD505-2E9C-101B-9397-08002B2CF9AE}" pid="4" name="MSIP_Label_97a01d7b-e820-4c64-b341-549ce04d9d63_SetDate">
    <vt:lpwstr>2026-02-04T16:53:04Z</vt:lpwstr>
  </property>
  <property fmtid="{D5CDD505-2E9C-101B-9397-08002B2CF9AE}" pid="5" name="MSIP_Label_97a01d7b-e820-4c64-b341-549ce04d9d63_Method">
    <vt:lpwstr>Standard</vt:lpwstr>
  </property>
  <property fmtid="{D5CDD505-2E9C-101B-9397-08002B2CF9AE}" pid="6" name="MSIP_Label_97a01d7b-e820-4c64-b341-549ce04d9d63_Name">
    <vt:lpwstr>Restrito</vt:lpwstr>
  </property>
  <property fmtid="{D5CDD505-2E9C-101B-9397-08002B2CF9AE}" pid="7" name="MSIP_Label_97a01d7b-e820-4c64-b341-549ce04d9d63_SiteId">
    <vt:lpwstr>b8fd2a17-277e-4917-b79f-eff898370dcb</vt:lpwstr>
  </property>
  <property fmtid="{D5CDD505-2E9C-101B-9397-08002B2CF9AE}" pid="8" name="MSIP_Label_97a01d7b-e820-4c64-b341-549ce04d9d63_ActionId">
    <vt:lpwstr>377ffe12-cd7b-4653-88a6-4b0a877565f4</vt:lpwstr>
  </property>
  <property fmtid="{D5CDD505-2E9C-101B-9397-08002B2CF9AE}" pid="9" name="MSIP_Label_97a01d7b-e820-4c64-b341-549ce04d9d63_ContentBits">
    <vt:lpwstr>1</vt:lpwstr>
  </property>
  <property fmtid="{D5CDD505-2E9C-101B-9397-08002B2CF9AE}" pid="10" name="MSIP_Label_97a01d7b-e820-4c64-b341-549ce04d9d63_Tag">
    <vt:lpwstr>10, 3, 0, 2</vt:lpwstr>
  </property>
  <property fmtid="{D5CDD505-2E9C-101B-9397-08002B2CF9AE}" pid="11" name="ClassificationContentMarkingHeaderLocations">
    <vt:lpwstr>Tema do Office:8</vt:lpwstr>
  </property>
  <property fmtid="{D5CDD505-2E9C-101B-9397-08002B2CF9AE}" pid="12" name="ClassificationContentMarkingHeaderText">
    <vt:lpwstr>Classificação: Restrito</vt:lpwstr>
  </property>
  <property fmtid="{D5CDD505-2E9C-101B-9397-08002B2CF9AE}" pid="13" name="MediaServiceImageTags">
    <vt:lpwstr/>
  </property>
</Properties>
</file>